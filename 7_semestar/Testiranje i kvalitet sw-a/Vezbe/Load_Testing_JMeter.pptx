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24"/>
  </p:notesMasterIdLst>
  <p:sldIdLst>
    <p:sldId id="262" r:id="rId2"/>
    <p:sldId id="256" r:id="rId3"/>
    <p:sldId id="257" r:id="rId4"/>
    <p:sldId id="258" r:id="rId5"/>
    <p:sldId id="261" r:id="rId6"/>
    <p:sldId id="263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57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00EB99B-B7B8-4430-A3AC-046937B88EF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D4C393-31B7-4E2B-B628-1254E89050D5}" type="slidenum">
              <a:rPr lang="en-US"/>
              <a:pPr/>
              <a:t>3</a:t>
            </a:fld>
            <a:endParaRPr lang="en-US"/>
          </a:p>
        </p:txBody>
      </p:sp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16351C-4A49-4923-B2CD-D4B9C3F8ADF7}" type="slidenum">
              <a:rPr lang="en-US"/>
              <a:pPr/>
              <a:t>4</a:t>
            </a:fld>
            <a:endParaRPr lang="en-US"/>
          </a:p>
        </p:txBody>
      </p:sp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9" name="Rectangle 3"/>
          <p:cNvSpPr txBox="1">
            <a:spLocks noGrp="1" noChangeArrowheads="1"/>
          </p:cNvSpPr>
          <p:nvPr>
            <p:ph type="body"/>
          </p:nvPr>
        </p:nvSpPr>
        <p:spPr>
          <a:xfrm>
            <a:off x="1060450" y="4349750"/>
            <a:ext cx="4733925" cy="3505200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317218-6B5C-491F-B3E5-DF4B930807F6}" type="slidenum">
              <a:rPr lang="en-US"/>
              <a:pPr/>
              <a:t>5</a:t>
            </a:fld>
            <a:endParaRPr 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685DE-C769-45BA-8A40-C24CE79BDA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46E0E-391E-42A0-A71A-74D8120BA3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73FA6-9780-4FC7-B671-FB21414609B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D1B40-3F4A-4518-B931-6CE5BD864F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53907-A79C-47E6-B3EF-5161B6BCA9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F9FCBC-9FB6-49BE-8694-8EA2F04BA1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6EBF9-06CA-4A42-8C05-F49081BB489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80FB1-D0D6-43F4-B3EE-BBEC2759C11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E2086-3AAD-48E8-A348-7F292F1BE2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86700-4018-4444-8738-35791FD8C2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55836-1185-4601-9EF2-5B8BF4FC15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3349FF29-9257-428E-A93E-F1AD5A157FB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22376" y="2438400"/>
            <a:ext cx="7772400" cy="1134406"/>
          </a:xfrm>
        </p:spPr>
        <p:txBody>
          <a:bodyPr>
            <a:normAutofit/>
          </a:bodyPr>
          <a:lstStyle/>
          <a:p>
            <a:r>
              <a:rPr lang="en-US" dirty="0"/>
              <a:t>Test </a:t>
            </a:r>
            <a:r>
              <a:rPr lang="en-US" dirty="0" err="1"/>
              <a:t>optere</a:t>
            </a:r>
            <a:r>
              <a:rPr lang="sr-Latn-RS" dirty="0" err="1"/>
              <a:t>ćenja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724400" y="5181600"/>
            <a:ext cx="4114800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sr-Latn-R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prof. dr </a:t>
            </a:r>
            <a:r>
              <a:rPr lang="sr-Latn-C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Miloš Bogdanović</a:t>
            </a:r>
            <a:endParaRPr lang="sr-Latn-RS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prof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. </a:t>
            </a: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dr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Dragan</a:t>
            </a:r>
            <a:r>
              <a:rPr lang="en-U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/>
                  </a:outerShdw>
                </a:effectLst>
              </a:rPr>
              <a:t>Jankovi</a:t>
            </a:r>
            <a:r>
              <a:rPr lang="sr-Latn-C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ć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sr-Latn-C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Katedra za računarstvo i informatiku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  <a:defRPr/>
            </a:pPr>
            <a:r>
              <a:rPr lang="sr-Latn-CS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Elektronski fakultet u Nišu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Razlozi testiranja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sr-Latn-RS" dirty="0"/>
              <a:t>Da li aplikacija dovoljno brzo reaguje na očekivani broj korisnika?</a:t>
            </a:r>
            <a:endParaRPr lang="sr-Latn-RS" sz="28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sr-Latn-RS" dirty="0"/>
              <a:t>Da li će aplikacija obraditi očekivano opterećenje u broju korisnika?</a:t>
            </a:r>
            <a:endParaRPr lang="sr-Latn-RS" sz="28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sr-Latn-RS" sz="2800" dirty="0"/>
              <a:t>Da li se aplikacija pona</a:t>
            </a:r>
            <a:r>
              <a:rPr lang="sr-Latn-RS" dirty="0"/>
              <a:t>ša konzistentno u slučaju višekorisničkog pristupa istim funkcionalnostima</a:t>
            </a:r>
            <a:r>
              <a:rPr lang="sr-Latn-RS" sz="2800" dirty="0"/>
              <a:t>?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sr-Latn-RS" sz="2800" dirty="0"/>
              <a:t>Da li će aplikacija podržati broj transakcija koji realna upotreba zahteva?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sr-Latn-RS" sz="2800" dirty="0"/>
              <a:t>Da li je aplikacija stabilna u slučaju očekivanog i neočekivano povećanog broja korisnika?</a:t>
            </a:r>
          </a:p>
          <a:p>
            <a:pPr>
              <a:lnSpc>
                <a:spcPct val="90000"/>
              </a:lnSpc>
            </a:pPr>
            <a:endParaRPr lang="sr-Latn-R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619125" y="457200"/>
            <a:ext cx="77628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/>
            <a:r>
              <a:rPr lang="sr-Latn-RS" sz="3000" b="1" dirty="0">
                <a:solidFill>
                  <a:schemeClr val="tx2"/>
                </a:solidFill>
              </a:rPr>
              <a:t>Funkcionalno </a:t>
            </a:r>
            <a:r>
              <a:rPr lang="en-US" sz="3000" b="1" dirty="0">
                <a:solidFill>
                  <a:schemeClr val="tx2"/>
                </a:solidFill>
              </a:rPr>
              <a:t>vs. </a:t>
            </a:r>
            <a:r>
              <a:rPr lang="en-US" sz="3000" b="1" dirty="0" err="1">
                <a:solidFill>
                  <a:schemeClr val="tx2"/>
                </a:solidFill>
              </a:rPr>
              <a:t>Testiranje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optere</a:t>
            </a:r>
            <a:r>
              <a:rPr lang="sr-Latn-RS" sz="3000" b="1" dirty="0">
                <a:solidFill>
                  <a:schemeClr val="tx2"/>
                </a:solidFill>
              </a:rPr>
              <a:t>ćenja </a:t>
            </a:r>
            <a:r>
              <a:rPr lang="en-US" sz="3000" b="1" dirty="0">
                <a:solidFill>
                  <a:schemeClr val="tx2"/>
                </a:solidFill>
              </a:rPr>
              <a:t>Web </a:t>
            </a:r>
            <a:r>
              <a:rPr lang="sr-Latn-RS" sz="3000" b="1" dirty="0">
                <a:solidFill>
                  <a:schemeClr val="tx2"/>
                </a:solidFill>
              </a:rPr>
              <a:t>aplikacija</a:t>
            </a:r>
            <a:endParaRPr lang="en-US" sz="3000" b="1" dirty="0">
              <a:solidFill>
                <a:schemeClr val="tx2"/>
              </a:solidFill>
            </a:endParaRPr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598487" y="1520825"/>
            <a:ext cx="2220913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lnSpc>
                <a:spcPct val="70000"/>
              </a:lnSpc>
            </a:pPr>
            <a:r>
              <a:rPr lang="en-US" sz="2800" b="1" i="1" dirty="0">
                <a:latin typeface="Times New Roman" pitchFamily="18" charset="0"/>
              </a:rPr>
              <a:t>F</a:t>
            </a:r>
            <a:r>
              <a:rPr lang="sr-Latn-RS" sz="2800" b="1" i="1" dirty="0">
                <a:latin typeface="Times New Roman" pitchFamily="18" charset="0"/>
              </a:rPr>
              <a:t>unkcionalni test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1219201" y="3657600"/>
            <a:ext cx="1905000" cy="55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lnSpc>
                <a:spcPct val="70000"/>
              </a:lnSpc>
            </a:pPr>
            <a:r>
              <a:rPr lang="sr-Latn-RS" sz="2800" b="1" i="1" dirty="0">
                <a:latin typeface="Times New Roman" pitchFamily="18" charset="0"/>
              </a:rPr>
              <a:t>Test opterećenja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4953000" y="1843087"/>
            <a:ext cx="3429000" cy="97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b="1" dirty="0"/>
              <a:t>Da </a:t>
            </a:r>
            <a:r>
              <a:rPr lang="en-US" b="1" dirty="0" err="1"/>
              <a:t>li</a:t>
            </a:r>
            <a:r>
              <a:rPr lang="en-US" b="1" dirty="0"/>
              <a:t> </a:t>
            </a:r>
            <a:r>
              <a:rPr lang="en-US" b="1" dirty="0" err="1"/>
              <a:t>poslovni</a:t>
            </a:r>
            <a:r>
              <a:rPr lang="en-US" b="1" dirty="0"/>
              <a:t> </a:t>
            </a:r>
            <a:r>
              <a:rPr lang="en-US" b="1" dirty="0" err="1"/>
              <a:t>procesi</a:t>
            </a:r>
            <a:r>
              <a:rPr lang="en-US" b="1" dirty="0"/>
              <a:t> </a:t>
            </a:r>
            <a:r>
              <a:rPr lang="en-US" b="1" dirty="0" err="1"/>
              <a:t>radi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predvi</a:t>
            </a:r>
            <a:r>
              <a:rPr lang="sr-Latn-RS" b="1" dirty="0"/>
              <a:t>đen način nakon implementacije</a:t>
            </a:r>
            <a:r>
              <a:rPr lang="en-US" b="1" dirty="0"/>
              <a:t>? (test</a:t>
            </a:r>
            <a:r>
              <a:rPr lang="sr-Latn-RS" b="1" dirty="0"/>
              <a:t>iranje </a:t>
            </a:r>
            <a:r>
              <a:rPr lang="en-US" b="1" dirty="0"/>
              <a:t>black box m</a:t>
            </a:r>
            <a:r>
              <a:rPr lang="sr-Latn-RS" b="1" dirty="0"/>
              <a:t>etodama</a:t>
            </a:r>
            <a:r>
              <a:rPr lang="en-US" b="1" dirty="0"/>
              <a:t>)</a:t>
            </a: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2971800" y="2217738"/>
            <a:ext cx="1905000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b="1" dirty="0" err="1"/>
              <a:t>Funkcionalnost</a:t>
            </a:r>
            <a:endParaRPr lang="en-US" dirty="0">
              <a:latin typeface="Times New Roman" pitchFamily="18" charset="0"/>
            </a:endParaRPr>
          </a:p>
        </p:txBody>
      </p:sp>
      <p:grpSp>
        <p:nvGrpSpPr>
          <p:cNvPr id="5127" name="Group 7"/>
          <p:cNvGrpSpPr>
            <a:grpSpLocks/>
          </p:cNvGrpSpPr>
          <p:nvPr/>
        </p:nvGrpSpPr>
        <p:grpSpPr bwMode="auto">
          <a:xfrm>
            <a:off x="2895600" y="1371600"/>
            <a:ext cx="5181600" cy="1676400"/>
            <a:chOff x="1508" y="939"/>
            <a:chExt cx="2743" cy="1035"/>
          </a:xfrm>
        </p:grpSpPr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1513" y="1193"/>
              <a:ext cx="2738" cy="7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29" name="Group 9"/>
            <p:cNvGrpSpPr>
              <a:grpSpLocks/>
            </p:cNvGrpSpPr>
            <p:nvPr/>
          </p:nvGrpSpPr>
          <p:grpSpPr bwMode="auto">
            <a:xfrm>
              <a:off x="1508" y="939"/>
              <a:ext cx="2743" cy="305"/>
              <a:chOff x="1508" y="939"/>
              <a:chExt cx="2743" cy="305"/>
            </a:xfrm>
          </p:grpSpPr>
          <p:sp>
            <p:nvSpPr>
              <p:cNvPr id="5130" name="Rectangle 10"/>
              <p:cNvSpPr>
                <a:spLocks noChangeArrowheads="1"/>
              </p:cNvSpPr>
              <p:nvPr/>
            </p:nvSpPr>
            <p:spPr bwMode="gray">
              <a:xfrm>
                <a:off x="1513" y="939"/>
                <a:ext cx="2738" cy="255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31" name="Rectangle 11"/>
              <p:cNvSpPr>
                <a:spLocks noChangeArrowheads="1"/>
              </p:cNvSpPr>
              <p:nvPr/>
            </p:nvSpPr>
            <p:spPr bwMode="gray">
              <a:xfrm>
                <a:off x="2636" y="961"/>
                <a:ext cx="988" cy="2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lang="en-US" b="1" dirty="0">
                    <a:solidFill>
                      <a:schemeClr val="bg2"/>
                    </a:solidFill>
                  </a:rPr>
                  <a:t>PRIMER</a:t>
                </a:r>
              </a:p>
            </p:txBody>
          </p:sp>
          <p:sp>
            <p:nvSpPr>
              <p:cNvPr id="5132" name="Rectangle 12"/>
              <p:cNvSpPr>
                <a:spLocks noChangeArrowheads="1"/>
              </p:cNvSpPr>
              <p:nvPr/>
            </p:nvSpPr>
            <p:spPr bwMode="gray">
              <a:xfrm>
                <a:off x="1508" y="961"/>
                <a:ext cx="988" cy="2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lang="en-US" b="1" dirty="0">
                    <a:solidFill>
                      <a:schemeClr val="bg2"/>
                    </a:solidFill>
                  </a:rPr>
                  <a:t>CILJ</a:t>
                </a:r>
                <a:endParaRPr 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5133" name="Line 13"/>
            <p:cNvSpPr>
              <a:spLocks noChangeShapeType="1"/>
            </p:cNvSpPr>
            <p:nvPr/>
          </p:nvSpPr>
          <p:spPr bwMode="auto">
            <a:xfrm>
              <a:off x="2550" y="942"/>
              <a:ext cx="0" cy="10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34" name="Rectangle 14"/>
          <p:cNvSpPr>
            <a:spLocks noChangeArrowheads="1"/>
          </p:cNvSpPr>
          <p:nvPr/>
        </p:nvSpPr>
        <p:spPr bwMode="auto">
          <a:xfrm>
            <a:off x="5181601" y="3581400"/>
            <a:ext cx="2514599" cy="65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b="1" dirty="0"/>
              <a:t>2,000 </a:t>
            </a:r>
            <a:r>
              <a:rPr lang="sr-Latn-RS" b="1" dirty="0"/>
              <a:t>konkurentnih zahteva ruši server</a:t>
            </a:r>
            <a:r>
              <a:rPr lang="en-US" b="1" dirty="0"/>
              <a:t>?</a:t>
            </a:r>
          </a:p>
        </p:txBody>
      </p:sp>
      <p:sp>
        <p:nvSpPr>
          <p:cNvPr id="5135" name="Rectangle 15"/>
          <p:cNvSpPr>
            <a:spLocks noChangeArrowheads="1"/>
          </p:cNvSpPr>
          <p:nvPr/>
        </p:nvSpPr>
        <p:spPr bwMode="auto">
          <a:xfrm>
            <a:off x="3314700" y="3865563"/>
            <a:ext cx="1304925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b="1" dirty="0" err="1"/>
              <a:t>Stabilnost</a:t>
            </a:r>
            <a:endParaRPr lang="en-US" b="1" dirty="0">
              <a:latin typeface="Times New Roman" pitchFamily="18" charset="0"/>
            </a:endParaRPr>
          </a:p>
        </p:txBody>
      </p:sp>
      <p:sp>
        <p:nvSpPr>
          <p:cNvPr id="5136" name="Rectangle 16"/>
          <p:cNvSpPr>
            <a:spLocks noChangeArrowheads="1"/>
          </p:cNvSpPr>
          <p:nvPr/>
        </p:nvSpPr>
        <p:spPr bwMode="auto">
          <a:xfrm>
            <a:off x="5146675" y="4343400"/>
            <a:ext cx="2625725" cy="65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sr-Latn-RS" b="1" dirty="0"/>
              <a:t>Vreme odgovora servera u predviđenim okvirima</a:t>
            </a:r>
            <a:r>
              <a:rPr lang="en-US" b="1" dirty="0"/>
              <a:t>?</a:t>
            </a:r>
          </a:p>
        </p:txBody>
      </p:sp>
      <p:sp>
        <p:nvSpPr>
          <p:cNvPr id="5137" name="Rectangle 17"/>
          <p:cNvSpPr>
            <a:spLocks noChangeArrowheads="1"/>
          </p:cNvSpPr>
          <p:nvPr/>
        </p:nvSpPr>
        <p:spPr bwMode="auto">
          <a:xfrm>
            <a:off x="3314700" y="4538663"/>
            <a:ext cx="1609725" cy="449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b="1" dirty="0" err="1"/>
              <a:t>Performanse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5146675" y="5257800"/>
            <a:ext cx="2625725" cy="65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sr-Latn-RS" b="1" dirty="0"/>
              <a:t>Procesi funkcionišu pod opterećenjem adekvatno</a:t>
            </a:r>
            <a:r>
              <a:rPr lang="en-US" b="1" dirty="0"/>
              <a:t>?</a:t>
            </a:r>
          </a:p>
        </p:txBody>
      </p:sp>
      <p:sp>
        <p:nvSpPr>
          <p:cNvPr id="5139" name="Rectangle 19"/>
          <p:cNvSpPr>
            <a:spLocks noChangeArrowheads="1"/>
          </p:cNvSpPr>
          <p:nvPr/>
        </p:nvSpPr>
        <p:spPr bwMode="auto">
          <a:xfrm>
            <a:off x="3314700" y="5334000"/>
            <a:ext cx="18669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b="1" dirty="0" err="1"/>
              <a:t>Funkcionisanje</a:t>
            </a:r>
            <a:r>
              <a:rPr lang="en-US" b="1" dirty="0"/>
              <a:t> pod </a:t>
            </a:r>
            <a:r>
              <a:rPr lang="en-US" b="1" dirty="0" err="1"/>
              <a:t>optere</a:t>
            </a:r>
            <a:r>
              <a:rPr lang="sr-Latn-RS" b="1" dirty="0"/>
              <a:t>ćenjem</a:t>
            </a:r>
            <a:endParaRPr lang="en-US" dirty="0"/>
          </a:p>
        </p:txBody>
      </p:sp>
      <p:grpSp>
        <p:nvGrpSpPr>
          <p:cNvPr id="5140" name="Group 20"/>
          <p:cNvGrpSpPr>
            <a:grpSpLocks/>
          </p:cNvGrpSpPr>
          <p:nvPr/>
        </p:nvGrpSpPr>
        <p:grpSpPr bwMode="auto">
          <a:xfrm>
            <a:off x="3265487" y="3200401"/>
            <a:ext cx="4354513" cy="3333751"/>
            <a:chOff x="1508" y="2163"/>
            <a:chExt cx="2743" cy="2100"/>
          </a:xfrm>
        </p:grpSpPr>
        <p:sp>
          <p:nvSpPr>
            <p:cNvPr id="5141" name="Rectangle 21"/>
            <p:cNvSpPr>
              <a:spLocks noChangeArrowheads="1"/>
            </p:cNvSpPr>
            <p:nvPr/>
          </p:nvSpPr>
          <p:spPr bwMode="auto">
            <a:xfrm>
              <a:off x="1513" y="2417"/>
              <a:ext cx="2738" cy="42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42" name="Group 22"/>
            <p:cNvGrpSpPr>
              <a:grpSpLocks/>
            </p:cNvGrpSpPr>
            <p:nvPr/>
          </p:nvGrpSpPr>
          <p:grpSpPr bwMode="auto">
            <a:xfrm>
              <a:off x="1508" y="2163"/>
              <a:ext cx="2743" cy="305"/>
              <a:chOff x="1508" y="2163"/>
              <a:chExt cx="2743" cy="305"/>
            </a:xfrm>
          </p:grpSpPr>
          <p:sp>
            <p:nvSpPr>
              <p:cNvPr id="5143" name="Rectangle 23"/>
              <p:cNvSpPr>
                <a:spLocks noChangeArrowheads="1"/>
              </p:cNvSpPr>
              <p:nvPr/>
            </p:nvSpPr>
            <p:spPr bwMode="gray">
              <a:xfrm>
                <a:off x="1513" y="2163"/>
                <a:ext cx="2738" cy="255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bg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44" name="Rectangle 24"/>
              <p:cNvSpPr>
                <a:spLocks noChangeArrowheads="1"/>
              </p:cNvSpPr>
              <p:nvPr/>
            </p:nvSpPr>
            <p:spPr bwMode="auto">
              <a:xfrm>
                <a:off x="2735" y="2185"/>
                <a:ext cx="988" cy="2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lang="en-US" b="1" dirty="0">
                    <a:solidFill>
                      <a:schemeClr val="bg2"/>
                    </a:solidFill>
                  </a:rPr>
                  <a:t>PRIMER</a:t>
                </a:r>
                <a:endParaRPr lang="en-US" b="1" dirty="0"/>
              </a:p>
            </p:txBody>
          </p:sp>
          <p:sp>
            <p:nvSpPr>
              <p:cNvPr id="5145" name="Rectangle 25"/>
              <p:cNvSpPr>
                <a:spLocks noChangeArrowheads="1"/>
              </p:cNvSpPr>
              <p:nvPr/>
            </p:nvSpPr>
            <p:spPr bwMode="auto">
              <a:xfrm>
                <a:off x="1508" y="2185"/>
                <a:ext cx="988" cy="2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/>
                <a:r>
                  <a:rPr lang="en-US" b="1" dirty="0">
                    <a:solidFill>
                      <a:schemeClr val="bg2"/>
                    </a:solidFill>
                  </a:rPr>
                  <a:t>CILJ</a:t>
                </a:r>
              </a:p>
            </p:txBody>
          </p:sp>
        </p:grpSp>
        <p:sp>
          <p:nvSpPr>
            <p:cNvPr id="5146" name="Rectangle 26"/>
            <p:cNvSpPr>
              <a:spLocks noChangeArrowheads="1"/>
            </p:cNvSpPr>
            <p:nvPr/>
          </p:nvSpPr>
          <p:spPr bwMode="auto">
            <a:xfrm>
              <a:off x="1513" y="2841"/>
              <a:ext cx="2738" cy="6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7" name="Rectangle 27"/>
            <p:cNvSpPr>
              <a:spLocks noChangeArrowheads="1"/>
            </p:cNvSpPr>
            <p:nvPr/>
          </p:nvSpPr>
          <p:spPr bwMode="auto">
            <a:xfrm>
              <a:off x="1513" y="3459"/>
              <a:ext cx="2738" cy="77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8" name="Line 28"/>
            <p:cNvSpPr>
              <a:spLocks noChangeShapeType="1"/>
            </p:cNvSpPr>
            <p:nvPr/>
          </p:nvSpPr>
          <p:spPr bwMode="auto">
            <a:xfrm>
              <a:off x="2715" y="2211"/>
              <a:ext cx="0" cy="20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3864"/>
            <a:ext cx="8229600" cy="792163"/>
          </a:xfrm>
          <a:ln/>
        </p:spPr>
        <p:txBody>
          <a:bodyPr lIns="90000" tIns="46800" rIns="90000" bIns="46800">
            <a:normAutofit/>
          </a:bodyPr>
          <a:lstStyle/>
          <a:p>
            <a:pPr defTabSz="449263">
              <a:buClr>
                <a:srgbClr val="FFFFFF"/>
              </a:buClr>
              <a:buFont typeface="Trebuchet MS" pitchFamily="34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3600" dirty="0"/>
              <a:t>T</a:t>
            </a:r>
            <a:r>
              <a:rPr lang="sr-Latn-RS" sz="3600" dirty="0"/>
              <a:t>ipovi</a:t>
            </a:r>
            <a:r>
              <a:rPr lang="en-GB" sz="3600" dirty="0"/>
              <a:t> </a:t>
            </a:r>
            <a:r>
              <a:rPr lang="sr-Latn-RS" sz="3600" dirty="0"/>
              <a:t>testiranja performansi</a:t>
            </a:r>
            <a:endParaRPr lang="en-GB" sz="3600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47ABE-E428-4180-86C6-3D2C74D5C791}" type="slidenum">
              <a:rPr lang="en-US"/>
              <a:pPr/>
              <a:t>4</a:t>
            </a:fld>
            <a:endParaRPr lang="en-US"/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986088" y="2297115"/>
            <a:ext cx="5776912" cy="8699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 anchor="ctr" anchorCtr="1"/>
          <a:lstStyle/>
          <a:p>
            <a:pPr algn="just" defTabSz="449263" eaLnBrk="0" hangingPunct="0">
              <a:spcBef>
                <a:spcPts val="125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sr-Latn-RS" sz="2000" dirty="0">
                <a:solidFill>
                  <a:srgbClr val="000000"/>
                </a:solidFill>
              </a:rPr>
              <a:t>Otkriti da li sistem funkcioniše pod očekivanim opterećenjem u realnim uslovima. Ovakav test izvodi se nad </a:t>
            </a:r>
            <a:r>
              <a:rPr lang="en-US" sz="2000" dirty="0">
                <a:solidFill>
                  <a:srgbClr val="000000"/>
                </a:solidFill>
              </a:rPr>
              <a:t>“</a:t>
            </a:r>
            <a:r>
              <a:rPr lang="sr-Latn-RS" sz="2000" dirty="0">
                <a:solidFill>
                  <a:srgbClr val="000000"/>
                </a:solidFill>
              </a:rPr>
              <a:t>živom</a:t>
            </a:r>
            <a:r>
              <a:rPr lang="en-US" sz="2000" dirty="0">
                <a:solidFill>
                  <a:srgbClr val="000000"/>
                </a:solidFill>
              </a:rPr>
              <a:t>” </a:t>
            </a:r>
            <a:r>
              <a:rPr lang="sr-Latn-RS" sz="2000" dirty="0">
                <a:solidFill>
                  <a:srgbClr val="000000"/>
                </a:solidFill>
              </a:rPr>
              <a:t>aplikacijom periodično</a:t>
            </a:r>
            <a:r>
              <a:rPr lang="en-GB" sz="2000" dirty="0">
                <a:solidFill>
                  <a:srgbClr val="000000"/>
                </a:solidFill>
              </a:rPr>
              <a:t>.</a:t>
            </a:r>
          </a:p>
        </p:txBody>
      </p:sp>
      <p:grpSp>
        <p:nvGrpSpPr>
          <p:cNvPr id="8196" name="Group 4"/>
          <p:cNvGrpSpPr>
            <a:grpSpLocks/>
          </p:cNvGrpSpPr>
          <p:nvPr/>
        </p:nvGrpSpPr>
        <p:grpSpPr bwMode="auto">
          <a:xfrm>
            <a:off x="471488" y="2355855"/>
            <a:ext cx="2324099" cy="804863"/>
            <a:chOff x="105" y="1811"/>
            <a:chExt cx="1464" cy="507"/>
          </a:xfrm>
        </p:grpSpPr>
        <p:sp>
          <p:nvSpPr>
            <p:cNvPr id="8197" name="AutoShape 5"/>
            <p:cNvSpPr>
              <a:spLocks noChangeArrowheads="1"/>
            </p:cNvSpPr>
            <p:nvPr/>
          </p:nvSpPr>
          <p:spPr bwMode="auto">
            <a:xfrm>
              <a:off x="105" y="1811"/>
              <a:ext cx="1464" cy="507"/>
            </a:xfrm>
            <a:prstGeom prst="roundRect">
              <a:avLst>
                <a:gd name="adj" fmla="val 16667"/>
              </a:avLst>
            </a:prstGeom>
            <a:solidFill>
              <a:srgbClr val="00808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8" name="Text Box 6"/>
            <p:cNvSpPr txBox="1">
              <a:spLocks noChangeArrowheads="1"/>
            </p:cNvSpPr>
            <p:nvPr/>
          </p:nvSpPr>
          <p:spPr bwMode="auto">
            <a:xfrm>
              <a:off x="217" y="1863"/>
              <a:ext cx="1196" cy="432"/>
            </a:xfrm>
            <a:prstGeom prst="rect">
              <a:avLst/>
            </a:prstGeom>
            <a:solidFill>
              <a:srgbClr val="008080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pPr algn="ctr" defTabSz="449263" eaLnBrk="0" hangingPunct="0">
                <a:lnSpc>
                  <a:spcPct val="80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sr-Latn-RS" sz="2400" b="1" i="1" dirty="0">
                  <a:solidFill>
                    <a:srgbClr val="FFFFFF"/>
                  </a:solidFill>
                  <a:latin typeface="Times New Roman" pitchFamily="18" charset="0"/>
                </a:rPr>
                <a:t>Test opterećenja</a:t>
              </a:r>
              <a:endParaRPr lang="en-GB" sz="2400" b="1" i="1" dirty="0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</p:grp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2938463" y="3595690"/>
            <a:ext cx="5824537" cy="10668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 anchor="ctr" anchorCtr="1"/>
          <a:lstStyle/>
          <a:p>
            <a:pPr defTabSz="449263" eaLnBrk="0" hangingPunct="0">
              <a:spcBef>
                <a:spcPts val="125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sr-Latn-RS" sz="2000" dirty="0">
                <a:solidFill>
                  <a:srgbClr val="000000"/>
                </a:solidFill>
              </a:rPr>
              <a:t>Preopteretiti sistem brojem korisničkih transakcija. Trajanje testa je kraće i cilj je otkrivanje bočnih efekata.</a:t>
            </a:r>
            <a:endParaRPr lang="en-GB" sz="2000" dirty="0">
              <a:solidFill>
                <a:srgbClr val="000000"/>
              </a:solidFill>
            </a:endParaRPr>
          </a:p>
        </p:txBody>
      </p:sp>
      <p:grpSp>
        <p:nvGrpSpPr>
          <p:cNvPr id="8200" name="Group 8"/>
          <p:cNvGrpSpPr>
            <a:grpSpLocks/>
          </p:cNvGrpSpPr>
          <p:nvPr/>
        </p:nvGrpSpPr>
        <p:grpSpPr bwMode="auto">
          <a:xfrm>
            <a:off x="471488" y="3727450"/>
            <a:ext cx="2324099" cy="838199"/>
            <a:chOff x="105" y="2675"/>
            <a:chExt cx="1464" cy="528"/>
          </a:xfrm>
        </p:grpSpPr>
        <p:sp>
          <p:nvSpPr>
            <p:cNvPr id="8201" name="AutoShape 9"/>
            <p:cNvSpPr>
              <a:spLocks noChangeArrowheads="1"/>
            </p:cNvSpPr>
            <p:nvPr/>
          </p:nvSpPr>
          <p:spPr bwMode="auto">
            <a:xfrm>
              <a:off x="105" y="2675"/>
              <a:ext cx="1464" cy="528"/>
            </a:xfrm>
            <a:prstGeom prst="roundRect">
              <a:avLst>
                <a:gd name="adj" fmla="val 16667"/>
              </a:avLst>
            </a:prstGeom>
            <a:solidFill>
              <a:srgbClr val="00808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2" name="Text Box 10"/>
            <p:cNvSpPr txBox="1">
              <a:spLocks noChangeArrowheads="1"/>
            </p:cNvSpPr>
            <p:nvPr/>
          </p:nvSpPr>
          <p:spPr bwMode="auto">
            <a:xfrm>
              <a:off x="217" y="2733"/>
              <a:ext cx="1259" cy="432"/>
            </a:xfrm>
            <a:prstGeom prst="rect">
              <a:avLst/>
            </a:prstGeom>
            <a:solidFill>
              <a:srgbClr val="008080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pPr algn="ctr" defTabSz="449263" eaLnBrk="0" hangingPunct="0">
                <a:lnSpc>
                  <a:spcPct val="80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400" b="1" i="1" dirty="0">
                  <a:solidFill>
                    <a:srgbClr val="FFFFFF"/>
                  </a:solidFill>
                  <a:latin typeface="Times New Roman" pitchFamily="18" charset="0"/>
                </a:rPr>
                <a:t>Stress </a:t>
              </a:r>
            </a:p>
            <a:p>
              <a:pPr algn="ctr" defTabSz="449263" eaLnBrk="0" hangingPunct="0">
                <a:lnSpc>
                  <a:spcPct val="80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sr-Latn-RS" sz="2400" b="1" i="1" dirty="0">
                  <a:solidFill>
                    <a:srgbClr val="FFFFFF"/>
                  </a:solidFill>
                  <a:latin typeface="Times New Roman" pitchFamily="18" charset="0"/>
                </a:rPr>
                <a:t>test</a:t>
              </a:r>
              <a:endParaRPr lang="en-GB" sz="2400" b="1" i="1" dirty="0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</p:grp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2986088" y="5281615"/>
            <a:ext cx="5776912" cy="609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 anchor="ctr" anchorCtr="1"/>
          <a:lstStyle/>
          <a:p>
            <a:pPr algn="just" defTabSz="449263" eaLnBrk="0" hangingPunct="0">
              <a:spcBef>
                <a:spcPts val="125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sr-Latn-RS" sz="2000" dirty="0">
                <a:solidFill>
                  <a:srgbClr val="000000"/>
                </a:solidFill>
              </a:rPr>
              <a:t>Odrediti stabilnost sistema u slučaju obrade velike količine informacija tokom dužeg vremenskog perioda.</a:t>
            </a:r>
            <a:endParaRPr lang="en-GB" sz="2000" dirty="0">
              <a:solidFill>
                <a:srgbClr val="000000"/>
              </a:solidFill>
            </a:endParaRPr>
          </a:p>
        </p:txBody>
      </p:sp>
      <p:grpSp>
        <p:nvGrpSpPr>
          <p:cNvPr id="8204" name="Group 12"/>
          <p:cNvGrpSpPr>
            <a:grpSpLocks/>
          </p:cNvGrpSpPr>
          <p:nvPr/>
        </p:nvGrpSpPr>
        <p:grpSpPr bwMode="auto">
          <a:xfrm>
            <a:off x="457201" y="5114926"/>
            <a:ext cx="2338386" cy="981074"/>
            <a:chOff x="96" y="3549"/>
            <a:chExt cx="1473" cy="618"/>
          </a:xfrm>
        </p:grpSpPr>
        <p:sp>
          <p:nvSpPr>
            <p:cNvPr id="8205" name="AutoShape 13"/>
            <p:cNvSpPr>
              <a:spLocks noChangeArrowheads="1"/>
            </p:cNvSpPr>
            <p:nvPr/>
          </p:nvSpPr>
          <p:spPr bwMode="auto">
            <a:xfrm>
              <a:off x="105" y="3587"/>
              <a:ext cx="1464" cy="528"/>
            </a:xfrm>
            <a:prstGeom prst="roundRect">
              <a:avLst>
                <a:gd name="adj" fmla="val 16667"/>
              </a:avLst>
            </a:prstGeom>
            <a:solidFill>
              <a:srgbClr val="00808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06" name="Text Box 14"/>
            <p:cNvSpPr txBox="1">
              <a:spLocks noChangeArrowheads="1"/>
            </p:cNvSpPr>
            <p:nvPr/>
          </p:nvSpPr>
          <p:spPr bwMode="auto">
            <a:xfrm>
              <a:off x="96" y="3549"/>
              <a:ext cx="1440" cy="618"/>
            </a:xfrm>
            <a:prstGeom prst="rect">
              <a:avLst/>
            </a:prstGeom>
            <a:solidFill>
              <a:srgbClr val="00808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square" lIns="90000" tIns="46800" rIns="90000" bIns="46800" anchor="ctr">
              <a:spAutoFit/>
            </a:bodyPr>
            <a:lstStyle/>
            <a:p>
              <a:pPr algn="ctr" defTabSz="449263" eaLnBrk="0" hangingPunct="0">
                <a:lnSpc>
                  <a:spcPct val="80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sr-Latn-RS" sz="2400" b="1" i="1" dirty="0">
                  <a:solidFill>
                    <a:srgbClr val="FFFFFF"/>
                  </a:solidFill>
                  <a:latin typeface="Times New Roman" pitchFamily="18" charset="0"/>
                </a:rPr>
                <a:t>Test velike količine podataka</a:t>
              </a:r>
              <a:endParaRPr lang="en-GB" sz="2400" b="1" i="1" dirty="0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</p:grpSp>
      <p:sp>
        <p:nvSpPr>
          <p:cNvPr id="8207" name="Rectangle 15"/>
          <p:cNvSpPr>
            <a:spLocks noChangeArrowheads="1"/>
          </p:cNvSpPr>
          <p:nvPr/>
        </p:nvSpPr>
        <p:spPr bwMode="auto">
          <a:xfrm>
            <a:off x="2881313" y="1125540"/>
            <a:ext cx="5734050" cy="6556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2160" tIns="46080" rIns="92160" bIns="46080" anchor="ctr" anchorCtr="1"/>
          <a:lstStyle/>
          <a:p>
            <a:pPr defTabSz="449263" eaLnBrk="0" hangingPunct="0">
              <a:spcBef>
                <a:spcPts val="1000"/>
              </a:spcBef>
              <a:buClr>
                <a:srgbClr val="000000"/>
              </a:buClr>
              <a:buSzPct val="100000"/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sr-Latn-RS" sz="2000" dirty="0">
                <a:solidFill>
                  <a:srgbClr val="000000"/>
                </a:solidFill>
              </a:rPr>
              <a:t>Odrediti ponašanje i performanse svakog sloja i/ili komponente.</a:t>
            </a:r>
            <a:r>
              <a:rPr lang="en-GB" sz="16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grpSp>
        <p:nvGrpSpPr>
          <p:cNvPr id="8208" name="Group 16"/>
          <p:cNvGrpSpPr>
            <a:grpSpLocks/>
          </p:cNvGrpSpPr>
          <p:nvPr/>
        </p:nvGrpSpPr>
        <p:grpSpPr bwMode="auto">
          <a:xfrm>
            <a:off x="527050" y="1050927"/>
            <a:ext cx="2324101" cy="838199"/>
            <a:chOff x="140" y="989"/>
            <a:chExt cx="1464" cy="528"/>
          </a:xfrm>
        </p:grpSpPr>
        <p:sp>
          <p:nvSpPr>
            <p:cNvPr id="8209" name="AutoShape 17"/>
            <p:cNvSpPr>
              <a:spLocks noChangeArrowheads="1"/>
            </p:cNvSpPr>
            <p:nvPr/>
          </p:nvSpPr>
          <p:spPr bwMode="auto">
            <a:xfrm>
              <a:off x="140" y="989"/>
              <a:ext cx="1464" cy="528"/>
            </a:xfrm>
            <a:prstGeom prst="roundRect">
              <a:avLst>
                <a:gd name="adj" fmla="val 16667"/>
              </a:avLst>
            </a:prstGeom>
            <a:solidFill>
              <a:srgbClr val="00808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10" name="Text Box 18"/>
            <p:cNvSpPr txBox="1">
              <a:spLocks noChangeArrowheads="1"/>
            </p:cNvSpPr>
            <p:nvPr/>
          </p:nvSpPr>
          <p:spPr bwMode="auto">
            <a:xfrm>
              <a:off x="252" y="1045"/>
              <a:ext cx="1232" cy="432"/>
            </a:xfrm>
            <a:prstGeom prst="rect">
              <a:avLst/>
            </a:prstGeom>
            <a:solidFill>
              <a:srgbClr val="008080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>
              <a:spAutoFit/>
            </a:bodyPr>
            <a:lstStyle/>
            <a:p>
              <a:pPr algn="ctr" defTabSz="449263" eaLnBrk="0" hangingPunct="0">
                <a:lnSpc>
                  <a:spcPct val="80000"/>
                </a:lnSpc>
                <a:buClr>
                  <a:srgbClr val="000000"/>
                </a:buClr>
                <a:buSzPct val="100000"/>
                <a:buFont typeface="Times New Roman" pitchFamily="18" charset="0"/>
                <a:buNone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sr-Latn-RS" sz="2400" b="1" i="1" dirty="0">
                  <a:solidFill>
                    <a:srgbClr val="FFFFFF"/>
                  </a:solidFill>
                  <a:latin typeface="Times New Roman" pitchFamily="18" charset="0"/>
                </a:rPr>
                <a:t>Komponentni test</a:t>
              </a:r>
              <a:endParaRPr lang="en-GB" sz="2400" b="1" i="1" dirty="0">
                <a:solidFill>
                  <a:srgbClr val="FFFFFF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5529263" y="6076950"/>
            <a:ext cx="2852737" cy="490538"/>
            <a:chOff x="3579" y="3828"/>
            <a:chExt cx="1797" cy="309"/>
          </a:xfrm>
        </p:grpSpPr>
        <p:sp>
          <p:nvSpPr>
            <p:cNvPr id="15363" name="Text Box 3"/>
            <p:cNvSpPr txBox="1">
              <a:spLocks noChangeArrowheads="1"/>
            </p:cNvSpPr>
            <p:nvPr/>
          </p:nvSpPr>
          <p:spPr bwMode="auto">
            <a:xfrm>
              <a:off x="3856" y="3924"/>
              <a:ext cx="1413" cy="213"/>
            </a:xfrm>
            <a:prstGeom prst="rect">
              <a:avLst/>
            </a:prstGeom>
            <a:noFill/>
            <a:ln w="12700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20000"/>
                </a:spcBef>
                <a:buClr>
                  <a:schemeClr val="tx2"/>
                </a:buClr>
              </a:pPr>
              <a:r>
                <a:rPr lang="en-US" sz="1600" b="1" i="1" dirty="0"/>
                <a:t>S</a:t>
              </a:r>
              <a:r>
                <a:rPr lang="sr-Latn-RS" sz="1600" b="1" i="1" dirty="0"/>
                <a:t>istem u testu</a:t>
              </a:r>
              <a:endParaRPr lang="en-US" sz="1600" b="1" i="1" dirty="0"/>
            </a:p>
          </p:txBody>
        </p:sp>
        <p:grpSp>
          <p:nvGrpSpPr>
            <p:cNvPr id="15364" name="Group 4"/>
            <p:cNvGrpSpPr>
              <a:grpSpLocks/>
            </p:cNvGrpSpPr>
            <p:nvPr/>
          </p:nvGrpSpPr>
          <p:grpSpPr bwMode="auto">
            <a:xfrm>
              <a:off x="3579" y="3828"/>
              <a:ext cx="1797" cy="150"/>
              <a:chOff x="414" y="3828"/>
              <a:chExt cx="720" cy="150"/>
            </a:xfrm>
          </p:grpSpPr>
          <p:sp>
            <p:nvSpPr>
              <p:cNvPr id="15365" name="Line 5"/>
              <p:cNvSpPr>
                <a:spLocks noChangeShapeType="1"/>
              </p:cNvSpPr>
              <p:nvPr/>
            </p:nvSpPr>
            <p:spPr bwMode="auto">
              <a:xfrm>
                <a:off x="414" y="3903"/>
                <a:ext cx="720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66" name="Line 6"/>
              <p:cNvSpPr>
                <a:spLocks noChangeShapeType="1"/>
              </p:cNvSpPr>
              <p:nvPr/>
            </p:nvSpPr>
            <p:spPr bwMode="auto">
              <a:xfrm rot="-5400000">
                <a:off x="1059" y="3903"/>
                <a:ext cx="150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67" name="Line 7"/>
              <p:cNvSpPr>
                <a:spLocks noChangeShapeType="1"/>
              </p:cNvSpPr>
              <p:nvPr/>
            </p:nvSpPr>
            <p:spPr bwMode="auto">
              <a:xfrm rot="-5400000">
                <a:off x="339" y="3903"/>
                <a:ext cx="150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5368" name="Group 8"/>
          <p:cNvGrpSpPr>
            <a:grpSpLocks/>
          </p:cNvGrpSpPr>
          <p:nvPr/>
        </p:nvGrpSpPr>
        <p:grpSpPr bwMode="auto">
          <a:xfrm>
            <a:off x="960438" y="4184650"/>
            <a:ext cx="6592887" cy="236538"/>
            <a:chOff x="605" y="2606"/>
            <a:chExt cx="4153" cy="149"/>
          </a:xfrm>
        </p:grpSpPr>
        <p:sp>
          <p:nvSpPr>
            <p:cNvPr id="15369" name="Freeform 9"/>
            <p:cNvSpPr>
              <a:spLocks/>
            </p:cNvSpPr>
            <p:nvPr/>
          </p:nvSpPr>
          <p:spPr bwMode="auto">
            <a:xfrm>
              <a:off x="605" y="2606"/>
              <a:ext cx="3086" cy="149"/>
            </a:xfrm>
            <a:custGeom>
              <a:avLst/>
              <a:gdLst/>
              <a:ahLst/>
              <a:cxnLst>
                <a:cxn ang="0">
                  <a:pos x="0" y="92"/>
                </a:cxn>
                <a:cxn ang="0">
                  <a:pos x="1929" y="149"/>
                </a:cxn>
                <a:cxn ang="0">
                  <a:pos x="1589" y="0"/>
                </a:cxn>
                <a:cxn ang="0">
                  <a:pos x="3086" y="10"/>
                </a:cxn>
              </a:cxnLst>
              <a:rect l="0" t="0" r="r" b="b"/>
              <a:pathLst>
                <a:path w="3086" h="149">
                  <a:moveTo>
                    <a:pt x="0" y="92"/>
                  </a:moveTo>
                  <a:lnTo>
                    <a:pt x="1929" y="149"/>
                  </a:lnTo>
                  <a:lnTo>
                    <a:pt x="1589" y="0"/>
                  </a:lnTo>
                  <a:lnTo>
                    <a:pt x="3086" y="10"/>
                  </a:lnTo>
                </a:path>
              </a:pathLst>
            </a:custGeom>
            <a:noFill/>
            <a:ln w="762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70" name="Line 10"/>
            <p:cNvSpPr>
              <a:spLocks noChangeShapeType="1"/>
            </p:cNvSpPr>
            <p:nvPr/>
          </p:nvSpPr>
          <p:spPr bwMode="auto">
            <a:xfrm>
              <a:off x="4062" y="2618"/>
              <a:ext cx="696" cy="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371" name="Rectangle 11"/>
          <p:cNvSpPr>
            <a:spLocks noGrp="1" noChangeArrowheads="1"/>
          </p:cNvSpPr>
          <p:nvPr>
            <p:ph type="title"/>
          </p:nvPr>
        </p:nvSpPr>
        <p:spPr>
          <a:xfrm>
            <a:off x="465138" y="214313"/>
            <a:ext cx="7065962" cy="862012"/>
          </a:xfrm>
          <a:noFill/>
          <a:ln/>
        </p:spPr>
        <p:txBody>
          <a:bodyPr>
            <a:normAutofit fontScale="90000"/>
          </a:bodyPr>
          <a:lstStyle/>
          <a:p>
            <a:r>
              <a:rPr lang="sr-Latn-RS" dirty="0"/>
              <a:t>Korišćenje alata za testiranje</a:t>
            </a:r>
            <a:endParaRPr lang="en-US" dirty="0"/>
          </a:p>
        </p:txBody>
      </p:sp>
      <p:grpSp>
        <p:nvGrpSpPr>
          <p:cNvPr id="15372" name="Group 12"/>
          <p:cNvGrpSpPr>
            <a:grpSpLocks/>
          </p:cNvGrpSpPr>
          <p:nvPr/>
        </p:nvGrpSpPr>
        <p:grpSpPr bwMode="auto">
          <a:xfrm>
            <a:off x="5748338" y="3775079"/>
            <a:ext cx="2828925" cy="1309689"/>
            <a:chOff x="3621" y="2378"/>
            <a:chExt cx="1782" cy="825"/>
          </a:xfrm>
        </p:grpSpPr>
        <p:grpSp>
          <p:nvGrpSpPr>
            <p:cNvPr id="15373" name="Group 13"/>
            <p:cNvGrpSpPr>
              <a:grpSpLocks/>
            </p:cNvGrpSpPr>
            <p:nvPr/>
          </p:nvGrpSpPr>
          <p:grpSpPr bwMode="auto">
            <a:xfrm>
              <a:off x="3692" y="2378"/>
              <a:ext cx="372" cy="459"/>
              <a:chOff x="4518" y="3337"/>
              <a:chExt cx="700" cy="864"/>
            </a:xfrm>
          </p:grpSpPr>
          <p:sp>
            <p:nvSpPr>
              <p:cNvPr id="15374" name="AutoShape 14"/>
              <p:cNvSpPr>
                <a:spLocks noChangeArrowheads="1"/>
              </p:cNvSpPr>
              <p:nvPr/>
            </p:nvSpPr>
            <p:spPr bwMode="auto">
              <a:xfrm>
                <a:off x="4518" y="3337"/>
                <a:ext cx="700" cy="864"/>
              </a:xfrm>
              <a:prstGeom prst="flowChartMagneticDisk">
                <a:avLst/>
              </a:prstGeom>
              <a:gradFill rotWithShape="0">
                <a:gsLst>
                  <a:gs pos="0">
                    <a:srgbClr val="33CCCC">
                      <a:gamma/>
                      <a:shade val="46275"/>
                      <a:invGamma/>
                    </a:srgbClr>
                  </a:gs>
                  <a:gs pos="50000">
                    <a:srgbClr val="33CCCC"/>
                  </a:gs>
                  <a:gs pos="100000">
                    <a:srgbClr val="33CCCC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190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5" name="Oval 15"/>
              <p:cNvSpPr>
                <a:spLocks noChangeArrowheads="1"/>
              </p:cNvSpPr>
              <p:nvPr/>
            </p:nvSpPr>
            <p:spPr bwMode="auto">
              <a:xfrm>
                <a:off x="4518" y="3339"/>
                <a:ext cx="698" cy="265"/>
              </a:xfrm>
              <a:prstGeom prst="ellipse">
                <a:avLst/>
              </a:prstGeom>
              <a:solidFill>
                <a:srgbClr val="33CCCC"/>
              </a:solidFill>
              <a:ln w="190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376" name="Group 16"/>
            <p:cNvGrpSpPr>
              <a:grpSpLocks/>
            </p:cNvGrpSpPr>
            <p:nvPr/>
          </p:nvGrpSpPr>
          <p:grpSpPr bwMode="auto">
            <a:xfrm>
              <a:off x="4760" y="2378"/>
              <a:ext cx="372" cy="459"/>
              <a:chOff x="4518" y="3337"/>
              <a:chExt cx="700" cy="864"/>
            </a:xfrm>
          </p:grpSpPr>
          <p:sp>
            <p:nvSpPr>
              <p:cNvPr id="15377" name="AutoShape 17"/>
              <p:cNvSpPr>
                <a:spLocks noChangeArrowheads="1"/>
              </p:cNvSpPr>
              <p:nvPr/>
            </p:nvSpPr>
            <p:spPr bwMode="auto">
              <a:xfrm>
                <a:off x="4518" y="3337"/>
                <a:ext cx="700" cy="864"/>
              </a:xfrm>
              <a:prstGeom prst="flowChartMagneticDisk">
                <a:avLst/>
              </a:prstGeom>
              <a:gradFill rotWithShape="0">
                <a:gsLst>
                  <a:gs pos="0">
                    <a:srgbClr val="33CCCC">
                      <a:gamma/>
                      <a:shade val="46275"/>
                      <a:invGamma/>
                    </a:srgbClr>
                  </a:gs>
                  <a:gs pos="50000">
                    <a:srgbClr val="33CCCC"/>
                  </a:gs>
                  <a:gs pos="100000">
                    <a:srgbClr val="33CCCC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190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78" name="Oval 18"/>
              <p:cNvSpPr>
                <a:spLocks noChangeArrowheads="1"/>
              </p:cNvSpPr>
              <p:nvPr/>
            </p:nvSpPr>
            <p:spPr bwMode="auto">
              <a:xfrm>
                <a:off x="4518" y="3339"/>
                <a:ext cx="698" cy="265"/>
              </a:xfrm>
              <a:prstGeom prst="ellipse">
                <a:avLst/>
              </a:prstGeom>
              <a:solidFill>
                <a:srgbClr val="33CCCC"/>
              </a:solidFill>
              <a:ln w="19050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379" name="Text Box 19"/>
            <p:cNvSpPr txBox="1">
              <a:spLocks noChangeArrowheads="1"/>
            </p:cNvSpPr>
            <p:nvPr/>
          </p:nvSpPr>
          <p:spPr bwMode="auto">
            <a:xfrm>
              <a:off x="3621" y="2870"/>
              <a:ext cx="806" cy="165"/>
            </a:xfrm>
            <a:prstGeom prst="rect">
              <a:avLst/>
            </a:prstGeom>
            <a:noFill/>
            <a:ln w="12700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lnSpc>
                  <a:spcPct val="80000"/>
                </a:lnSpc>
                <a:buClr>
                  <a:schemeClr val="tx2"/>
                </a:buClr>
              </a:pPr>
              <a:r>
                <a:rPr lang="en-US" sz="1400" b="1"/>
                <a:t>Web server</a:t>
              </a:r>
            </a:p>
          </p:txBody>
        </p:sp>
        <p:sp>
          <p:nvSpPr>
            <p:cNvPr id="15380" name="Text Box 20"/>
            <p:cNvSpPr txBox="1">
              <a:spLocks noChangeArrowheads="1"/>
            </p:cNvSpPr>
            <p:nvPr/>
          </p:nvSpPr>
          <p:spPr bwMode="auto">
            <a:xfrm>
              <a:off x="4719" y="2819"/>
              <a:ext cx="684" cy="384"/>
            </a:xfrm>
            <a:prstGeom prst="rect">
              <a:avLst/>
            </a:prstGeom>
            <a:noFill/>
            <a:ln w="12700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lnSpc>
                  <a:spcPct val="80000"/>
                </a:lnSpc>
                <a:buClr>
                  <a:schemeClr val="tx2"/>
                </a:buClr>
              </a:pPr>
              <a:r>
                <a:rPr lang="sr-Latn-RS" sz="1400" b="1" dirty="0"/>
                <a:t>Server baze podataka</a:t>
              </a:r>
              <a:endParaRPr lang="en-US" sz="1400" b="1" dirty="0"/>
            </a:p>
          </p:txBody>
        </p:sp>
      </p:grpSp>
      <p:grpSp>
        <p:nvGrpSpPr>
          <p:cNvPr id="15381" name="Group 21"/>
          <p:cNvGrpSpPr>
            <a:grpSpLocks/>
          </p:cNvGrpSpPr>
          <p:nvPr/>
        </p:nvGrpSpPr>
        <p:grpSpPr bwMode="auto">
          <a:xfrm>
            <a:off x="641350" y="4492625"/>
            <a:ext cx="2120900" cy="2198688"/>
            <a:chOff x="404" y="2830"/>
            <a:chExt cx="1336" cy="1385"/>
          </a:xfrm>
        </p:grpSpPr>
        <p:grpSp>
          <p:nvGrpSpPr>
            <p:cNvPr id="15382" name="Group 22"/>
            <p:cNvGrpSpPr>
              <a:grpSpLocks/>
            </p:cNvGrpSpPr>
            <p:nvPr/>
          </p:nvGrpSpPr>
          <p:grpSpPr bwMode="auto">
            <a:xfrm>
              <a:off x="404" y="3828"/>
              <a:ext cx="1336" cy="387"/>
              <a:chOff x="338" y="3828"/>
              <a:chExt cx="1336" cy="387"/>
            </a:xfrm>
          </p:grpSpPr>
          <p:sp>
            <p:nvSpPr>
              <p:cNvPr id="15383" name="Text Box 23"/>
              <p:cNvSpPr txBox="1">
                <a:spLocks noChangeArrowheads="1"/>
              </p:cNvSpPr>
              <p:nvPr/>
            </p:nvSpPr>
            <p:spPr bwMode="auto">
              <a:xfrm>
                <a:off x="422" y="3847"/>
                <a:ext cx="1232" cy="368"/>
              </a:xfrm>
              <a:prstGeom prst="rect">
                <a:avLst/>
              </a:prstGeom>
              <a:noFill/>
              <a:ln w="127000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 eaLnBrk="0" hangingPunct="0">
                  <a:spcBef>
                    <a:spcPct val="20000"/>
                  </a:spcBef>
                  <a:buClr>
                    <a:schemeClr val="tx2"/>
                  </a:buClr>
                </a:pPr>
                <a:r>
                  <a:rPr lang="sr-Latn-RS" sz="1600" b="1" i="1" dirty="0"/>
                  <a:t>Generisanje opterećenja</a:t>
                </a:r>
                <a:endParaRPr lang="en-US" sz="1600" b="1" i="1" dirty="0"/>
              </a:p>
            </p:txBody>
          </p:sp>
          <p:grpSp>
            <p:nvGrpSpPr>
              <p:cNvPr id="15384" name="Group 24"/>
              <p:cNvGrpSpPr>
                <a:grpSpLocks/>
              </p:cNvGrpSpPr>
              <p:nvPr/>
            </p:nvGrpSpPr>
            <p:grpSpPr bwMode="auto">
              <a:xfrm>
                <a:off x="338" y="3828"/>
                <a:ext cx="1336" cy="150"/>
                <a:chOff x="414" y="3828"/>
                <a:chExt cx="720" cy="150"/>
              </a:xfrm>
            </p:grpSpPr>
            <p:sp>
              <p:nvSpPr>
                <p:cNvPr id="15385" name="Line 25"/>
                <p:cNvSpPr>
                  <a:spLocks noChangeShapeType="1"/>
                </p:cNvSpPr>
                <p:nvPr/>
              </p:nvSpPr>
              <p:spPr bwMode="auto">
                <a:xfrm>
                  <a:off x="414" y="3903"/>
                  <a:ext cx="720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6" name="Line 26"/>
                <p:cNvSpPr>
                  <a:spLocks noChangeShapeType="1"/>
                </p:cNvSpPr>
                <p:nvPr/>
              </p:nvSpPr>
              <p:spPr bwMode="auto">
                <a:xfrm rot="-5400000">
                  <a:off x="1059" y="3903"/>
                  <a:ext cx="150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387" name="Line 27"/>
                <p:cNvSpPr>
                  <a:spLocks noChangeShapeType="1"/>
                </p:cNvSpPr>
                <p:nvPr/>
              </p:nvSpPr>
              <p:spPr bwMode="auto">
                <a:xfrm rot="-5400000">
                  <a:off x="339" y="3903"/>
                  <a:ext cx="150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5388" name="Group 28"/>
            <p:cNvGrpSpPr>
              <a:grpSpLocks/>
            </p:cNvGrpSpPr>
            <p:nvPr/>
          </p:nvGrpSpPr>
          <p:grpSpPr bwMode="auto">
            <a:xfrm>
              <a:off x="848" y="2830"/>
              <a:ext cx="826" cy="1025"/>
              <a:chOff x="584" y="2830"/>
              <a:chExt cx="826" cy="1025"/>
            </a:xfrm>
          </p:grpSpPr>
          <p:sp>
            <p:nvSpPr>
              <p:cNvPr id="15389" name="AutoShape 29"/>
              <p:cNvSpPr>
                <a:spLocks noChangeArrowheads="1"/>
              </p:cNvSpPr>
              <p:nvPr/>
            </p:nvSpPr>
            <p:spPr bwMode="auto">
              <a:xfrm>
                <a:off x="726" y="2898"/>
                <a:ext cx="642" cy="840"/>
              </a:xfrm>
              <a:prstGeom prst="roundRect">
                <a:avLst>
                  <a:gd name="adj" fmla="val 6667"/>
                </a:avLst>
              </a:prstGeom>
              <a:noFill/>
              <a:ln w="3175">
                <a:solidFill>
                  <a:srgbClr val="0066FF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390" name="Group 30"/>
              <p:cNvGrpSpPr>
                <a:grpSpLocks/>
              </p:cNvGrpSpPr>
              <p:nvPr/>
            </p:nvGrpSpPr>
            <p:grpSpPr bwMode="auto">
              <a:xfrm>
                <a:off x="584" y="2830"/>
                <a:ext cx="826" cy="1025"/>
                <a:chOff x="2253" y="2302"/>
                <a:chExt cx="1036" cy="1285"/>
              </a:xfrm>
            </p:grpSpPr>
            <p:grpSp>
              <p:nvGrpSpPr>
                <p:cNvPr id="15391" name="Group 31"/>
                <p:cNvGrpSpPr>
                  <a:grpSpLocks/>
                </p:cNvGrpSpPr>
                <p:nvPr/>
              </p:nvGrpSpPr>
              <p:grpSpPr bwMode="auto">
                <a:xfrm>
                  <a:off x="2629" y="2974"/>
                  <a:ext cx="284" cy="613"/>
                  <a:chOff x="789" y="1324"/>
                  <a:chExt cx="576" cy="1245"/>
                </a:xfrm>
              </p:grpSpPr>
              <p:grpSp>
                <p:nvGrpSpPr>
                  <p:cNvPr id="15392" name="Group 32"/>
                  <p:cNvGrpSpPr>
                    <a:grpSpLocks/>
                  </p:cNvGrpSpPr>
                  <p:nvPr/>
                </p:nvGrpSpPr>
                <p:grpSpPr bwMode="auto">
                  <a:xfrm>
                    <a:off x="789" y="2012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393" name="Group 3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394" name="Freeform 3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395" name="Freeform 3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396" name="Freeform 3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397" name="Freeform 3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398" name="Line 3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399" name="Line 3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00" name="Freeform 4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401" name="Freeform 41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02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03" name="Freeform 43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04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05" name="Line 45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06" name="Line 46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07" name="Freeform 47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08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789" y="1324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409" name="Group 4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410" name="Freeform 5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11" name="Freeform 5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12" name="Freeform 5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13" name="Freeform 5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14" name="Line 5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15" name="Line 5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16" name="Freeform 5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417" name="Freeform 57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18" name="Freeform 58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19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0" name="Freeform 60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1" name="Line 61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2" name="Line 62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23" name="Freeform 63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5424" name="Group 64"/>
                <p:cNvGrpSpPr>
                  <a:grpSpLocks/>
                </p:cNvGrpSpPr>
                <p:nvPr/>
              </p:nvGrpSpPr>
              <p:grpSpPr bwMode="auto">
                <a:xfrm>
                  <a:off x="2629" y="2302"/>
                  <a:ext cx="284" cy="613"/>
                  <a:chOff x="789" y="1324"/>
                  <a:chExt cx="576" cy="1245"/>
                </a:xfrm>
              </p:grpSpPr>
              <p:grpSp>
                <p:nvGrpSpPr>
                  <p:cNvPr id="15425" name="Group 65"/>
                  <p:cNvGrpSpPr>
                    <a:grpSpLocks/>
                  </p:cNvGrpSpPr>
                  <p:nvPr/>
                </p:nvGrpSpPr>
                <p:grpSpPr bwMode="auto">
                  <a:xfrm>
                    <a:off x="789" y="2012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426" name="Group 6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427" name="Freeform 6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28" name="Freeform 6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29" name="Freeform 6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30" name="Freeform 7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31" name="Line 7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32" name="Line 7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33" name="Freeform 7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434" name="Freeform 74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5" name="Freeform 75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6" name="Freeform 76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7" name="Freeform 77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8" name="Line 78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39" name="Line 79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40" name="Freeform 80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41" name="Group 81"/>
                  <p:cNvGrpSpPr>
                    <a:grpSpLocks/>
                  </p:cNvGrpSpPr>
                  <p:nvPr/>
                </p:nvGrpSpPr>
                <p:grpSpPr bwMode="auto">
                  <a:xfrm>
                    <a:off x="789" y="1324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442" name="Group 8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443" name="Freeform 8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4" name="Freeform 8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5" name="Freeform 8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6" name="Freeform 8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7" name="Line 8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8" name="Line 8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49" name="Freeform 8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450" name="Freeform 90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51" name="Freeform 91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52" name="Freeform 92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53" name="Freeform 93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54" name="Line 94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55" name="Line 95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56" name="Freeform 96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5457" name="Group 97"/>
                <p:cNvGrpSpPr>
                  <a:grpSpLocks/>
                </p:cNvGrpSpPr>
                <p:nvPr/>
              </p:nvGrpSpPr>
              <p:grpSpPr bwMode="auto">
                <a:xfrm>
                  <a:off x="3005" y="2974"/>
                  <a:ext cx="284" cy="613"/>
                  <a:chOff x="789" y="1324"/>
                  <a:chExt cx="576" cy="1245"/>
                </a:xfrm>
              </p:grpSpPr>
              <p:grpSp>
                <p:nvGrpSpPr>
                  <p:cNvPr id="15458" name="Group 98"/>
                  <p:cNvGrpSpPr>
                    <a:grpSpLocks/>
                  </p:cNvGrpSpPr>
                  <p:nvPr/>
                </p:nvGrpSpPr>
                <p:grpSpPr bwMode="auto">
                  <a:xfrm>
                    <a:off x="789" y="2012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459" name="Group 9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460" name="Freeform 10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61" name="Freeform 10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62" name="Freeform 10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63" name="Freeform 10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64" name="Line 10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65" name="Line 10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66" name="Freeform 10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467" name="Freeform 107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68" name="Freeform 108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69" name="Freeform 109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70" name="Freeform 110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71" name="Line 111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72" name="Line 112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73" name="Freeform 113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474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789" y="1324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475" name="Group 11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476" name="Freeform 11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77" name="Freeform 11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78" name="Freeform 11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79" name="Freeform 11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80" name="Line 12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81" name="Line 12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82" name="Freeform 12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483" name="Freeform 123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84" name="Freeform 124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85" name="Freeform 125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86" name="Freeform 126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87" name="Line 127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88" name="Line 128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489" name="Freeform 129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5490" name="Group 130"/>
                <p:cNvGrpSpPr>
                  <a:grpSpLocks/>
                </p:cNvGrpSpPr>
                <p:nvPr/>
              </p:nvGrpSpPr>
              <p:grpSpPr bwMode="auto">
                <a:xfrm>
                  <a:off x="3005" y="2302"/>
                  <a:ext cx="284" cy="613"/>
                  <a:chOff x="789" y="1324"/>
                  <a:chExt cx="576" cy="1245"/>
                </a:xfrm>
              </p:grpSpPr>
              <p:grpSp>
                <p:nvGrpSpPr>
                  <p:cNvPr id="15491" name="Group 131"/>
                  <p:cNvGrpSpPr>
                    <a:grpSpLocks/>
                  </p:cNvGrpSpPr>
                  <p:nvPr/>
                </p:nvGrpSpPr>
                <p:grpSpPr bwMode="auto">
                  <a:xfrm>
                    <a:off x="789" y="2012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492" name="Group 1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493" name="Freeform 13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94" name="Freeform 13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95" name="Freeform 13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96" name="Freeform 13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97" name="Line 13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98" name="Line 13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499" name="Freeform 13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500" name="Freeform 140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01" name="Freeform 141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02" name="Freeform 142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03" name="Freeform 143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04" name="Line 144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05" name="Line 145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06" name="Freeform 146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507" name="Group 147"/>
                  <p:cNvGrpSpPr>
                    <a:grpSpLocks/>
                  </p:cNvGrpSpPr>
                  <p:nvPr/>
                </p:nvGrpSpPr>
                <p:grpSpPr bwMode="auto">
                  <a:xfrm>
                    <a:off x="789" y="1324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508" name="Group 14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509" name="Freeform 14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10" name="Freeform 15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11" name="Freeform 15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12" name="Freeform 15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13" name="Line 15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14" name="Line 15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15" name="Freeform 15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516" name="Freeform 156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17" name="Freeform 157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18" name="Freeform 158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19" name="Freeform 159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20" name="Line 160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21" name="Line 161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22" name="Freeform 162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5523" name="Group 163"/>
                <p:cNvGrpSpPr>
                  <a:grpSpLocks/>
                </p:cNvGrpSpPr>
                <p:nvPr/>
              </p:nvGrpSpPr>
              <p:grpSpPr bwMode="auto">
                <a:xfrm>
                  <a:off x="2253" y="2974"/>
                  <a:ext cx="284" cy="613"/>
                  <a:chOff x="789" y="1324"/>
                  <a:chExt cx="576" cy="1245"/>
                </a:xfrm>
              </p:grpSpPr>
              <p:grpSp>
                <p:nvGrpSpPr>
                  <p:cNvPr id="15524" name="Group 164"/>
                  <p:cNvGrpSpPr>
                    <a:grpSpLocks/>
                  </p:cNvGrpSpPr>
                  <p:nvPr/>
                </p:nvGrpSpPr>
                <p:grpSpPr bwMode="auto">
                  <a:xfrm>
                    <a:off x="789" y="2012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525" name="Group 16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526" name="Freeform 16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27" name="Freeform 16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28" name="Freeform 16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29" name="Freeform 16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30" name="Line 17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31" name="Line 17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32" name="Freeform 17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533" name="Freeform 173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34" name="Freeform 174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35" name="Freeform 175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36" name="Freeform 176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37" name="Line 177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38" name="Line 178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39" name="Freeform 179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540" name="Group 180"/>
                  <p:cNvGrpSpPr>
                    <a:grpSpLocks/>
                  </p:cNvGrpSpPr>
                  <p:nvPr/>
                </p:nvGrpSpPr>
                <p:grpSpPr bwMode="auto">
                  <a:xfrm>
                    <a:off x="789" y="1324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541" name="Group 18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542" name="Freeform 18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43" name="Freeform 183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44" name="Freeform 184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45" name="Freeform 18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46" name="Line 18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47" name="Line 18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48" name="Freeform 18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549" name="Freeform 189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50" name="Freeform 190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51" name="Freeform 191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52" name="Freeform 192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53" name="Line 193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54" name="Line 194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55" name="Freeform 195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  <p:grpSp>
              <p:nvGrpSpPr>
                <p:cNvPr id="15556" name="Group 196"/>
                <p:cNvGrpSpPr>
                  <a:grpSpLocks/>
                </p:cNvGrpSpPr>
                <p:nvPr/>
              </p:nvGrpSpPr>
              <p:grpSpPr bwMode="auto">
                <a:xfrm>
                  <a:off x="2253" y="2302"/>
                  <a:ext cx="284" cy="613"/>
                  <a:chOff x="789" y="1324"/>
                  <a:chExt cx="576" cy="1245"/>
                </a:xfrm>
              </p:grpSpPr>
              <p:grpSp>
                <p:nvGrpSpPr>
                  <p:cNvPr id="15557" name="Group 197"/>
                  <p:cNvGrpSpPr>
                    <a:grpSpLocks/>
                  </p:cNvGrpSpPr>
                  <p:nvPr/>
                </p:nvGrpSpPr>
                <p:grpSpPr bwMode="auto">
                  <a:xfrm>
                    <a:off x="789" y="2012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558" name="Group 19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559" name="Freeform 19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60" name="Freeform 20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61" name="Freeform 20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62" name="Freeform 20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63" name="Line 20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64" name="Line 20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65" name="Freeform 20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566" name="Freeform 206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67" name="Freeform 207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68" name="Freeform 208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69" name="Freeform 209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70" name="Line 210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71" name="Line 211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72" name="Freeform 212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5573" name="Group 213"/>
                  <p:cNvGrpSpPr>
                    <a:grpSpLocks/>
                  </p:cNvGrpSpPr>
                  <p:nvPr/>
                </p:nvGrpSpPr>
                <p:grpSpPr bwMode="auto">
                  <a:xfrm>
                    <a:off x="789" y="1324"/>
                    <a:ext cx="576" cy="557"/>
                    <a:chOff x="902" y="2258"/>
                    <a:chExt cx="466" cy="451"/>
                  </a:xfrm>
                </p:grpSpPr>
                <p:grpSp>
                  <p:nvGrpSpPr>
                    <p:cNvPr id="15574" name="Group 21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902" y="2258"/>
                      <a:ext cx="282" cy="451"/>
                      <a:chOff x="902" y="2258"/>
                      <a:chExt cx="282" cy="451"/>
                    </a:xfrm>
                  </p:grpSpPr>
                  <p:sp>
                    <p:nvSpPr>
                      <p:cNvPr id="15575" name="Freeform 215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02" y="2258"/>
                        <a:ext cx="282" cy="4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19" y="228"/>
                          </a:cxn>
                          <a:cxn ang="0">
                            <a:pos x="15" y="165"/>
                          </a:cxn>
                          <a:cxn ang="0">
                            <a:pos x="33" y="121"/>
                          </a:cxn>
                          <a:cxn ang="0">
                            <a:pos x="58" y="96"/>
                          </a:cxn>
                          <a:cxn ang="0">
                            <a:pos x="46" y="70"/>
                          </a:cxn>
                          <a:cxn ang="0">
                            <a:pos x="43" y="21"/>
                          </a:cxn>
                          <a:cxn ang="0">
                            <a:pos x="73" y="1"/>
                          </a:cxn>
                          <a:cxn ang="0">
                            <a:pos x="105" y="1"/>
                          </a:cxn>
                          <a:cxn ang="0">
                            <a:pos x="120" y="19"/>
                          </a:cxn>
                          <a:cxn ang="0">
                            <a:pos x="126" y="46"/>
                          </a:cxn>
                          <a:cxn ang="0">
                            <a:pos x="135" y="70"/>
                          </a:cxn>
                          <a:cxn ang="0">
                            <a:pos x="118" y="109"/>
                          </a:cxn>
                          <a:cxn ang="0">
                            <a:pos x="103" y="121"/>
                          </a:cxn>
                          <a:cxn ang="0">
                            <a:pos x="127" y="174"/>
                          </a:cxn>
                          <a:cxn ang="0">
                            <a:pos x="139" y="219"/>
                          </a:cxn>
                          <a:cxn ang="0">
                            <a:pos x="166" y="208"/>
                          </a:cxn>
                          <a:cxn ang="0">
                            <a:pos x="213" y="190"/>
                          </a:cxn>
                          <a:cxn ang="0">
                            <a:pos x="228" y="207"/>
                          </a:cxn>
                          <a:cxn ang="0">
                            <a:pos x="213" y="217"/>
                          </a:cxn>
                          <a:cxn ang="0">
                            <a:pos x="183" y="235"/>
                          </a:cxn>
                          <a:cxn ang="0">
                            <a:pos x="154" y="246"/>
                          </a:cxn>
                          <a:cxn ang="0">
                            <a:pos x="202" y="252"/>
                          </a:cxn>
                          <a:cxn ang="0">
                            <a:pos x="234" y="231"/>
                          </a:cxn>
                          <a:cxn ang="0">
                            <a:pos x="276" y="231"/>
                          </a:cxn>
                          <a:cxn ang="0">
                            <a:pos x="271" y="261"/>
                          </a:cxn>
                          <a:cxn ang="0">
                            <a:pos x="246" y="262"/>
                          </a:cxn>
                          <a:cxn ang="0">
                            <a:pos x="217" y="280"/>
                          </a:cxn>
                          <a:cxn ang="0">
                            <a:pos x="187" y="291"/>
                          </a:cxn>
                          <a:cxn ang="0">
                            <a:pos x="141" y="330"/>
                          </a:cxn>
                          <a:cxn ang="0">
                            <a:pos x="184" y="354"/>
                          </a:cxn>
                          <a:cxn ang="0">
                            <a:pos x="252" y="373"/>
                          </a:cxn>
                          <a:cxn ang="0">
                            <a:pos x="282" y="424"/>
                          </a:cxn>
                          <a:cxn ang="0">
                            <a:pos x="237" y="448"/>
                          </a:cxn>
                          <a:cxn ang="0">
                            <a:pos x="49" y="429"/>
                          </a:cxn>
                          <a:cxn ang="0">
                            <a:pos x="0" y="268"/>
                          </a:cxn>
                          <a:cxn ang="0">
                            <a:pos x="27" y="283"/>
                          </a:cxn>
                        </a:cxnLst>
                        <a:rect l="0" t="0" r="r" b="b"/>
                        <a:pathLst>
                          <a:path w="282" h="451">
                            <a:moveTo>
                              <a:pt x="27" y="283"/>
                            </a:moveTo>
                            <a:lnTo>
                              <a:pt x="19" y="228"/>
                            </a:lnTo>
                            <a:lnTo>
                              <a:pt x="18" y="207"/>
                            </a:lnTo>
                            <a:lnTo>
                              <a:pt x="15" y="165"/>
                            </a:lnTo>
                            <a:lnTo>
                              <a:pt x="21" y="133"/>
                            </a:lnTo>
                            <a:lnTo>
                              <a:pt x="33" y="121"/>
                            </a:lnTo>
                            <a:lnTo>
                              <a:pt x="46" y="114"/>
                            </a:lnTo>
                            <a:lnTo>
                              <a:pt x="58" y="96"/>
                            </a:lnTo>
                            <a:lnTo>
                              <a:pt x="58" y="85"/>
                            </a:lnTo>
                            <a:lnTo>
                              <a:pt x="46" y="70"/>
                            </a:lnTo>
                            <a:lnTo>
                              <a:pt x="43" y="46"/>
                            </a:lnTo>
                            <a:lnTo>
                              <a:pt x="43" y="21"/>
                            </a:lnTo>
                            <a:lnTo>
                              <a:pt x="52" y="3"/>
                            </a:lnTo>
                            <a:lnTo>
                              <a:pt x="73" y="1"/>
                            </a:lnTo>
                            <a:lnTo>
                              <a:pt x="90" y="0"/>
                            </a:lnTo>
                            <a:lnTo>
                              <a:pt x="105" y="1"/>
                            </a:lnTo>
                            <a:lnTo>
                              <a:pt x="109" y="10"/>
                            </a:lnTo>
                            <a:lnTo>
                              <a:pt x="120" y="19"/>
                            </a:lnTo>
                            <a:lnTo>
                              <a:pt x="118" y="36"/>
                            </a:lnTo>
                            <a:lnTo>
                              <a:pt x="126" y="46"/>
                            </a:lnTo>
                            <a:lnTo>
                              <a:pt x="124" y="57"/>
                            </a:lnTo>
                            <a:lnTo>
                              <a:pt x="135" y="70"/>
                            </a:lnTo>
                            <a:lnTo>
                              <a:pt x="135" y="82"/>
                            </a:lnTo>
                            <a:lnTo>
                              <a:pt x="118" y="109"/>
                            </a:lnTo>
                            <a:lnTo>
                              <a:pt x="102" y="111"/>
                            </a:lnTo>
                            <a:lnTo>
                              <a:pt x="103" y="121"/>
                            </a:lnTo>
                            <a:lnTo>
                              <a:pt x="109" y="139"/>
                            </a:lnTo>
                            <a:lnTo>
                              <a:pt x="127" y="174"/>
                            </a:lnTo>
                            <a:lnTo>
                              <a:pt x="138" y="198"/>
                            </a:lnTo>
                            <a:lnTo>
                              <a:pt x="139" y="219"/>
                            </a:lnTo>
                            <a:lnTo>
                              <a:pt x="151" y="222"/>
                            </a:lnTo>
                            <a:lnTo>
                              <a:pt x="166" y="208"/>
                            </a:lnTo>
                            <a:lnTo>
                              <a:pt x="192" y="189"/>
                            </a:lnTo>
                            <a:lnTo>
                              <a:pt x="213" y="190"/>
                            </a:lnTo>
                            <a:lnTo>
                              <a:pt x="232" y="193"/>
                            </a:lnTo>
                            <a:lnTo>
                              <a:pt x="228" y="207"/>
                            </a:lnTo>
                            <a:lnTo>
                              <a:pt x="196" y="205"/>
                            </a:lnTo>
                            <a:lnTo>
                              <a:pt x="213" y="217"/>
                            </a:lnTo>
                            <a:lnTo>
                              <a:pt x="199" y="220"/>
                            </a:lnTo>
                            <a:lnTo>
                              <a:pt x="183" y="235"/>
                            </a:lnTo>
                            <a:lnTo>
                              <a:pt x="160" y="237"/>
                            </a:lnTo>
                            <a:lnTo>
                              <a:pt x="154" y="246"/>
                            </a:lnTo>
                            <a:lnTo>
                              <a:pt x="190" y="247"/>
                            </a:lnTo>
                            <a:lnTo>
                              <a:pt x="202" y="252"/>
                            </a:lnTo>
                            <a:lnTo>
                              <a:pt x="214" y="252"/>
                            </a:lnTo>
                            <a:lnTo>
                              <a:pt x="234" y="231"/>
                            </a:lnTo>
                            <a:lnTo>
                              <a:pt x="256" y="223"/>
                            </a:lnTo>
                            <a:lnTo>
                              <a:pt x="276" y="231"/>
                            </a:lnTo>
                            <a:lnTo>
                              <a:pt x="280" y="252"/>
                            </a:lnTo>
                            <a:lnTo>
                              <a:pt x="271" y="261"/>
                            </a:lnTo>
                            <a:lnTo>
                              <a:pt x="258" y="253"/>
                            </a:lnTo>
                            <a:lnTo>
                              <a:pt x="246" y="262"/>
                            </a:lnTo>
                            <a:lnTo>
                              <a:pt x="237" y="268"/>
                            </a:lnTo>
                            <a:lnTo>
                              <a:pt x="217" y="280"/>
                            </a:lnTo>
                            <a:lnTo>
                              <a:pt x="205" y="279"/>
                            </a:lnTo>
                            <a:lnTo>
                              <a:pt x="187" y="291"/>
                            </a:lnTo>
                            <a:lnTo>
                              <a:pt x="136" y="306"/>
                            </a:lnTo>
                            <a:lnTo>
                              <a:pt x="141" y="330"/>
                            </a:lnTo>
                            <a:lnTo>
                              <a:pt x="153" y="340"/>
                            </a:lnTo>
                            <a:lnTo>
                              <a:pt x="184" y="354"/>
                            </a:lnTo>
                            <a:lnTo>
                              <a:pt x="228" y="361"/>
                            </a:lnTo>
                            <a:lnTo>
                              <a:pt x="252" y="373"/>
                            </a:lnTo>
                            <a:lnTo>
                              <a:pt x="277" y="394"/>
                            </a:lnTo>
                            <a:lnTo>
                              <a:pt x="282" y="424"/>
                            </a:lnTo>
                            <a:lnTo>
                              <a:pt x="274" y="451"/>
                            </a:lnTo>
                            <a:lnTo>
                              <a:pt x="237" y="448"/>
                            </a:lnTo>
                            <a:lnTo>
                              <a:pt x="87" y="435"/>
                            </a:lnTo>
                            <a:lnTo>
                              <a:pt x="49" y="429"/>
                            </a:lnTo>
                            <a:lnTo>
                              <a:pt x="7" y="391"/>
                            </a:lnTo>
                            <a:lnTo>
                              <a:pt x="0" y="268"/>
                            </a:lnTo>
                            <a:lnTo>
                              <a:pt x="18" y="274"/>
                            </a:lnTo>
                            <a:lnTo>
                              <a:pt x="27" y="283"/>
                            </a:ln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76" name="Freeform 216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423"/>
                        <a:ext cx="89" cy="144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9" y="0"/>
                          </a:cxn>
                          <a:cxn ang="0">
                            <a:pos x="0" y="24"/>
                          </a:cxn>
                          <a:cxn ang="0">
                            <a:pos x="2" y="55"/>
                          </a:cxn>
                          <a:cxn ang="0">
                            <a:pos x="3" y="96"/>
                          </a:cxn>
                          <a:cxn ang="0">
                            <a:pos x="5" y="120"/>
                          </a:cxn>
                          <a:cxn ang="0">
                            <a:pos x="30" y="132"/>
                          </a:cxn>
                          <a:cxn ang="0">
                            <a:pos x="65" y="133"/>
                          </a:cxn>
                          <a:cxn ang="0">
                            <a:pos x="89" y="144"/>
                          </a:cxn>
                        </a:cxnLst>
                        <a:rect l="0" t="0" r="r" b="b"/>
                        <a:pathLst>
                          <a:path w="89" h="144">
                            <a:moveTo>
                              <a:pt x="9" y="0"/>
                            </a:moveTo>
                            <a:lnTo>
                              <a:pt x="0" y="24"/>
                            </a:lnTo>
                            <a:lnTo>
                              <a:pt x="2" y="55"/>
                            </a:lnTo>
                            <a:lnTo>
                              <a:pt x="3" y="96"/>
                            </a:lnTo>
                            <a:lnTo>
                              <a:pt x="5" y="120"/>
                            </a:lnTo>
                            <a:lnTo>
                              <a:pt x="30" y="132"/>
                            </a:lnTo>
                            <a:lnTo>
                              <a:pt x="65" y="133"/>
                            </a:lnTo>
                            <a:lnTo>
                              <a:pt x="89" y="144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77" name="Freeform 217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24" y="2543"/>
                        <a:ext cx="80" cy="147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36" y="9"/>
                          </a:cxn>
                          <a:cxn ang="0">
                            <a:pos x="53" y="25"/>
                          </a:cxn>
                          <a:cxn ang="0">
                            <a:pos x="68" y="84"/>
                          </a:cxn>
                          <a:cxn ang="0">
                            <a:pos x="77" y="121"/>
                          </a:cxn>
                          <a:cxn ang="0">
                            <a:pos x="80" y="144"/>
                          </a:cxn>
                          <a:cxn ang="0">
                            <a:pos x="51" y="147"/>
                          </a:cxn>
                          <a:cxn ang="0">
                            <a:pos x="27" y="147"/>
                          </a:cxn>
                        </a:cxnLst>
                        <a:rect l="0" t="0" r="r" b="b"/>
                        <a:pathLst>
                          <a:path w="80" h="147">
                            <a:moveTo>
                              <a:pt x="0" y="0"/>
                            </a:moveTo>
                            <a:lnTo>
                              <a:pt x="36" y="9"/>
                            </a:lnTo>
                            <a:lnTo>
                              <a:pt x="53" y="25"/>
                            </a:lnTo>
                            <a:lnTo>
                              <a:pt x="68" y="84"/>
                            </a:lnTo>
                            <a:lnTo>
                              <a:pt x="77" y="121"/>
                            </a:lnTo>
                            <a:lnTo>
                              <a:pt x="80" y="144"/>
                            </a:lnTo>
                            <a:lnTo>
                              <a:pt x="51" y="147"/>
                            </a:lnTo>
                            <a:lnTo>
                              <a:pt x="27" y="147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78" name="Freeform 21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90" y="2589"/>
                        <a:ext cx="56" cy="15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42" y="0"/>
                          </a:cxn>
                          <a:cxn ang="0">
                            <a:pos x="36" y="14"/>
                          </a:cxn>
                          <a:cxn ang="0">
                            <a:pos x="26" y="15"/>
                          </a:cxn>
                          <a:cxn ang="0">
                            <a:pos x="0" y="12"/>
                          </a:cxn>
                        </a:cxnLst>
                        <a:rect l="0" t="0" r="r" b="b"/>
                        <a:pathLst>
                          <a:path w="56" h="15">
                            <a:moveTo>
                              <a:pt x="56" y="0"/>
                            </a:moveTo>
                            <a:lnTo>
                              <a:pt x="42" y="0"/>
                            </a:lnTo>
                            <a:lnTo>
                              <a:pt x="36" y="14"/>
                            </a:lnTo>
                            <a:lnTo>
                              <a:pt x="26" y="15"/>
                            </a:lnTo>
                            <a:lnTo>
                              <a:pt x="0" y="12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79" name="Line 21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62" y="2361"/>
                        <a:ext cx="45" cy="20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80" name="Line 220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987" y="2345"/>
                        <a:ext cx="9" cy="19"/>
                      </a:xfrm>
                      <a:prstGeom prst="line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5581" name="Freeform 2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963" y="2285"/>
                        <a:ext cx="56" cy="6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56" y="0"/>
                          </a:cxn>
                          <a:cxn ang="0">
                            <a:pos x="33" y="1"/>
                          </a:cxn>
                          <a:cxn ang="0">
                            <a:pos x="24" y="9"/>
                          </a:cxn>
                          <a:cxn ang="0">
                            <a:pos x="30" y="19"/>
                          </a:cxn>
                          <a:cxn ang="0">
                            <a:pos x="32" y="33"/>
                          </a:cxn>
                          <a:cxn ang="0">
                            <a:pos x="14" y="24"/>
                          </a:cxn>
                          <a:cxn ang="0">
                            <a:pos x="6" y="43"/>
                          </a:cxn>
                          <a:cxn ang="0">
                            <a:pos x="9" y="58"/>
                          </a:cxn>
                          <a:cxn ang="0">
                            <a:pos x="0" y="66"/>
                          </a:cxn>
                        </a:cxnLst>
                        <a:rect l="0" t="0" r="r" b="b"/>
                        <a:pathLst>
                          <a:path w="56" h="66">
                            <a:moveTo>
                              <a:pt x="56" y="0"/>
                            </a:moveTo>
                            <a:lnTo>
                              <a:pt x="33" y="1"/>
                            </a:lnTo>
                            <a:lnTo>
                              <a:pt x="24" y="9"/>
                            </a:lnTo>
                            <a:lnTo>
                              <a:pt x="30" y="19"/>
                            </a:lnTo>
                            <a:lnTo>
                              <a:pt x="32" y="33"/>
                            </a:lnTo>
                            <a:lnTo>
                              <a:pt x="14" y="24"/>
                            </a:lnTo>
                            <a:lnTo>
                              <a:pt x="6" y="43"/>
                            </a:lnTo>
                            <a:lnTo>
                              <a:pt x="9" y="58"/>
                            </a:lnTo>
                            <a:lnTo>
                              <a:pt x="0" y="66"/>
                            </a:lnTo>
                          </a:path>
                        </a:pathLst>
                      </a:custGeom>
                      <a:solidFill>
                        <a:schemeClr val="bg1"/>
                      </a:solidFill>
                      <a:ln w="6350" cap="flat" cmpd="sng">
                        <a:solidFill>
                          <a:schemeClr val="tx1"/>
                        </a:solidFill>
                        <a:prstDash val="dash"/>
                        <a:round/>
                        <a:headEnd type="none" w="med" len="med"/>
                        <a:tailEnd type="none" w="med" len="med"/>
                      </a:ln>
                      <a:effectLst/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5582" name="Freeform 222"/>
                    <p:cNvSpPr>
                      <a:spLocks/>
                    </p:cNvSpPr>
                    <p:nvPr/>
                  </p:nvSpPr>
                  <p:spPr bwMode="auto">
                    <a:xfrm>
                      <a:off x="1158" y="2300"/>
                      <a:ext cx="107" cy="126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0" y="108"/>
                        </a:cxn>
                        <a:cxn ang="0">
                          <a:pos x="92" y="126"/>
                        </a:cxn>
                        <a:cxn ang="0">
                          <a:pos x="107" y="1"/>
                        </a:cxn>
                        <a:cxn ang="0">
                          <a:pos x="12" y="3"/>
                        </a:cxn>
                      </a:cxnLst>
                      <a:rect l="0" t="0" r="r" b="b"/>
                      <a:pathLst>
                        <a:path w="107" h="126">
                          <a:moveTo>
                            <a:pt x="17" y="0"/>
                          </a:moveTo>
                          <a:lnTo>
                            <a:pt x="0" y="108"/>
                          </a:lnTo>
                          <a:lnTo>
                            <a:pt x="92" y="126"/>
                          </a:lnTo>
                          <a:lnTo>
                            <a:pt x="107" y="1"/>
                          </a:lnTo>
                          <a:lnTo>
                            <a:pt x="12" y="3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83" name="Freeform 223"/>
                    <p:cNvSpPr>
                      <a:spLocks/>
                    </p:cNvSpPr>
                    <p:nvPr/>
                  </p:nvSpPr>
                  <p:spPr bwMode="auto">
                    <a:xfrm>
                      <a:off x="1245" y="2301"/>
                      <a:ext cx="116" cy="140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116" y="29"/>
                        </a:cxn>
                        <a:cxn ang="0">
                          <a:pos x="96" y="140"/>
                        </a:cxn>
                        <a:cxn ang="0">
                          <a:pos x="0" y="134"/>
                        </a:cxn>
                      </a:cxnLst>
                      <a:rect l="0" t="0" r="r" b="b"/>
                      <a:pathLst>
                        <a:path w="116" h="140">
                          <a:moveTo>
                            <a:pt x="20" y="0"/>
                          </a:moveTo>
                          <a:lnTo>
                            <a:pt x="116" y="29"/>
                          </a:lnTo>
                          <a:lnTo>
                            <a:pt x="96" y="140"/>
                          </a:lnTo>
                          <a:lnTo>
                            <a:pt x="0" y="134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84" name="Freeform 224"/>
                    <p:cNvSpPr>
                      <a:spLocks/>
                    </p:cNvSpPr>
                    <p:nvPr/>
                  </p:nvSpPr>
                  <p:spPr bwMode="auto">
                    <a:xfrm>
                      <a:off x="1116" y="2430"/>
                      <a:ext cx="129" cy="111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6"/>
                        </a:cxn>
                        <a:cxn ang="0">
                          <a:pos x="11" y="0"/>
                        </a:cxn>
                        <a:cxn ang="0">
                          <a:pos x="129" y="45"/>
                        </a:cxn>
                        <a:cxn ang="0">
                          <a:pos x="36" y="111"/>
                        </a:cxn>
                        <a:cxn ang="0">
                          <a:pos x="14" y="102"/>
                        </a:cxn>
                      </a:cxnLst>
                      <a:rect l="0" t="0" r="r" b="b"/>
                      <a:pathLst>
                        <a:path w="129" h="111">
                          <a:moveTo>
                            <a:pt x="0" y="6"/>
                          </a:moveTo>
                          <a:lnTo>
                            <a:pt x="11" y="0"/>
                          </a:lnTo>
                          <a:lnTo>
                            <a:pt x="129" y="45"/>
                          </a:lnTo>
                          <a:lnTo>
                            <a:pt x="36" y="111"/>
                          </a:lnTo>
                          <a:lnTo>
                            <a:pt x="14" y="102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85" name="Freeform 225"/>
                    <p:cNvSpPr>
                      <a:spLocks/>
                    </p:cNvSpPr>
                    <p:nvPr/>
                  </p:nvSpPr>
                  <p:spPr bwMode="auto">
                    <a:xfrm>
                      <a:off x="1266" y="2451"/>
                      <a:ext cx="102" cy="75"/>
                    </a:xfrm>
                    <a:custGeom>
                      <a:avLst/>
                      <a:gdLst/>
                      <a:ahLst/>
                      <a:cxnLst>
                        <a:cxn ang="0">
                          <a:pos x="0" y="3"/>
                        </a:cxn>
                        <a:cxn ang="0">
                          <a:pos x="0" y="75"/>
                        </a:cxn>
                        <a:cxn ang="0">
                          <a:pos x="102" y="51"/>
                        </a:cxn>
                        <a:cxn ang="0">
                          <a:pos x="102" y="0"/>
                        </a:cxn>
                        <a:cxn ang="0">
                          <a:pos x="0" y="3"/>
                        </a:cxn>
                      </a:cxnLst>
                      <a:rect l="0" t="0" r="r" b="b"/>
                      <a:pathLst>
                        <a:path w="102" h="75">
                          <a:moveTo>
                            <a:pt x="0" y="3"/>
                          </a:moveTo>
                          <a:lnTo>
                            <a:pt x="0" y="75"/>
                          </a:lnTo>
                          <a:lnTo>
                            <a:pt x="102" y="51"/>
                          </a:lnTo>
                          <a:lnTo>
                            <a:pt x="102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86" name="Line 226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136" y="2427"/>
                      <a:ext cx="132" cy="27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87" name="Line 227"/>
                    <p:cNvSpPr>
                      <a:spLocks noChangeShapeType="1"/>
                    </p:cNvSpPr>
                    <p:nvPr/>
                  </p:nvSpPr>
                  <p:spPr bwMode="auto">
                    <a:xfrm flipH="1" flipV="1">
                      <a:off x="1214" y="2510"/>
                      <a:ext cx="54" cy="16"/>
                    </a:xfrm>
                    <a:prstGeom prst="line">
                      <a:avLst/>
                    </a:prstGeom>
                    <a:noFill/>
                    <a:ln w="6350">
                      <a:solidFill>
                        <a:schemeClr val="tx1"/>
                      </a:solidFill>
                      <a:prstDash val="dash"/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5588" name="Freeform 228"/>
                    <p:cNvSpPr>
                      <a:spLocks/>
                    </p:cNvSpPr>
                    <p:nvPr/>
                  </p:nvSpPr>
                  <p:spPr bwMode="auto">
                    <a:xfrm>
                      <a:off x="1170" y="2316"/>
                      <a:ext cx="75" cy="84"/>
                    </a:xfrm>
                    <a:custGeom>
                      <a:avLst/>
                      <a:gdLst/>
                      <a:ahLst/>
                      <a:cxnLst>
                        <a:cxn ang="0">
                          <a:pos x="17" y="0"/>
                        </a:cxn>
                        <a:cxn ang="0">
                          <a:pos x="75" y="3"/>
                        </a:cxn>
                        <a:cxn ang="0">
                          <a:pos x="68" y="84"/>
                        </a:cxn>
                        <a:cxn ang="0">
                          <a:pos x="0" y="77"/>
                        </a:cxn>
                        <a:cxn ang="0">
                          <a:pos x="17" y="0"/>
                        </a:cxn>
                      </a:cxnLst>
                      <a:rect l="0" t="0" r="r" b="b"/>
                      <a:pathLst>
                        <a:path w="75" h="84">
                          <a:moveTo>
                            <a:pt x="17" y="0"/>
                          </a:moveTo>
                          <a:lnTo>
                            <a:pt x="75" y="3"/>
                          </a:lnTo>
                          <a:lnTo>
                            <a:pt x="68" y="84"/>
                          </a:lnTo>
                          <a:lnTo>
                            <a:pt x="0" y="77"/>
                          </a:lnTo>
                          <a:lnTo>
                            <a:pt x="17" y="0"/>
                          </a:ln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6350" cap="flat" cmpd="sng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</p:grpSp>
      <p:grpSp>
        <p:nvGrpSpPr>
          <p:cNvPr id="15589" name="Group 229"/>
          <p:cNvGrpSpPr>
            <a:grpSpLocks/>
          </p:cNvGrpSpPr>
          <p:nvPr/>
        </p:nvGrpSpPr>
        <p:grpSpPr bwMode="auto">
          <a:xfrm>
            <a:off x="584200" y="3652839"/>
            <a:ext cx="1162050" cy="1223963"/>
            <a:chOff x="398" y="2301"/>
            <a:chExt cx="732" cy="771"/>
          </a:xfrm>
        </p:grpSpPr>
        <p:grpSp>
          <p:nvGrpSpPr>
            <p:cNvPr id="15590" name="Group 230"/>
            <p:cNvGrpSpPr>
              <a:grpSpLocks/>
            </p:cNvGrpSpPr>
            <p:nvPr/>
          </p:nvGrpSpPr>
          <p:grpSpPr bwMode="auto">
            <a:xfrm>
              <a:off x="488" y="2301"/>
              <a:ext cx="642" cy="514"/>
              <a:chOff x="819" y="2277"/>
              <a:chExt cx="771" cy="617"/>
            </a:xfrm>
          </p:grpSpPr>
          <p:sp>
            <p:nvSpPr>
              <p:cNvPr id="15591" name="Freeform 231"/>
              <p:cNvSpPr>
                <a:spLocks/>
              </p:cNvSpPr>
              <p:nvPr/>
            </p:nvSpPr>
            <p:spPr bwMode="auto">
              <a:xfrm>
                <a:off x="996" y="2592"/>
                <a:ext cx="341" cy="242"/>
              </a:xfrm>
              <a:custGeom>
                <a:avLst/>
                <a:gdLst/>
                <a:ahLst/>
                <a:cxnLst>
                  <a:cxn ang="0">
                    <a:pos x="156" y="33"/>
                  </a:cxn>
                  <a:cxn ang="0">
                    <a:pos x="156" y="111"/>
                  </a:cxn>
                  <a:cxn ang="0">
                    <a:pos x="0" y="53"/>
                  </a:cxn>
                  <a:cxn ang="0">
                    <a:pos x="0" y="0"/>
                  </a:cxn>
                  <a:cxn ang="0">
                    <a:pos x="156" y="33"/>
                  </a:cxn>
                </a:cxnLst>
                <a:rect l="0" t="0" r="r" b="b"/>
                <a:pathLst>
                  <a:path w="157" h="112">
                    <a:moveTo>
                      <a:pt x="156" y="33"/>
                    </a:moveTo>
                    <a:lnTo>
                      <a:pt x="156" y="111"/>
                    </a:lnTo>
                    <a:lnTo>
                      <a:pt x="0" y="53"/>
                    </a:lnTo>
                    <a:lnTo>
                      <a:pt x="0" y="0"/>
                    </a:lnTo>
                    <a:lnTo>
                      <a:pt x="156" y="33"/>
                    </a:lnTo>
                  </a:path>
                </a:pathLst>
              </a:custGeom>
              <a:solidFill>
                <a:srgbClr val="A0A0A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2" name="Freeform 232"/>
              <p:cNvSpPr>
                <a:spLocks/>
              </p:cNvSpPr>
              <p:nvPr/>
            </p:nvSpPr>
            <p:spPr bwMode="auto">
              <a:xfrm>
                <a:off x="1337" y="2648"/>
                <a:ext cx="253" cy="186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0" y="85"/>
                  </a:cxn>
                  <a:cxn ang="0">
                    <a:pos x="116" y="65"/>
                  </a:cxn>
                  <a:cxn ang="0">
                    <a:pos x="116" y="0"/>
                  </a:cxn>
                  <a:cxn ang="0">
                    <a:pos x="0" y="7"/>
                  </a:cxn>
                </a:cxnLst>
                <a:rect l="0" t="0" r="r" b="b"/>
                <a:pathLst>
                  <a:path w="117" h="86">
                    <a:moveTo>
                      <a:pt x="0" y="7"/>
                    </a:moveTo>
                    <a:lnTo>
                      <a:pt x="0" y="85"/>
                    </a:lnTo>
                    <a:lnTo>
                      <a:pt x="116" y="65"/>
                    </a:lnTo>
                    <a:lnTo>
                      <a:pt x="116" y="0"/>
                    </a:lnTo>
                    <a:lnTo>
                      <a:pt x="0" y="7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3" name="Freeform 233"/>
              <p:cNvSpPr>
                <a:spLocks/>
              </p:cNvSpPr>
              <p:nvPr/>
            </p:nvSpPr>
            <p:spPr bwMode="auto">
              <a:xfrm>
                <a:off x="999" y="2592"/>
                <a:ext cx="591" cy="74"/>
              </a:xfrm>
              <a:custGeom>
                <a:avLst/>
                <a:gdLst/>
                <a:ahLst/>
                <a:cxnLst>
                  <a:cxn ang="0">
                    <a:pos x="272" y="25"/>
                  </a:cxn>
                  <a:cxn ang="0">
                    <a:pos x="154" y="33"/>
                  </a:cxn>
                  <a:cxn ang="0">
                    <a:pos x="0" y="0"/>
                  </a:cxn>
                  <a:cxn ang="0">
                    <a:pos x="113" y="0"/>
                  </a:cxn>
                  <a:cxn ang="0">
                    <a:pos x="272" y="25"/>
                  </a:cxn>
                </a:cxnLst>
                <a:rect l="0" t="0" r="r" b="b"/>
                <a:pathLst>
                  <a:path w="273" h="34">
                    <a:moveTo>
                      <a:pt x="272" y="25"/>
                    </a:moveTo>
                    <a:lnTo>
                      <a:pt x="154" y="33"/>
                    </a:lnTo>
                    <a:lnTo>
                      <a:pt x="0" y="0"/>
                    </a:lnTo>
                    <a:lnTo>
                      <a:pt x="113" y="0"/>
                    </a:lnTo>
                    <a:lnTo>
                      <a:pt x="272" y="25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4" name="Freeform 234"/>
              <p:cNvSpPr>
                <a:spLocks/>
              </p:cNvSpPr>
              <p:nvPr/>
            </p:nvSpPr>
            <p:spPr bwMode="auto">
              <a:xfrm>
                <a:off x="1178" y="2571"/>
                <a:ext cx="217" cy="68"/>
              </a:xfrm>
              <a:custGeom>
                <a:avLst/>
                <a:gdLst/>
                <a:ahLst/>
                <a:cxnLst>
                  <a:cxn ang="0">
                    <a:pos x="99" y="17"/>
                  </a:cxn>
                  <a:cxn ang="0">
                    <a:pos x="99" y="27"/>
                  </a:cxn>
                  <a:cxn ang="0">
                    <a:pos x="53" y="31"/>
                  </a:cxn>
                  <a:cxn ang="0">
                    <a:pos x="0" y="20"/>
                  </a:cxn>
                  <a:cxn ang="0">
                    <a:pos x="0" y="0"/>
                  </a:cxn>
                  <a:cxn ang="0">
                    <a:pos x="99" y="17"/>
                  </a:cxn>
                </a:cxnLst>
                <a:rect l="0" t="0" r="r" b="b"/>
                <a:pathLst>
                  <a:path w="100" h="32">
                    <a:moveTo>
                      <a:pt x="99" y="17"/>
                    </a:moveTo>
                    <a:lnTo>
                      <a:pt x="99" y="27"/>
                    </a:lnTo>
                    <a:lnTo>
                      <a:pt x="53" y="31"/>
                    </a:lnTo>
                    <a:lnTo>
                      <a:pt x="0" y="20"/>
                    </a:lnTo>
                    <a:lnTo>
                      <a:pt x="0" y="0"/>
                    </a:lnTo>
                    <a:lnTo>
                      <a:pt x="99" y="17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5" name="Freeform 235"/>
              <p:cNvSpPr>
                <a:spLocks/>
              </p:cNvSpPr>
              <p:nvPr/>
            </p:nvSpPr>
            <p:spPr bwMode="auto">
              <a:xfrm>
                <a:off x="1059" y="2277"/>
                <a:ext cx="278" cy="344"/>
              </a:xfrm>
              <a:custGeom>
                <a:avLst/>
                <a:gdLst/>
                <a:ahLst/>
                <a:cxnLst>
                  <a:cxn ang="0">
                    <a:pos x="109" y="158"/>
                  </a:cxn>
                  <a:cxn ang="0">
                    <a:pos x="127" y="4"/>
                  </a:cxn>
                  <a:cxn ang="0">
                    <a:pos x="16" y="0"/>
                  </a:cxn>
                  <a:cxn ang="0">
                    <a:pos x="0" y="136"/>
                  </a:cxn>
                  <a:cxn ang="0">
                    <a:pos x="109" y="158"/>
                  </a:cxn>
                </a:cxnLst>
                <a:rect l="0" t="0" r="r" b="b"/>
                <a:pathLst>
                  <a:path w="128" h="159">
                    <a:moveTo>
                      <a:pt x="109" y="158"/>
                    </a:moveTo>
                    <a:lnTo>
                      <a:pt x="127" y="4"/>
                    </a:lnTo>
                    <a:lnTo>
                      <a:pt x="16" y="0"/>
                    </a:lnTo>
                    <a:lnTo>
                      <a:pt x="0" y="136"/>
                    </a:lnTo>
                    <a:lnTo>
                      <a:pt x="109" y="158"/>
                    </a:lnTo>
                  </a:path>
                </a:pathLst>
              </a:custGeom>
              <a:solidFill>
                <a:srgbClr val="A0A0A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6" name="Freeform 236"/>
              <p:cNvSpPr>
                <a:spLocks/>
              </p:cNvSpPr>
              <p:nvPr/>
            </p:nvSpPr>
            <p:spPr bwMode="auto">
              <a:xfrm>
                <a:off x="1295" y="2286"/>
                <a:ext cx="247" cy="339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13" y="34"/>
                  </a:cxn>
                  <a:cxn ang="0">
                    <a:pos x="98" y="156"/>
                  </a:cxn>
                  <a:cxn ang="0">
                    <a:pos x="0" y="152"/>
                  </a:cxn>
                  <a:cxn ang="0">
                    <a:pos x="16" y="0"/>
                  </a:cxn>
                </a:cxnLst>
                <a:rect l="0" t="0" r="r" b="b"/>
                <a:pathLst>
                  <a:path w="114" h="157">
                    <a:moveTo>
                      <a:pt x="16" y="0"/>
                    </a:moveTo>
                    <a:lnTo>
                      <a:pt x="113" y="34"/>
                    </a:lnTo>
                    <a:lnTo>
                      <a:pt x="98" y="156"/>
                    </a:lnTo>
                    <a:lnTo>
                      <a:pt x="0" y="152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7" name="Freeform 237"/>
              <p:cNvSpPr>
                <a:spLocks/>
              </p:cNvSpPr>
              <p:nvPr/>
            </p:nvSpPr>
            <p:spPr bwMode="auto">
              <a:xfrm>
                <a:off x="1090" y="2309"/>
                <a:ext cx="198" cy="258"/>
              </a:xfrm>
              <a:custGeom>
                <a:avLst/>
                <a:gdLst/>
                <a:ahLst/>
                <a:cxnLst>
                  <a:cxn ang="0">
                    <a:pos x="91" y="6"/>
                  </a:cxn>
                  <a:cxn ang="0">
                    <a:pos x="77" y="118"/>
                  </a:cxn>
                  <a:cxn ang="0">
                    <a:pos x="0" y="104"/>
                  </a:cxn>
                  <a:cxn ang="0">
                    <a:pos x="13" y="0"/>
                  </a:cxn>
                  <a:cxn ang="0">
                    <a:pos x="91" y="6"/>
                  </a:cxn>
                </a:cxnLst>
                <a:rect l="0" t="0" r="r" b="b"/>
                <a:pathLst>
                  <a:path w="92" h="119">
                    <a:moveTo>
                      <a:pt x="91" y="6"/>
                    </a:moveTo>
                    <a:lnTo>
                      <a:pt x="77" y="118"/>
                    </a:lnTo>
                    <a:lnTo>
                      <a:pt x="0" y="104"/>
                    </a:lnTo>
                    <a:lnTo>
                      <a:pt x="13" y="0"/>
                    </a:lnTo>
                    <a:lnTo>
                      <a:pt x="91" y="6"/>
                    </a:lnTo>
                  </a:path>
                </a:pathLst>
              </a:custGeom>
              <a:gradFill rotWithShape="0">
                <a:gsLst>
                  <a:gs pos="0">
                    <a:srgbClr val="00C0C0"/>
                  </a:gs>
                  <a:gs pos="100000">
                    <a:srgbClr val="00C0C0">
                      <a:gamma/>
                      <a:shade val="4627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8" name="Freeform 238"/>
              <p:cNvSpPr>
                <a:spLocks/>
              </p:cNvSpPr>
              <p:nvPr/>
            </p:nvSpPr>
            <p:spPr bwMode="auto">
              <a:xfrm>
                <a:off x="1020" y="2618"/>
                <a:ext cx="193" cy="15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8" y="21"/>
                  </a:cxn>
                  <a:cxn ang="0">
                    <a:pos x="88" y="72"/>
                  </a:cxn>
                  <a:cxn ang="0">
                    <a:pos x="0" y="40"/>
                  </a:cxn>
                  <a:cxn ang="0">
                    <a:pos x="0" y="0"/>
                  </a:cxn>
                </a:cxnLst>
                <a:rect l="0" t="0" r="r" b="b"/>
                <a:pathLst>
                  <a:path w="89" h="73">
                    <a:moveTo>
                      <a:pt x="0" y="0"/>
                    </a:moveTo>
                    <a:lnTo>
                      <a:pt x="88" y="21"/>
                    </a:lnTo>
                    <a:lnTo>
                      <a:pt x="88" y="7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9" name="Line 239"/>
              <p:cNvSpPr>
                <a:spLocks noChangeShapeType="1"/>
              </p:cNvSpPr>
              <p:nvPr/>
            </p:nvSpPr>
            <p:spPr bwMode="auto">
              <a:xfrm flipH="1" flipV="1">
                <a:off x="1031" y="2655"/>
                <a:ext cx="52" cy="1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00" name="Line 240"/>
              <p:cNvSpPr>
                <a:spLocks noChangeShapeType="1"/>
              </p:cNvSpPr>
              <p:nvPr/>
            </p:nvSpPr>
            <p:spPr bwMode="auto">
              <a:xfrm>
                <a:off x="1109" y="2674"/>
                <a:ext cx="69" cy="1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01" name="Line 241"/>
              <p:cNvSpPr>
                <a:spLocks noChangeShapeType="1"/>
              </p:cNvSpPr>
              <p:nvPr/>
            </p:nvSpPr>
            <p:spPr bwMode="auto">
              <a:xfrm>
                <a:off x="1100" y="2635"/>
                <a:ext cx="0" cy="10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02" name="Line 242"/>
              <p:cNvSpPr>
                <a:spLocks noChangeShapeType="1"/>
              </p:cNvSpPr>
              <p:nvPr/>
            </p:nvSpPr>
            <p:spPr bwMode="auto">
              <a:xfrm>
                <a:off x="1193" y="2659"/>
                <a:ext cx="0" cy="11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03" name="Line 243"/>
              <p:cNvSpPr>
                <a:spLocks noChangeShapeType="1"/>
              </p:cNvSpPr>
              <p:nvPr/>
            </p:nvSpPr>
            <p:spPr bwMode="auto">
              <a:xfrm>
                <a:off x="1016" y="2657"/>
                <a:ext cx="177" cy="5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04" name="Line 244"/>
              <p:cNvSpPr>
                <a:spLocks noChangeShapeType="1"/>
              </p:cNvSpPr>
              <p:nvPr/>
            </p:nvSpPr>
            <p:spPr bwMode="auto">
              <a:xfrm flipH="1" flipV="1">
                <a:off x="1016" y="2642"/>
                <a:ext cx="177" cy="4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05" name="Freeform 245"/>
              <p:cNvSpPr>
                <a:spLocks/>
              </p:cNvSpPr>
              <p:nvPr/>
            </p:nvSpPr>
            <p:spPr bwMode="auto">
              <a:xfrm>
                <a:off x="1209" y="2769"/>
                <a:ext cx="43" cy="67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9" y="27"/>
                  </a:cxn>
                  <a:cxn ang="0">
                    <a:pos x="4" y="30"/>
                  </a:cxn>
                  <a:cxn ang="0">
                    <a:pos x="0" y="2"/>
                  </a:cxn>
                  <a:cxn ang="0">
                    <a:pos x="13" y="0"/>
                  </a:cxn>
                </a:cxnLst>
                <a:rect l="0" t="0" r="r" b="b"/>
                <a:pathLst>
                  <a:path w="20" h="31">
                    <a:moveTo>
                      <a:pt x="13" y="0"/>
                    </a:moveTo>
                    <a:lnTo>
                      <a:pt x="19" y="27"/>
                    </a:lnTo>
                    <a:lnTo>
                      <a:pt x="4" y="30"/>
                    </a:lnTo>
                    <a:lnTo>
                      <a:pt x="0" y="2"/>
                    </a:lnTo>
                    <a:lnTo>
                      <a:pt x="13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6" name="Freeform 246"/>
              <p:cNvSpPr>
                <a:spLocks/>
              </p:cNvSpPr>
              <p:nvPr/>
            </p:nvSpPr>
            <p:spPr bwMode="auto">
              <a:xfrm>
                <a:off x="1178" y="2776"/>
                <a:ext cx="61" cy="57"/>
              </a:xfrm>
              <a:custGeom>
                <a:avLst/>
                <a:gdLst/>
                <a:ahLst/>
                <a:cxnLst>
                  <a:cxn ang="0">
                    <a:pos x="24" y="1"/>
                  </a:cxn>
                  <a:cxn ang="0">
                    <a:pos x="27" y="26"/>
                  </a:cxn>
                  <a:cxn ang="0">
                    <a:pos x="0" y="14"/>
                  </a:cxn>
                  <a:cxn ang="0">
                    <a:pos x="10" y="9"/>
                  </a:cxn>
                  <a:cxn ang="0">
                    <a:pos x="21" y="15"/>
                  </a:cxn>
                  <a:cxn ang="0">
                    <a:pos x="17" y="0"/>
                  </a:cxn>
                  <a:cxn ang="0">
                    <a:pos x="24" y="1"/>
                  </a:cxn>
                </a:cxnLst>
                <a:rect l="0" t="0" r="r" b="b"/>
                <a:pathLst>
                  <a:path w="28" h="27">
                    <a:moveTo>
                      <a:pt x="24" y="1"/>
                    </a:moveTo>
                    <a:lnTo>
                      <a:pt x="27" y="26"/>
                    </a:lnTo>
                    <a:lnTo>
                      <a:pt x="0" y="14"/>
                    </a:lnTo>
                    <a:lnTo>
                      <a:pt x="10" y="9"/>
                    </a:lnTo>
                    <a:lnTo>
                      <a:pt x="21" y="15"/>
                    </a:lnTo>
                    <a:lnTo>
                      <a:pt x="17" y="0"/>
                    </a:lnTo>
                    <a:lnTo>
                      <a:pt x="24" y="1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7" name="Freeform 247"/>
              <p:cNvSpPr>
                <a:spLocks/>
              </p:cNvSpPr>
              <p:nvPr/>
            </p:nvSpPr>
            <p:spPr bwMode="auto">
              <a:xfrm>
                <a:off x="819" y="2620"/>
                <a:ext cx="454" cy="239"/>
              </a:xfrm>
              <a:custGeom>
                <a:avLst/>
                <a:gdLst/>
                <a:ahLst/>
                <a:cxnLst>
                  <a:cxn ang="0">
                    <a:pos x="209" y="46"/>
                  </a:cxn>
                  <a:cxn ang="0">
                    <a:pos x="109" y="110"/>
                  </a:cxn>
                  <a:cxn ang="0">
                    <a:pos x="0" y="47"/>
                  </a:cxn>
                  <a:cxn ang="0">
                    <a:pos x="82" y="0"/>
                  </a:cxn>
                  <a:cxn ang="0">
                    <a:pos x="209" y="46"/>
                  </a:cxn>
                </a:cxnLst>
                <a:rect l="0" t="0" r="r" b="b"/>
                <a:pathLst>
                  <a:path w="210" h="111">
                    <a:moveTo>
                      <a:pt x="209" y="46"/>
                    </a:moveTo>
                    <a:lnTo>
                      <a:pt x="109" y="110"/>
                    </a:lnTo>
                    <a:lnTo>
                      <a:pt x="0" y="47"/>
                    </a:lnTo>
                    <a:lnTo>
                      <a:pt x="82" y="0"/>
                    </a:lnTo>
                    <a:lnTo>
                      <a:pt x="209" y="46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8" name="Freeform 248"/>
              <p:cNvSpPr>
                <a:spLocks/>
              </p:cNvSpPr>
              <p:nvPr/>
            </p:nvSpPr>
            <p:spPr bwMode="auto">
              <a:xfrm>
                <a:off x="1055" y="2721"/>
                <a:ext cx="229" cy="173"/>
              </a:xfrm>
              <a:custGeom>
                <a:avLst/>
                <a:gdLst/>
                <a:ahLst/>
                <a:cxnLst>
                  <a:cxn ang="0">
                    <a:pos x="102" y="0"/>
                  </a:cxn>
                  <a:cxn ang="0">
                    <a:pos x="0" y="65"/>
                  </a:cxn>
                  <a:cxn ang="0">
                    <a:pos x="3" y="79"/>
                  </a:cxn>
                  <a:cxn ang="0">
                    <a:pos x="105" y="13"/>
                  </a:cxn>
                  <a:cxn ang="0">
                    <a:pos x="102" y="0"/>
                  </a:cxn>
                </a:cxnLst>
                <a:rect l="0" t="0" r="r" b="b"/>
                <a:pathLst>
                  <a:path w="106" h="80">
                    <a:moveTo>
                      <a:pt x="102" y="0"/>
                    </a:moveTo>
                    <a:lnTo>
                      <a:pt x="0" y="65"/>
                    </a:lnTo>
                    <a:lnTo>
                      <a:pt x="3" y="79"/>
                    </a:lnTo>
                    <a:lnTo>
                      <a:pt x="105" y="13"/>
                    </a:lnTo>
                    <a:lnTo>
                      <a:pt x="102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9" name="Freeform 249"/>
              <p:cNvSpPr>
                <a:spLocks/>
              </p:cNvSpPr>
              <p:nvPr/>
            </p:nvSpPr>
            <p:spPr bwMode="auto">
              <a:xfrm>
                <a:off x="821" y="2726"/>
                <a:ext cx="245" cy="168"/>
              </a:xfrm>
              <a:custGeom>
                <a:avLst/>
                <a:gdLst/>
                <a:ahLst/>
                <a:cxnLst>
                  <a:cxn ang="0">
                    <a:pos x="112" y="77"/>
                  </a:cxn>
                  <a:cxn ang="0">
                    <a:pos x="108" y="62"/>
                  </a:cxn>
                  <a:cxn ang="0">
                    <a:pos x="0" y="0"/>
                  </a:cxn>
                  <a:cxn ang="0">
                    <a:pos x="4" y="12"/>
                  </a:cxn>
                  <a:cxn ang="0">
                    <a:pos x="112" y="77"/>
                  </a:cxn>
                </a:cxnLst>
                <a:rect l="0" t="0" r="r" b="b"/>
                <a:pathLst>
                  <a:path w="113" h="78">
                    <a:moveTo>
                      <a:pt x="112" y="77"/>
                    </a:moveTo>
                    <a:lnTo>
                      <a:pt x="108" y="62"/>
                    </a:lnTo>
                    <a:lnTo>
                      <a:pt x="0" y="0"/>
                    </a:lnTo>
                    <a:lnTo>
                      <a:pt x="4" y="12"/>
                    </a:lnTo>
                    <a:lnTo>
                      <a:pt x="112" y="77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0" name="Freeform 250"/>
              <p:cNvSpPr>
                <a:spLocks/>
              </p:cNvSpPr>
              <p:nvPr/>
            </p:nvSpPr>
            <p:spPr bwMode="auto">
              <a:xfrm>
                <a:off x="1003" y="2734"/>
                <a:ext cx="183" cy="106"/>
              </a:xfrm>
              <a:custGeom>
                <a:avLst/>
                <a:gdLst/>
                <a:ahLst/>
                <a:cxnLst>
                  <a:cxn ang="0">
                    <a:pos x="84" y="12"/>
                  </a:cxn>
                  <a:cxn ang="0">
                    <a:pos x="55" y="0"/>
                  </a:cxn>
                  <a:cxn ang="0">
                    <a:pos x="0" y="33"/>
                  </a:cxn>
                  <a:cxn ang="0">
                    <a:pos x="27" y="48"/>
                  </a:cxn>
                  <a:cxn ang="0">
                    <a:pos x="84" y="12"/>
                  </a:cxn>
                </a:cxnLst>
                <a:rect l="0" t="0" r="r" b="b"/>
                <a:pathLst>
                  <a:path w="85" h="49">
                    <a:moveTo>
                      <a:pt x="84" y="12"/>
                    </a:moveTo>
                    <a:lnTo>
                      <a:pt x="55" y="0"/>
                    </a:lnTo>
                    <a:lnTo>
                      <a:pt x="0" y="33"/>
                    </a:lnTo>
                    <a:lnTo>
                      <a:pt x="27" y="48"/>
                    </a:lnTo>
                    <a:lnTo>
                      <a:pt x="84" y="12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1" name="Freeform 251"/>
              <p:cNvSpPr>
                <a:spLocks/>
              </p:cNvSpPr>
              <p:nvPr/>
            </p:nvSpPr>
            <p:spPr bwMode="auto">
              <a:xfrm>
                <a:off x="842" y="2660"/>
                <a:ext cx="269" cy="145"/>
              </a:xfrm>
              <a:custGeom>
                <a:avLst/>
                <a:gdLst/>
                <a:ahLst/>
                <a:cxnLst>
                  <a:cxn ang="0">
                    <a:pos x="123" y="31"/>
                  </a:cxn>
                  <a:cxn ang="0">
                    <a:pos x="69" y="66"/>
                  </a:cxn>
                  <a:cxn ang="0">
                    <a:pos x="0" y="27"/>
                  </a:cxn>
                  <a:cxn ang="0">
                    <a:pos x="50" y="0"/>
                  </a:cxn>
                  <a:cxn ang="0">
                    <a:pos x="123" y="31"/>
                  </a:cxn>
                </a:cxnLst>
                <a:rect l="0" t="0" r="r" b="b"/>
                <a:pathLst>
                  <a:path w="124" h="67">
                    <a:moveTo>
                      <a:pt x="123" y="31"/>
                    </a:moveTo>
                    <a:lnTo>
                      <a:pt x="69" y="66"/>
                    </a:lnTo>
                    <a:lnTo>
                      <a:pt x="0" y="27"/>
                    </a:lnTo>
                    <a:lnTo>
                      <a:pt x="50" y="0"/>
                    </a:lnTo>
                    <a:lnTo>
                      <a:pt x="123" y="31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2" name="Line 252"/>
              <p:cNvSpPr>
                <a:spLocks noChangeShapeType="1"/>
              </p:cNvSpPr>
              <p:nvPr/>
            </p:nvSpPr>
            <p:spPr bwMode="auto">
              <a:xfrm flipH="1" flipV="1">
                <a:off x="933" y="2663"/>
                <a:ext cx="237" cy="11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13" name="Line 253"/>
              <p:cNvSpPr>
                <a:spLocks noChangeShapeType="1"/>
              </p:cNvSpPr>
              <p:nvPr/>
            </p:nvSpPr>
            <p:spPr bwMode="auto">
              <a:xfrm flipH="1" flipV="1">
                <a:off x="921" y="2676"/>
                <a:ext cx="229" cy="11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14" name="Line 254"/>
              <p:cNvSpPr>
                <a:spLocks noChangeShapeType="1"/>
              </p:cNvSpPr>
              <p:nvPr/>
            </p:nvSpPr>
            <p:spPr bwMode="auto">
              <a:xfrm flipH="1" flipV="1">
                <a:off x="910" y="2693"/>
                <a:ext cx="212" cy="102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15" name="Line 255"/>
              <p:cNvSpPr>
                <a:spLocks noChangeShapeType="1"/>
              </p:cNvSpPr>
              <p:nvPr/>
            </p:nvSpPr>
            <p:spPr bwMode="auto">
              <a:xfrm flipH="1" flipV="1">
                <a:off x="899" y="2702"/>
                <a:ext cx="205" cy="103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16" name="Line 256"/>
              <p:cNvSpPr>
                <a:spLocks noChangeShapeType="1"/>
              </p:cNvSpPr>
              <p:nvPr/>
            </p:nvSpPr>
            <p:spPr bwMode="auto">
              <a:xfrm flipH="1" flipV="1">
                <a:off x="882" y="2715"/>
                <a:ext cx="198" cy="10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17" name="Line 257"/>
              <p:cNvSpPr>
                <a:spLocks noChangeShapeType="1"/>
              </p:cNvSpPr>
              <p:nvPr/>
            </p:nvSpPr>
            <p:spPr bwMode="auto">
              <a:xfrm flipH="1">
                <a:off x="1042" y="2749"/>
                <a:ext cx="123" cy="8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18" name="Line 258"/>
              <p:cNvSpPr>
                <a:spLocks noChangeShapeType="1"/>
              </p:cNvSpPr>
              <p:nvPr/>
            </p:nvSpPr>
            <p:spPr bwMode="auto">
              <a:xfrm flipH="1">
                <a:off x="1017" y="2741"/>
                <a:ext cx="120" cy="75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19" name="Line 259"/>
              <p:cNvSpPr>
                <a:spLocks noChangeShapeType="1"/>
              </p:cNvSpPr>
              <p:nvPr/>
            </p:nvSpPr>
            <p:spPr bwMode="auto">
              <a:xfrm flipH="1">
                <a:off x="972" y="2715"/>
                <a:ext cx="118" cy="76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20" name="Line 260"/>
              <p:cNvSpPr>
                <a:spLocks noChangeShapeType="1"/>
              </p:cNvSpPr>
              <p:nvPr/>
            </p:nvSpPr>
            <p:spPr bwMode="auto">
              <a:xfrm flipH="1">
                <a:off x="944" y="2709"/>
                <a:ext cx="113" cy="6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21" name="Line 261"/>
              <p:cNvSpPr>
                <a:spLocks noChangeShapeType="1"/>
              </p:cNvSpPr>
              <p:nvPr/>
            </p:nvSpPr>
            <p:spPr bwMode="auto">
              <a:xfrm flipH="1">
                <a:off x="918" y="2693"/>
                <a:ext cx="113" cy="72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22" name="Line 262"/>
              <p:cNvSpPr>
                <a:spLocks noChangeShapeType="1"/>
              </p:cNvSpPr>
              <p:nvPr/>
            </p:nvSpPr>
            <p:spPr bwMode="auto">
              <a:xfrm flipH="1">
                <a:off x="894" y="2682"/>
                <a:ext cx="111" cy="6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23" name="Line 263"/>
              <p:cNvSpPr>
                <a:spLocks noChangeShapeType="1"/>
              </p:cNvSpPr>
              <p:nvPr/>
            </p:nvSpPr>
            <p:spPr bwMode="auto">
              <a:xfrm flipH="1">
                <a:off x="873" y="2674"/>
                <a:ext cx="112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624" name="Text Box 264"/>
            <p:cNvSpPr txBox="1">
              <a:spLocks noChangeArrowheads="1"/>
            </p:cNvSpPr>
            <p:nvPr/>
          </p:nvSpPr>
          <p:spPr bwMode="auto">
            <a:xfrm>
              <a:off x="398" y="2890"/>
              <a:ext cx="516" cy="182"/>
            </a:xfrm>
            <a:prstGeom prst="rect">
              <a:avLst/>
            </a:prstGeom>
            <a:noFill/>
            <a:ln w="12700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lnSpc>
                  <a:spcPct val="80000"/>
                </a:lnSpc>
                <a:buClr>
                  <a:schemeClr val="tx2"/>
                </a:buClr>
              </a:pPr>
              <a:r>
                <a:rPr lang="sr-Latn-RS" sz="1600" b="1" dirty="0"/>
                <a:t>H</a:t>
              </a:r>
              <a:r>
                <a:rPr lang="en-US" sz="1600" b="1" dirty="0" err="1"/>
                <a:t>ost</a:t>
              </a:r>
              <a:endParaRPr lang="en-US" sz="1600" b="1" dirty="0"/>
            </a:p>
          </p:txBody>
        </p:sp>
      </p:grpSp>
      <p:sp>
        <p:nvSpPr>
          <p:cNvPr id="15625" name="Rectangle 265"/>
          <p:cNvSpPr>
            <a:spLocks noChangeArrowheads="1"/>
          </p:cNvSpPr>
          <p:nvPr/>
        </p:nvSpPr>
        <p:spPr bwMode="auto">
          <a:xfrm>
            <a:off x="3868738" y="1457325"/>
            <a:ext cx="4665662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eaLnBrk="0" hangingPunct="0"/>
            <a:endParaRPr lang="en-US" sz="1600"/>
          </a:p>
        </p:txBody>
      </p:sp>
      <p:grpSp>
        <p:nvGrpSpPr>
          <p:cNvPr id="15626" name="Group 266"/>
          <p:cNvGrpSpPr>
            <a:grpSpLocks/>
          </p:cNvGrpSpPr>
          <p:nvPr/>
        </p:nvGrpSpPr>
        <p:grpSpPr bwMode="auto">
          <a:xfrm>
            <a:off x="3505200" y="1336675"/>
            <a:ext cx="5562600" cy="2238375"/>
            <a:chOff x="2479" y="842"/>
            <a:chExt cx="3165" cy="1410"/>
          </a:xfrm>
        </p:grpSpPr>
        <p:sp>
          <p:nvSpPr>
            <p:cNvPr id="15627" name="AutoShape 267"/>
            <p:cNvSpPr>
              <a:spLocks noChangeArrowheads="1"/>
            </p:cNvSpPr>
            <p:nvPr/>
          </p:nvSpPr>
          <p:spPr bwMode="ltGray">
            <a:xfrm>
              <a:off x="2479" y="842"/>
              <a:ext cx="3165" cy="1410"/>
            </a:xfrm>
            <a:prstGeom prst="roundRect">
              <a:avLst>
                <a:gd name="adj" fmla="val 16667"/>
              </a:avLst>
            </a:prstGeom>
            <a:solidFill>
              <a:srgbClr val="009999"/>
            </a:solidFill>
            <a:ln w="9525">
              <a:noFill/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28" name="Rectangle 268"/>
            <p:cNvSpPr>
              <a:spLocks noChangeArrowheads="1"/>
            </p:cNvSpPr>
            <p:nvPr/>
          </p:nvSpPr>
          <p:spPr bwMode="auto">
            <a:xfrm>
              <a:off x="2546" y="919"/>
              <a:ext cx="2855" cy="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/>
            <a:lstStyle/>
            <a:p>
              <a:pPr eaLnBrk="0" hangingPunct="0"/>
              <a:r>
                <a:rPr lang="sr-Latn-RS" sz="1600" b="1" dirty="0"/>
                <a:t>Prevazilaženje ograničenih resursa</a:t>
              </a:r>
              <a:endParaRPr lang="en-US" sz="1600" b="1" dirty="0"/>
            </a:p>
          </p:txBody>
        </p:sp>
      </p:grpSp>
      <p:sp>
        <p:nvSpPr>
          <p:cNvPr id="15629" name="Rectangle 269"/>
          <p:cNvSpPr>
            <a:spLocks noChangeArrowheads="1"/>
          </p:cNvSpPr>
          <p:nvPr/>
        </p:nvSpPr>
        <p:spPr bwMode="invGray">
          <a:xfrm>
            <a:off x="1539875" y="1606550"/>
            <a:ext cx="1500188" cy="185896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30" name="Rectangle 270"/>
          <p:cNvSpPr>
            <a:spLocks noChangeArrowheads="1"/>
          </p:cNvSpPr>
          <p:nvPr/>
        </p:nvSpPr>
        <p:spPr bwMode="auto">
          <a:xfrm>
            <a:off x="3954463" y="2714625"/>
            <a:ext cx="4265612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28600" indent="-228600" eaLnBrk="0" hangingPunct="0">
              <a:buFontTx/>
              <a:buChar char="•"/>
            </a:pPr>
            <a:r>
              <a:rPr lang="sr-Latn-RS" sz="1600" b="1" dirty="0"/>
              <a:t>Analiza rezultata kroz alate</a:t>
            </a:r>
            <a:endParaRPr lang="en-US" sz="1600" b="1" dirty="0"/>
          </a:p>
        </p:txBody>
      </p:sp>
      <p:sp>
        <p:nvSpPr>
          <p:cNvPr id="15631" name="Rectangle 271"/>
          <p:cNvSpPr>
            <a:spLocks noChangeArrowheads="1"/>
          </p:cNvSpPr>
          <p:nvPr/>
        </p:nvSpPr>
        <p:spPr bwMode="auto">
          <a:xfrm>
            <a:off x="3954463" y="3014663"/>
            <a:ext cx="4037012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28600" indent="-228600" eaLnBrk="0" hangingPunct="0">
              <a:buFontTx/>
              <a:buChar char="•"/>
            </a:pPr>
            <a:r>
              <a:rPr lang="sr-Latn-RS" sz="1600" b="1" dirty="0"/>
              <a:t>Ponovljivost testova</a:t>
            </a:r>
            <a:endParaRPr lang="en-US" sz="1600" b="1" dirty="0"/>
          </a:p>
        </p:txBody>
      </p:sp>
      <p:grpSp>
        <p:nvGrpSpPr>
          <p:cNvPr id="15632" name="Group 272"/>
          <p:cNvGrpSpPr>
            <a:grpSpLocks/>
          </p:cNvGrpSpPr>
          <p:nvPr/>
        </p:nvGrpSpPr>
        <p:grpSpPr bwMode="auto">
          <a:xfrm>
            <a:off x="2338388" y="1725613"/>
            <a:ext cx="1044575" cy="1209675"/>
            <a:chOff x="2235" y="3163"/>
            <a:chExt cx="658" cy="762"/>
          </a:xfrm>
        </p:grpSpPr>
        <p:sp>
          <p:nvSpPr>
            <p:cNvPr id="15633" name="Rectangle 273"/>
            <p:cNvSpPr>
              <a:spLocks noChangeArrowheads="1"/>
            </p:cNvSpPr>
            <p:nvPr/>
          </p:nvSpPr>
          <p:spPr bwMode="auto">
            <a:xfrm rot="-7392">
              <a:off x="2332" y="3337"/>
              <a:ext cx="93" cy="352"/>
            </a:xfrm>
            <a:prstGeom prst="rect">
              <a:avLst/>
            </a:prstGeom>
            <a:solidFill>
              <a:schemeClr val="hlink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34" name="Rectangle 274"/>
            <p:cNvSpPr>
              <a:spLocks noChangeArrowheads="1"/>
            </p:cNvSpPr>
            <p:nvPr/>
          </p:nvSpPr>
          <p:spPr bwMode="auto">
            <a:xfrm rot="-7392">
              <a:off x="2447" y="3450"/>
              <a:ext cx="94" cy="239"/>
            </a:xfrm>
            <a:prstGeom prst="rect">
              <a:avLst/>
            </a:prstGeom>
            <a:solidFill>
              <a:schemeClr val="tx2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35" name="Rectangle 275"/>
            <p:cNvSpPr>
              <a:spLocks noChangeArrowheads="1"/>
            </p:cNvSpPr>
            <p:nvPr/>
          </p:nvSpPr>
          <p:spPr bwMode="auto">
            <a:xfrm rot="-7392">
              <a:off x="2564" y="3248"/>
              <a:ext cx="94" cy="440"/>
            </a:xfrm>
            <a:prstGeom prst="rect">
              <a:avLst/>
            </a:prstGeom>
            <a:solidFill>
              <a:srgbClr val="0099FF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36" name="Rectangle 276"/>
            <p:cNvSpPr>
              <a:spLocks noChangeArrowheads="1"/>
            </p:cNvSpPr>
            <p:nvPr/>
          </p:nvSpPr>
          <p:spPr bwMode="auto">
            <a:xfrm rot="-7392">
              <a:off x="2680" y="3389"/>
              <a:ext cx="94" cy="299"/>
            </a:xfrm>
            <a:prstGeom prst="rect">
              <a:avLst/>
            </a:prstGeom>
            <a:solidFill>
              <a:srgbClr val="66FF99"/>
            </a:solidFill>
            <a:ln w="1905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37" name="Line 277"/>
            <p:cNvSpPr>
              <a:spLocks noChangeShapeType="1"/>
            </p:cNvSpPr>
            <p:nvPr/>
          </p:nvSpPr>
          <p:spPr bwMode="auto">
            <a:xfrm rot="7392" flipH="1">
              <a:off x="2334" y="3690"/>
              <a:ext cx="442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38" name="AutoShape 278"/>
            <p:cNvSpPr>
              <a:spLocks noChangeArrowheads="1"/>
            </p:cNvSpPr>
            <p:nvPr/>
          </p:nvSpPr>
          <p:spPr bwMode="auto">
            <a:xfrm flipH="1">
              <a:off x="2239" y="3163"/>
              <a:ext cx="654" cy="762"/>
            </a:xfrm>
            <a:prstGeom prst="wedgeRectCallout">
              <a:avLst>
                <a:gd name="adj1" fmla="val 98468"/>
                <a:gd name="adj2" fmla="val -11944"/>
              </a:avLst>
            </a:prstGeom>
            <a:noFill/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20000"/>
                </a:spcBef>
                <a:buClr>
                  <a:schemeClr val="tx2"/>
                </a:buClr>
              </a:pPr>
              <a:endParaRPr lang="en-US" sz="1600" b="1"/>
            </a:p>
          </p:txBody>
        </p:sp>
        <p:sp>
          <p:nvSpPr>
            <p:cNvPr id="15639" name="Text Box 279"/>
            <p:cNvSpPr txBox="1">
              <a:spLocks noChangeArrowheads="1"/>
            </p:cNvSpPr>
            <p:nvPr/>
          </p:nvSpPr>
          <p:spPr bwMode="auto">
            <a:xfrm>
              <a:off x="2235" y="3708"/>
              <a:ext cx="648" cy="181"/>
            </a:xfrm>
            <a:prstGeom prst="rect">
              <a:avLst/>
            </a:prstGeom>
            <a:noFill/>
            <a:ln w="12700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lnSpc>
                  <a:spcPct val="80000"/>
                </a:lnSpc>
                <a:buClr>
                  <a:schemeClr val="tx2"/>
                </a:buClr>
              </a:pPr>
              <a:r>
                <a:rPr lang="sr-Latn-RS" sz="1600" b="1" dirty="0"/>
                <a:t>Analiza</a:t>
              </a:r>
              <a:endParaRPr lang="en-US" sz="1600" b="1" dirty="0"/>
            </a:p>
          </p:txBody>
        </p:sp>
      </p:grpSp>
      <p:grpSp>
        <p:nvGrpSpPr>
          <p:cNvPr id="15640" name="Group 280"/>
          <p:cNvGrpSpPr>
            <a:grpSpLocks/>
          </p:cNvGrpSpPr>
          <p:nvPr/>
        </p:nvGrpSpPr>
        <p:grpSpPr bwMode="auto">
          <a:xfrm>
            <a:off x="511175" y="1643063"/>
            <a:ext cx="1955800" cy="2760662"/>
            <a:chOff x="886" y="1035"/>
            <a:chExt cx="1232" cy="1739"/>
          </a:xfrm>
        </p:grpSpPr>
        <p:grpSp>
          <p:nvGrpSpPr>
            <p:cNvPr id="15641" name="Group 281"/>
            <p:cNvGrpSpPr>
              <a:grpSpLocks/>
            </p:cNvGrpSpPr>
            <p:nvPr/>
          </p:nvGrpSpPr>
          <p:grpSpPr bwMode="auto">
            <a:xfrm>
              <a:off x="1041" y="1035"/>
              <a:ext cx="690" cy="660"/>
              <a:chOff x="1048" y="2260"/>
              <a:chExt cx="1342" cy="1288"/>
            </a:xfrm>
          </p:grpSpPr>
          <p:sp>
            <p:nvSpPr>
              <p:cNvPr id="15642" name="Freeform 282"/>
              <p:cNvSpPr>
                <a:spLocks/>
              </p:cNvSpPr>
              <p:nvPr/>
            </p:nvSpPr>
            <p:spPr bwMode="invGray">
              <a:xfrm>
                <a:off x="1691" y="2729"/>
                <a:ext cx="401" cy="286"/>
              </a:xfrm>
              <a:custGeom>
                <a:avLst/>
                <a:gdLst/>
                <a:ahLst/>
                <a:cxnLst>
                  <a:cxn ang="0">
                    <a:pos x="156" y="33"/>
                  </a:cxn>
                  <a:cxn ang="0">
                    <a:pos x="156" y="111"/>
                  </a:cxn>
                  <a:cxn ang="0">
                    <a:pos x="0" y="53"/>
                  </a:cxn>
                  <a:cxn ang="0">
                    <a:pos x="0" y="0"/>
                  </a:cxn>
                  <a:cxn ang="0">
                    <a:pos x="156" y="33"/>
                  </a:cxn>
                </a:cxnLst>
                <a:rect l="0" t="0" r="r" b="b"/>
                <a:pathLst>
                  <a:path w="157" h="112">
                    <a:moveTo>
                      <a:pt x="156" y="33"/>
                    </a:moveTo>
                    <a:lnTo>
                      <a:pt x="156" y="111"/>
                    </a:lnTo>
                    <a:lnTo>
                      <a:pt x="0" y="53"/>
                    </a:lnTo>
                    <a:lnTo>
                      <a:pt x="0" y="0"/>
                    </a:lnTo>
                    <a:lnTo>
                      <a:pt x="156" y="33"/>
                    </a:lnTo>
                  </a:path>
                </a:pathLst>
              </a:custGeom>
              <a:solidFill>
                <a:srgbClr val="A0A0A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3" name="Freeform 283"/>
              <p:cNvSpPr>
                <a:spLocks/>
              </p:cNvSpPr>
              <p:nvPr/>
            </p:nvSpPr>
            <p:spPr bwMode="invGray">
              <a:xfrm>
                <a:off x="2092" y="2795"/>
                <a:ext cx="298" cy="220"/>
              </a:xfrm>
              <a:custGeom>
                <a:avLst/>
                <a:gdLst/>
                <a:ahLst/>
                <a:cxnLst>
                  <a:cxn ang="0">
                    <a:pos x="0" y="7"/>
                  </a:cxn>
                  <a:cxn ang="0">
                    <a:pos x="0" y="85"/>
                  </a:cxn>
                  <a:cxn ang="0">
                    <a:pos x="116" y="65"/>
                  </a:cxn>
                  <a:cxn ang="0">
                    <a:pos x="116" y="0"/>
                  </a:cxn>
                  <a:cxn ang="0">
                    <a:pos x="0" y="7"/>
                  </a:cxn>
                </a:cxnLst>
                <a:rect l="0" t="0" r="r" b="b"/>
                <a:pathLst>
                  <a:path w="117" h="86">
                    <a:moveTo>
                      <a:pt x="0" y="7"/>
                    </a:moveTo>
                    <a:lnTo>
                      <a:pt x="0" y="85"/>
                    </a:lnTo>
                    <a:lnTo>
                      <a:pt x="116" y="65"/>
                    </a:lnTo>
                    <a:lnTo>
                      <a:pt x="116" y="0"/>
                    </a:lnTo>
                    <a:lnTo>
                      <a:pt x="0" y="7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4" name="Freeform 284"/>
              <p:cNvSpPr>
                <a:spLocks/>
              </p:cNvSpPr>
              <p:nvPr/>
            </p:nvSpPr>
            <p:spPr bwMode="invGray">
              <a:xfrm>
                <a:off x="1694" y="2729"/>
                <a:ext cx="696" cy="87"/>
              </a:xfrm>
              <a:custGeom>
                <a:avLst/>
                <a:gdLst/>
                <a:ahLst/>
                <a:cxnLst>
                  <a:cxn ang="0">
                    <a:pos x="272" y="25"/>
                  </a:cxn>
                  <a:cxn ang="0">
                    <a:pos x="154" y="33"/>
                  </a:cxn>
                  <a:cxn ang="0">
                    <a:pos x="0" y="0"/>
                  </a:cxn>
                  <a:cxn ang="0">
                    <a:pos x="113" y="0"/>
                  </a:cxn>
                  <a:cxn ang="0">
                    <a:pos x="272" y="25"/>
                  </a:cxn>
                </a:cxnLst>
                <a:rect l="0" t="0" r="r" b="b"/>
                <a:pathLst>
                  <a:path w="273" h="34">
                    <a:moveTo>
                      <a:pt x="272" y="25"/>
                    </a:moveTo>
                    <a:lnTo>
                      <a:pt x="154" y="33"/>
                    </a:lnTo>
                    <a:lnTo>
                      <a:pt x="0" y="0"/>
                    </a:lnTo>
                    <a:lnTo>
                      <a:pt x="113" y="0"/>
                    </a:lnTo>
                    <a:lnTo>
                      <a:pt x="272" y="25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5" name="Freeform 285"/>
              <p:cNvSpPr>
                <a:spLocks/>
              </p:cNvSpPr>
              <p:nvPr/>
            </p:nvSpPr>
            <p:spPr bwMode="invGray">
              <a:xfrm>
                <a:off x="1905" y="2704"/>
                <a:ext cx="255" cy="81"/>
              </a:xfrm>
              <a:custGeom>
                <a:avLst/>
                <a:gdLst/>
                <a:ahLst/>
                <a:cxnLst>
                  <a:cxn ang="0">
                    <a:pos x="99" y="17"/>
                  </a:cxn>
                  <a:cxn ang="0">
                    <a:pos x="99" y="27"/>
                  </a:cxn>
                  <a:cxn ang="0">
                    <a:pos x="53" y="31"/>
                  </a:cxn>
                  <a:cxn ang="0">
                    <a:pos x="0" y="20"/>
                  </a:cxn>
                  <a:cxn ang="0">
                    <a:pos x="0" y="0"/>
                  </a:cxn>
                  <a:cxn ang="0">
                    <a:pos x="99" y="17"/>
                  </a:cxn>
                </a:cxnLst>
                <a:rect l="0" t="0" r="r" b="b"/>
                <a:pathLst>
                  <a:path w="100" h="32">
                    <a:moveTo>
                      <a:pt x="99" y="17"/>
                    </a:moveTo>
                    <a:lnTo>
                      <a:pt x="99" y="27"/>
                    </a:lnTo>
                    <a:lnTo>
                      <a:pt x="53" y="31"/>
                    </a:lnTo>
                    <a:lnTo>
                      <a:pt x="0" y="20"/>
                    </a:lnTo>
                    <a:lnTo>
                      <a:pt x="0" y="0"/>
                    </a:lnTo>
                    <a:lnTo>
                      <a:pt x="99" y="17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6" name="Freeform 286"/>
              <p:cNvSpPr>
                <a:spLocks/>
              </p:cNvSpPr>
              <p:nvPr/>
            </p:nvSpPr>
            <p:spPr bwMode="invGray">
              <a:xfrm>
                <a:off x="1765" y="2357"/>
                <a:ext cx="327" cy="406"/>
              </a:xfrm>
              <a:custGeom>
                <a:avLst/>
                <a:gdLst/>
                <a:ahLst/>
                <a:cxnLst>
                  <a:cxn ang="0">
                    <a:pos x="109" y="158"/>
                  </a:cxn>
                  <a:cxn ang="0">
                    <a:pos x="127" y="4"/>
                  </a:cxn>
                  <a:cxn ang="0">
                    <a:pos x="16" y="0"/>
                  </a:cxn>
                  <a:cxn ang="0">
                    <a:pos x="0" y="136"/>
                  </a:cxn>
                  <a:cxn ang="0">
                    <a:pos x="109" y="158"/>
                  </a:cxn>
                </a:cxnLst>
                <a:rect l="0" t="0" r="r" b="b"/>
                <a:pathLst>
                  <a:path w="128" h="159">
                    <a:moveTo>
                      <a:pt x="109" y="158"/>
                    </a:moveTo>
                    <a:lnTo>
                      <a:pt x="127" y="4"/>
                    </a:lnTo>
                    <a:lnTo>
                      <a:pt x="16" y="0"/>
                    </a:lnTo>
                    <a:lnTo>
                      <a:pt x="0" y="136"/>
                    </a:lnTo>
                    <a:lnTo>
                      <a:pt x="109" y="158"/>
                    </a:lnTo>
                  </a:path>
                </a:pathLst>
              </a:custGeom>
              <a:solidFill>
                <a:srgbClr val="A0A0A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7" name="Freeform 287"/>
              <p:cNvSpPr>
                <a:spLocks/>
              </p:cNvSpPr>
              <p:nvPr/>
            </p:nvSpPr>
            <p:spPr bwMode="invGray">
              <a:xfrm>
                <a:off x="2043" y="2367"/>
                <a:ext cx="291" cy="401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13" y="34"/>
                  </a:cxn>
                  <a:cxn ang="0">
                    <a:pos x="98" y="156"/>
                  </a:cxn>
                  <a:cxn ang="0">
                    <a:pos x="0" y="152"/>
                  </a:cxn>
                  <a:cxn ang="0">
                    <a:pos x="16" y="0"/>
                  </a:cxn>
                </a:cxnLst>
                <a:rect l="0" t="0" r="r" b="b"/>
                <a:pathLst>
                  <a:path w="114" h="157">
                    <a:moveTo>
                      <a:pt x="16" y="0"/>
                    </a:moveTo>
                    <a:lnTo>
                      <a:pt x="113" y="34"/>
                    </a:lnTo>
                    <a:lnTo>
                      <a:pt x="98" y="156"/>
                    </a:lnTo>
                    <a:lnTo>
                      <a:pt x="0" y="152"/>
                    </a:lnTo>
                    <a:lnTo>
                      <a:pt x="16" y="0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8" name="Freeform 288"/>
              <p:cNvSpPr>
                <a:spLocks/>
              </p:cNvSpPr>
              <p:nvPr/>
            </p:nvSpPr>
            <p:spPr bwMode="invGray">
              <a:xfrm>
                <a:off x="1801" y="2395"/>
                <a:ext cx="234" cy="304"/>
              </a:xfrm>
              <a:custGeom>
                <a:avLst/>
                <a:gdLst/>
                <a:ahLst/>
                <a:cxnLst>
                  <a:cxn ang="0">
                    <a:pos x="91" y="6"/>
                  </a:cxn>
                  <a:cxn ang="0">
                    <a:pos x="77" y="118"/>
                  </a:cxn>
                  <a:cxn ang="0">
                    <a:pos x="0" y="104"/>
                  </a:cxn>
                  <a:cxn ang="0">
                    <a:pos x="13" y="0"/>
                  </a:cxn>
                  <a:cxn ang="0">
                    <a:pos x="91" y="6"/>
                  </a:cxn>
                </a:cxnLst>
                <a:rect l="0" t="0" r="r" b="b"/>
                <a:pathLst>
                  <a:path w="92" h="119">
                    <a:moveTo>
                      <a:pt x="91" y="6"/>
                    </a:moveTo>
                    <a:lnTo>
                      <a:pt x="77" y="118"/>
                    </a:lnTo>
                    <a:lnTo>
                      <a:pt x="0" y="104"/>
                    </a:lnTo>
                    <a:lnTo>
                      <a:pt x="13" y="0"/>
                    </a:lnTo>
                    <a:lnTo>
                      <a:pt x="91" y="6"/>
                    </a:lnTo>
                  </a:path>
                </a:pathLst>
              </a:custGeom>
              <a:gradFill rotWithShape="0">
                <a:gsLst>
                  <a:gs pos="0">
                    <a:srgbClr val="00C0C0"/>
                  </a:gs>
                  <a:gs pos="100000">
                    <a:srgbClr val="00C0C0">
                      <a:gamma/>
                      <a:shade val="46275"/>
                      <a:invGamma/>
                    </a:srgbClr>
                  </a:gs>
                </a:gsLst>
                <a:path path="rect">
                  <a:fillToRect l="50000" t="50000" r="50000" b="50000"/>
                </a:path>
              </a:gra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49" name="Freeform 289"/>
              <p:cNvSpPr>
                <a:spLocks/>
              </p:cNvSpPr>
              <p:nvPr/>
            </p:nvSpPr>
            <p:spPr bwMode="invGray">
              <a:xfrm>
                <a:off x="1719" y="2760"/>
                <a:ext cx="227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8" y="21"/>
                  </a:cxn>
                  <a:cxn ang="0">
                    <a:pos x="88" y="72"/>
                  </a:cxn>
                  <a:cxn ang="0">
                    <a:pos x="0" y="40"/>
                  </a:cxn>
                  <a:cxn ang="0">
                    <a:pos x="0" y="0"/>
                  </a:cxn>
                </a:cxnLst>
                <a:rect l="0" t="0" r="r" b="b"/>
                <a:pathLst>
                  <a:path w="89" h="73">
                    <a:moveTo>
                      <a:pt x="0" y="0"/>
                    </a:moveTo>
                    <a:lnTo>
                      <a:pt x="88" y="21"/>
                    </a:lnTo>
                    <a:lnTo>
                      <a:pt x="88" y="7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0" name="Line 290"/>
              <p:cNvSpPr>
                <a:spLocks noChangeShapeType="1"/>
              </p:cNvSpPr>
              <p:nvPr/>
            </p:nvSpPr>
            <p:spPr bwMode="invGray">
              <a:xfrm flipH="1" flipV="1">
                <a:off x="1732" y="2803"/>
                <a:ext cx="61" cy="1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51" name="Line 291"/>
              <p:cNvSpPr>
                <a:spLocks noChangeShapeType="1"/>
              </p:cNvSpPr>
              <p:nvPr/>
            </p:nvSpPr>
            <p:spPr bwMode="invGray">
              <a:xfrm>
                <a:off x="1824" y="2826"/>
                <a:ext cx="81" cy="2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52" name="Line 292"/>
              <p:cNvSpPr>
                <a:spLocks noChangeShapeType="1"/>
              </p:cNvSpPr>
              <p:nvPr/>
            </p:nvSpPr>
            <p:spPr bwMode="invGray">
              <a:xfrm>
                <a:off x="1813" y="2780"/>
                <a:ext cx="0" cy="12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53" name="Line 293"/>
              <p:cNvSpPr>
                <a:spLocks noChangeShapeType="1"/>
              </p:cNvSpPr>
              <p:nvPr/>
            </p:nvSpPr>
            <p:spPr bwMode="invGray">
              <a:xfrm>
                <a:off x="1923" y="2808"/>
                <a:ext cx="0" cy="13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54" name="Line 294"/>
              <p:cNvSpPr>
                <a:spLocks noChangeShapeType="1"/>
              </p:cNvSpPr>
              <p:nvPr/>
            </p:nvSpPr>
            <p:spPr bwMode="invGray">
              <a:xfrm>
                <a:off x="1714" y="2806"/>
                <a:ext cx="209" cy="6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55" name="Line 295"/>
              <p:cNvSpPr>
                <a:spLocks noChangeShapeType="1"/>
              </p:cNvSpPr>
              <p:nvPr/>
            </p:nvSpPr>
            <p:spPr bwMode="invGray">
              <a:xfrm flipH="1" flipV="1">
                <a:off x="1714" y="2788"/>
                <a:ext cx="209" cy="5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56" name="Freeform 296"/>
              <p:cNvSpPr>
                <a:spLocks/>
              </p:cNvSpPr>
              <p:nvPr/>
            </p:nvSpPr>
            <p:spPr bwMode="invGray">
              <a:xfrm>
                <a:off x="1941" y="2938"/>
                <a:ext cx="51" cy="79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9" y="27"/>
                  </a:cxn>
                  <a:cxn ang="0">
                    <a:pos x="4" y="30"/>
                  </a:cxn>
                  <a:cxn ang="0">
                    <a:pos x="0" y="2"/>
                  </a:cxn>
                  <a:cxn ang="0">
                    <a:pos x="13" y="0"/>
                  </a:cxn>
                </a:cxnLst>
                <a:rect l="0" t="0" r="r" b="b"/>
                <a:pathLst>
                  <a:path w="20" h="31">
                    <a:moveTo>
                      <a:pt x="13" y="0"/>
                    </a:moveTo>
                    <a:lnTo>
                      <a:pt x="19" y="27"/>
                    </a:lnTo>
                    <a:lnTo>
                      <a:pt x="4" y="30"/>
                    </a:lnTo>
                    <a:lnTo>
                      <a:pt x="0" y="2"/>
                    </a:lnTo>
                    <a:lnTo>
                      <a:pt x="13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7" name="Freeform 297"/>
              <p:cNvSpPr>
                <a:spLocks/>
              </p:cNvSpPr>
              <p:nvPr/>
            </p:nvSpPr>
            <p:spPr bwMode="invGray">
              <a:xfrm>
                <a:off x="1905" y="2946"/>
                <a:ext cx="72" cy="68"/>
              </a:xfrm>
              <a:custGeom>
                <a:avLst/>
                <a:gdLst/>
                <a:ahLst/>
                <a:cxnLst>
                  <a:cxn ang="0">
                    <a:pos x="24" y="1"/>
                  </a:cxn>
                  <a:cxn ang="0">
                    <a:pos x="27" y="26"/>
                  </a:cxn>
                  <a:cxn ang="0">
                    <a:pos x="0" y="14"/>
                  </a:cxn>
                  <a:cxn ang="0">
                    <a:pos x="10" y="9"/>
                  </a:cxn>
                  <a:cxn ang="0">
                    <a:pos x="21" y="15"/>
                  </a:cxn>
                  <a:cxn ang="0">
                    <a:pos x="17" y="0"/>
                  </a:cxn>
                  <a:cxn ang="0">
                    <a:pos x="24" y="1"/>
                  </a:cxn>
                </a:cxnLst>
                <a:rect l="0" t="0" r="r" b="b"/>
                <a:pathLst>
                  <a:path w="28" h="27">
                    <a:moveTo>
                      <a:pt x="24" y="1"/>
                    </a:moveTo>
                    <a:lnTo>
                      <a:pt x="27" y="26"/>
                    </a:lnTo>
                    <a:lnTo>
                      <a:pt x="0" y="14"/>
                    </a:lnTo>
                    <a:lnTo>
                      <a:pt x="10" y="9"/>
                    </a:lnTo>
                    <a:lnTo>
                      <a:pt x="21" y="15"/>
                    </a:lnTo>
                    <a:lnTo>
                      <a:pt x="17" y="0"/>
                    </a:lnTo>
                    <a:lnTo>
                      <a:pt x="24" y="1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8" name="Freeform 298"/>
              <p:cNvSpPr>
                <a:spLocks/>
              </p:cNvSpPr>
              <p:nvPr/>
            </p:nvSpPr>
            <p:spPr bwMode="invGray">
              <a:xfrm>
                <a:off x="1482" y="2762"/>
                <a:ext cx="535" cy="283"/>
              </a:xfrm>
              <a:custGeom>
                <a:avLst/>
                <a:gdLst/>
                <a:ahLst/>
                <a:cxnLst>
                  <a:cxn ang="0">
                    <a:pos x="209" y="46"/>
                  </a:cxn>
                  <a:cxn ang="0">
                    <a:pos x="109" y="110"/>
                  </a:cxn>
                  <a:cxn ang="0">
                    <a:pos x="0" y="47"/>
                  </a:cxn>
                  <a:cxn ang="0">
                    <a:pos x="82" y="0"/>
                  </a:cxn>
                  <a:cxn ang="0">
                    <a:pos x="209" y="46"/>
                  </a:cxn>
                </a:cxnLst>
                <a:rect l="0" t="0" r="r" b="b"/>
                <a:pathLst>
                  <a:path w="210" h="111">
                    <a:moveTo>
                      <a:pt x="209" y="46"/>
                    </a:moveTo>
                    <a:lnTo>
                      <a:pt x="109" y="110"/>
                    </a:lnTo>
                    <a:lnTo>
                      <a:pt x="0" y="47"/>
                    </a:lnTo>
                    <a:lnTo>
                      <a:pt x="82" y="0"/>
                    </a:lnTo>
                    <a:lnTo>
                      <a:pt x="209" y="46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9" name="Freeform 299"/>
              <p:cNvSpPr>
                <a:spLocks/>
              </p:cNvSpPr>
              <p:nvPr/>
            </p:nvSpPr>
            <p:spPr bwMode="invGray">
              <a:xfrm>
                <a:off x="1760" y="2882"/>
                <a:ext cx="270" cy="204"/>
              </a:xfrm>
              <a:custGeom>
                <a:avLst/>
                <a:gdLst/>
                <a:ahLst/>
                <a:cxnLst>
                  <a:cxn ang="0">
                    <a:pos x="102" y="0"/>
                  </a:cxn>
                  <a:cxn ang="0">
                    <a:pos x="0" y="65"/>
                  </a:cxn>
                  <a:cxn ang="0">
                    <a:pos x="3" y="79"/>
                  </a:cxn>
                  <a:cxn ang="0">
                    <a:pos x="105" y="13"/>
                  </a:cxn>
                  <a:cxn ang="0">
                    <a:pos x="102" y="0"/>
                  </a:cxn>
                </a:cxnLst>
                <a:rect l="0" t="0" r="r" b="b"/>
                <a:pathLst>
                  <a:path w="106" h="80">
                    <a:moveTo>
                      <a:pt x="102" y="0"/>
                    </a:moveTo>
                    <a:lnTo>
                      <a:pt x="0" y="65"/>
                    </a:lnTo>
                    <a:lnTo>
                      <a:pt x="3" y="79"/>
                    </a:lnTo>
                    <a:lnTo>
                      <a:pt x="105" y="13"/>
                    </a:lnTo>
                    <a:lnTo>
                      <a:pt x="102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0" name="Freeform 300"/>
              <p:cNvSpPr>
                <a:spLocks/>
              </p:cNvSpPr>
              <p:nvPr/>
            </p:nvSpPr>
            <p:spPr bwMode="invGray">
              <a:xfrm>
                <a:off x="1485" y="2887"/>
                <a:ext cx="288" cy="199"/>
              </a:xfrm>
              <a:custGeom>
                <a:avLst/>
                <a:gdLst/>
                <a:ahLst/>
                <a:cxnLst>
                  <a:cxn ang="0">
                    <a:pos x="112" y="77"/>
                  </a:cxn>
                  <a:cxn ang="0">
                    <a:pos x="108" y="62"/>
                  </a:cxn>
                  <a:cxn ang="0">
                    <a:pos x="0" y="0"/>
                  </a:cxn>
                  <a:cxn ang="0">
                    <a:pos x="4" y="12"/>
                  </a:cxn>
                  <a:cxn ang="0">
                    <a:pos x="112" y="77"/>
                  </a:cxn>
                </a:cxnLst>
                <a:rect l="0" t="0" r="r" b="b"/>
                <a:pathLst>
                  <a:path w="113" h="78">
                    <a:moveTo>
                      <a:pt x="112" y="77"/>
                    </a:moveTo>
                    <a:lnTo>
                      <a:pt x="108" y="62"/>
                    </a:lnTo>
                    <a:lnTo>
                      <a:pt x="0" y="0"/>
                    </a:lnTo>
                    <a:lnTo>
                      <a:pt x="4" y="12"/>
                    </a:lnTo>
                    <a:lnTo>
                      <a:pt x="112" y="77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1" name="Freeform 301"/>
              <p:cNvSpPr>
                <a:spLocks/>
              </p:cNvSpPr>
              <p:nvPr/>
            </p:nvSpPr>
            <p:spPr bwMode="invGray">
              <a:xfrm>
                <a:off x="1699" y="2897"/>
                <a:ext cx="216" cy="125"/>
              </a:xfrm>
              <a:custGeom>
                <a:avLst/>
                <a:gdLst/>
                <a:ahLst/>
                <a:cxnLst>
                  <a:cxn ang="0">
                    <a:pos x="84" y="12"/>
                  </a:cxn>
                  <a:cxn ang="0">
                    <a:pos x="55" y="0"/>
                  </a:cxn>
                  <a:cxn ang="0">
                    <a:pos x="0" y="33"/>
                  </a:cxn>
                  <a:cxn ang="0">
                    <a:pos x="27" y="48"/>
                  </a:cxn>
                  <a:cxn ang="0">
                    <a:pos x="84" y="12"/>
                  </a:cxn>
                </a:cxnLst>
                <a:rect l="0" t="0" r="r" b="b"/>
                <a:pathLst>
                  <a:path w="85" h="49">
                    <a:moveTo>
                      <a:pt x="84" y="12"/>
                    </a:moveTo>
                    <a:lnTo>
                      <a:pt x="55" y="0"/>
                    </a:lnTo>
                    <a:lnTo>
                      <a:pt x="0" y="33"/>
                    </a:lnTo>
                    <a:lnTo>
                      <a:pt x="27" y="48"/>
                    </a:lnTo>
                    <a:lnTo>
                      <a:pt x="84" y="12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2" name="Freeform 302"/>
              <p:cNvSpPr>
                <a:spLocks/>
              </p:cNvSpPr>
              <p:nvPr/>
            </p:nvSpPr>
            <p:spPr bwMode="invGray">
              <a:xfrm>
                <a:off x="1510" y="2810"/>
                <a:ext cx="316" cy="171"/>
              </a:xfrm>
              <a:custGeom>
                <a:avLst/>
                <a:gdLst/>
                <a:ahLst/>
                <a:cxnLst>
                  <a:cxn ang="0">
                    <a:pos x="123" y="31"/>
                  </a:cxn>
                  <a:cxn ang="0">
                    <a:pos x="69" y="66"/>
                  </a:cxn>
                  <a:cxn ang="0">
                    <a:pos x="0" y="27"/>
                  </a:cxn>
                  <a:cxn ang="0">
                    <a:pos x="50" y="0"/>
                  </a:cxn>
                  <a:cxn ang="0">
                    <a:pos x="123" y="31"/>
                  </a:cxn>
                </a:cxnLst>
                <a:rect l="0" t="0" r="r" b="b"/>
                <a:pathLst>
                  <a:path w="124" h="67">
                    <a:moveTo>
                      <a:pt x="123" y="31"/>
                    </a:moveTo>
                    <a:lnTo>
                      <a:pt x="69" y="66"/>
                    </a:lnTo>
                    <a:lnTo>
                      <a:pt x="0" y="27"/>
                    </a:lnTo>
                    <a:lnTo>
                      <a:pt x="50" y="0"/>
                    </a:lnTo>
                    <a:lnTo>
                      <a:pt x="123" y="31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3" name="Freeform 303"/>
              <p:cNvSpPr>
                <a:spLocks/>
              </p:cNvSpPr>
              <p:nvPr/>
            </p:nvSpPr>
            <p:spPr bwMode="invGray">
              <a:xfrm>
                <a:off x="1645" y="2772"/>
                <a:ext cx="349" cy="153"/>
              </a:xfrm>
              <a:custGeom>
                <a:avLst/>
                <a:gdLst/>
                <a:ahLst/>
                <a:cxnLst>
                  <a:cxn ang="0">
                    <a:pos x="107" y="59"/>
                  </a:cxn>
                  <a:cxn ang="0">
                    <a:pos x="136" y="42"/>
                  </a:cxn>
                  <a:cxn ang="0">
                    <a:pos x="22" y="0"/>
                  </a:cxn>
                  <a:cxn ang="0">
                    <a:pos x="0" y="11"/>
                  </a:cxn>
                  <a:cxn ang="0">
                    <a:pos x="107" y="59"/>
                  </a:cxn>
                </a:cxnLst>
                <a:rect l="0" t="0" r="r" b="b"/>
                <a:pathLst>
                  <a:path w="137" h="60">
                    <a:moveTo>
                      <a:pt x="107" y="59"/>
                    </a:moveTo>
                    <a:lnTo>
                      <a:pt x="136" y="42"/>
                    </a:lnTo>
                    <a:lnTo>
                      <a:pt x="22" y="0"/>
                    </a:lnTo>
                    <a:lnTo>
                      <a:pt x="0" y="11"/>
                    </a:lnTo>
                    <a:lnTo>
                      <a:pt x="107" y="59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4" name="Line 304"/>
              <p:cNvSpPr>
                <a:spLocks noChangeShapeType="1"/>
              </p:cNvSpPr>
              <p:nvPr/>
            </p:nvSpPr>
            <p:spPr bwMode="invGray">
              <a:xfrm flipH="1" flipV="1">
                <a:off x="1681" y="2777"/>
                <a:ext cx="301" cy="12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65" name="Line 305"/>
              <p:cNvSpPr>
                <a:spLocks noChangeShapeType="1"/>
              </p:cNvSpPr>
              <p:nvPr/>
            </p:nvSpPr>
            <p:spPr bwMode="invGray">
              <a:xfrm flipH="1" flipV="1">
                <a:off x="1666" y="2782"/>
                <a:ext cx="288" cy="123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66" name="Line 306"/>
              <p:cNvSpPr>
                <a:spLocks noChangeShapeType="1"/>
              </p:cNvSpPr>
              <p:nvPr/>
            </p:nvSpPr>
            <p:spPr bwMode="invGray">
              <a:xfrm flipH="1" flipV="1">
                <a:off x="1655" y="2795"/>
                <a:ext cx="286" cy="123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67" name="Line 307"/>
              <p:cNvSpPr>
                <a:spLocks noChangeShapeType="1"/>
              </p:cNvSpPr>
              <p:nvPr/>
            </p:nvSpPr>
            <p:spPr bwMode="invGray">
              <a:xfrm flipH="1" flipV="1">
                <a:off x="1617" y="2813"/>
                <a:ext cx="278" cy="13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68" name="Line 308"/>
              <p:cNvSpPr>
                <a:spLocks noChangeShapeType="1"/>
              </p:cNvSpPr>
              <p:nvPr/>
            </p:nvSpPr>
            <p:spPr bwMode="invGray">
              <a:xfrm flipH="1" flipV="1">
                <a:off x="1602" y="2828"/>
                <a:ext cx="270" cy="13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69" name="Line 309"/>
              <p:cNvSpPr>
                <a:spLocks noChangeShapeType="1"/>
              </p:cNvSpPr>
              <p:nvPr/>
            </p:nvSpPr>
            <p:spPr bwMode="invGray">
              <a:xfrm flipH="1" flipV="1">
                <a:off x="1589" y="2849"/>
                <a:ext cx="250" cy="12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0" name="Line 310"/>
              <p:cNvSpPr>
                <a:spLocks noChangeShapeType="1"/>
              </p:cNvSpPr>
              <p:nvPr/>
            </p:nvSpPr>
            <p:spPr bwMode="invGray">
              <a:xfrm flipH="1" flipV="1">
                <a:off x="1576" y="2859"/>
                <a:ext cx="242" cy="122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1" name="Line 311"/>
              <p:cNvSpPr>
                <a:spLocks noChangeShapeType="1"/>
              </p:cNvSpPr>
              <p:nvPr/>
            </p:nvSpPr>
            <p:spPr bwMode="invGray">
              <a:xfrm flipH="1" flipV="1">
                <a:off x="1556" y="2874"/>
                <a:ext cx="234" cy="123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2" name="Line 312"/>
              <p:cNvSpPr>
                <a:spLocks noChangeShapeType="1"/>
              </p:cNvSpPr>
              <p:nvPr/>
            </p:nvSpPr>
            <p:spPr bwMode="invGray">
              <a:xfrm flipH="1">
                <a:off x="1745" y="2915"/>
                <a:ext cx="145" cy="9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3" name="Line 313"/>
              <p:cNvSpPr>
                <a:spLocks noChangeShapeType="1"/>
              </p:cNvSpPr>
              <p:nvPr/>
            </p:nvSpPr>
            <p:spPr bwMode="invGray">
              <a:xfrm flipH="1">
                <a:off x="1716" y="2905"/>
                <a:ext cx="141" cy="8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4" name="Line 314"/>
              <p:cNvSpPr>
                <a:spLocks noChangeShapeType="1"/>
              </p:cNvSpPr>
              <p:nvPr/>
            </p:nvSpPr>
            <p:spPr bwMode="invGray">
              <a:xfrm flipH="1">
                <a:off x="1663" y="2874"/>
                <a:ext cx="138" cy="9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5" name="Line 315"/>
              <p:cNvSpPr>
                <a:spLocks noChangeShapeType="1"/>
              </p:cNvSpPr>
              <p:nvPr/>
            </p:nvSpPr>
            <p:spPr bwMode="invGray">
              <a:xfrm flipH="1">
                <a:off x="1630" y="2867"/>
                <a:ext cx="132" cy="8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6" name="Line 316"/>
              <p:cNvSpPr>
                <a:spLocks noChangeShapeType="1"/>
              </p:cNvSpPr>
              <p:nvPr/>
            </p:nvSpPr>
            <p:spPr bwMode="invGray">
              <a:xfrm flipH="1">
                <a:off x="1599" y="2849"/>
                <a:ext cx="133" cy="8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7" name="Line 317"/>
              <p:cNvSpPr>
                <a:spLocks noChangeShapeType="1"/>
              </p:cNvSpPr>
              <p:nvPr/>
            </p:nvSpPr>
            <p:spPr bwMode="invGray">
              <a:xfrm flipH="1">
                <a:off x="1571" y="2836"/>
                <a:ext cx="130" cy="7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8" name="Line 318"/>
              <p:cNvSpPr>
                <a:spLocks noChangeShapeType="1"/>
              </p:cNvSpPr>
              <p:nvPr/>
            </p:nvSpPr>
            <p:spPr bwMode="invGray">
              <a:xfrm flipH="1">
                <a:off x="1546" y="2826"/>
                <a:ext cx="132" cy="76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9" name="Line 319"/>
              <p:cNvSpPr>
                <a:spLocks noChangeShapeType="1"/>
              </p:cNvSpPr>
              <p:nvPr/>
            </p:nvSpPr>
            <p:spPr bwMode="invGray">
              <a:xfrm flipH="1">
                <a:off x="1882" y="2864"/>
                <a:ext cx="72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80" name="Line 320"/>
              <p:cNvSpPr>
                <a:spLocks noChangeShapeType="1"/>
              </p:cNvSpPr>
              <p:nvPr/>
            </p:nvSpPr>
            <p:spPr bwMode="invGray">
              <a:xfrm flipH="1">
                <a:off x="1841" y="2849"/>
                <a:ext cx="67" cy="3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81" name="Line 321"/>
              <p:cNvSpPr>
                <a:spLocks noChangeShapeType="1"/>
              </p:cNvSpPr>
              <p:nvPr/>
            </p:nvSpPr>
            <p:spPr bwMode="invGray">
              <a:xfrm flipH="1">
                <a:off x="1798" y="2833"/>
                <a:ext cx="66" cy="3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82" name="Line 322"/>
              <p:cNvSpPr>
                <a:spLocks noChangeShapeType="1"/>
              </p:cNvSpPr>
              <p:nvPr/>
            </p:nvSpPr>
            <p:spPr bwMode="invGray">
              <a:xfrm flipH="1">
                <a:off x="1757" y="2818"/>
                <a:ext cx="64" cy="33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83" name="Line 323"/>
              <p:cNvSpPr>
                <a:spLocks noChangeShapeType="1"/>
              </p:cNvSpPr>
              <p:nvPr/>
            </p:nvSpPr>
            <p:spPr bwMode="invGray">
              <a:xfrm flipH="1">
                <a:off x="1722" y="2803"/>
                <a:ext cx="61" cy="36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84" name="Line 324"/>
              <p:cNvSpPr>
                <a:spLocks noChangeShapeType="1"/>
              </p:cNvSpPr>
              <p:nvPr/>
            </p:nvSpPr>
            <p:spPr bwMode="invGray">
              <a:xfrm flipH="1">
                <a:off x="1678" y="2782"/>
                <a:ext cx="59" cy="3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85" name="Freeform 325"/>
              <p:cNvSpPr>
                <a:spLocks/>
              </p:cNvSpPr>
              <p:nvPr/>
            </p:nvSpPr>
            <p:spPr bwMode="invGray">
              <a:xfrm>
                <a:off x="1132" y="3183"/>
                <a:ext cx="704" cy="365"/>
              </a:xfrm>
              <a:custGeom>
                <a:avLst/>
                <a:gdLst/>
                <a:ahLst/>
                <a:cxnLst>
                  <a:cxn ang="0">
                    <a:pos x="252" y="140"/>
                  </a:cxn>
                  <a:cxn ang="0">
                    <a:pos x="275" y="138"/>
                  </a:cxn>
                  <a:cxn ang="0">
                    <a:pos x="275" y="105"/>
                  </a:cxn>
                  <a:cxn ang="0">
                    <a:pos x="275" y="81"/>
                  </a:cxn>
                  <a:cxn ang="0">
                    <a:pos x="262" y="67"/>
                  </a:cxn>
                  <a:cxn ang="0">
                    <a:pos x="247" y="58"/>
                  </a:cxn>
                  <a:cxn ang="0">
                    <a:pos x="214" y="44"/>
                  </a:cxn>
                  <a:cxn ang="0">
                    <a:pos x="166" y="31"/>
                  </a:cxn>
                  <a:cxn ang="0">
                    <a:pos x="157" y="30"/>
                  </a:cxn>
                  <a:cxn ang="0">
                    <a:pos x="151" y="31"/>
                  </a:cxn>
                  <a:cxn ang="0">
                    <a:pos x="150" y="27"/>
                  </a:cxn>
                  <a:cxn ang="0">
                    <a:pos x="147" y="25"/>
                  </a:cxn>
                  <a:cxn ang="0">
                    <a:pos x="144" y="26"/>
                  </a:cxn>
                  <a:cxn ang="0">
                    <a:pos x="139" y="26"/>
                  </a:cxn>
                  <a:cxn ang="0">
                    <a:pos x="138" y="20"/>
                  </a:cxn>
                  <a:cxn ang="0">
                    <a:pos x="134" y="18"/>
                  </a:cxn>
                  <a:cxn ang="0">
                    <a:pos x="130" y="16"/>
                  </a:cxn>
                  <a:cxn ang="0">
                    <a:pos x="126" y="16"/>
                  </a:cxn>
                  <a:cxn ang="0">
                    <a:pos x="126" y="13"/>
                  </a:cxn>
                  <a:cxn ang="0">
                    <a:pos x="120" y="0"/>
                  </a:cxn>
                  <a:cxn ang="0">
                    <a:pos x="7" y="2"/>
                  </a:cxn>
                  <a:cxn ang="0">
                    <a:pos x="8" y="16"/>
                  </a:cxn>
                  <a:cxn ang="0">
                    <a:pos x="6" y="27"/>
                  </a:cxn>
                  <a:cxn ang="0">
                    <a:pos x="3" y="37"/>
                  </a:cxn>
                  <a:cxn ang="0">
                    <a:pos x="2" y="48"/>
                  </a:cxn>
                  <a:cxn ang="0">
                    <a:pos x="0" y="64"/>
                  </a:cxn>
                  <a:cxn ang="0">
                    <a:pos x="2" y="74"/>
                  </a:cxn>
                  <a:cxn ang="0">
                    <a:pos x="6" y="84"/>
                  </a:cxn>
                  <a:cxn ang="0">
                    <a:pos x="9" y="93"/>
                  </a:cxn>
                  <a:cxn ang="0">
                    <a:pos x="14" y="96"/>
                  </a:cxn>
                  <a:cxn ang="0">
                    <a:pos x="22" y="98"/>
                  </a:cxn>
                  <a:cxn ang="0">
                    <a:pos x="33" y="102"/>
                  </a:cxn>
                  <a:cxn ang="0">
                    <a:pos x="39" y="109"/>
                  </a:cxn>
                  <a:cxn ang="0">
                    <a:pos x="45" y="114"/>
                  </a:cxn>
                  <a:cxn ang="0">
                    <a:pos x="54" y="119"/>
                  </a:cxn>
                  <a:cxn ang="0">
                    <a:pos x="64" y="123"/>
                  </a:cxn>
                  <a:cxn ang="0">
                    <a:pos x="81" y="126"/>
                  </a:cxn>
                  <a:cxn ang="0">
                    <a:pos x="96" y="126"/>
                  </a:cxn>
                  <a:cxn ang="0">
                    <a:pos x="108" y="123"/>
                  </a:cxn>
                  <a:cxn ang="0">
                    <a:pos x="117" y="123"/>
                  </a:cxn>
                  <a:cxn ang="0">
                    <a:pos x="126" y="128"/>
                  </a:cxn>
                  <a:cxn ang="0">
                    <a:pos x="140" y="127"/>
                  </a:cxn>
                  <a:cxn ang="0">
                    <a:pos x="199" y="137"/>
                  </a:cxn>
                  <a:cxn ang="0">
                    <a:pos x="225" y="142"/>
                  </a:cxn>
                  <a:cxn ang="0">
                    <a:pos x="252" y="140"/>
                  </a:cxn>
                </a:cxnLst>
                <a:rect l="0" t="0" r="r" b="b"/>
                <a:pathLst>
                  <a:path w="276" h="143">
                    <a:moveTo>
                      <a:pt x="252" y="140"/>
                    </a:moveTo>
                    <a:lnTo>
                      <a:pt x="275" y="138"/>
                    </a:lnTo>
                    <a:lnTo>
                      <a:pt x="275" y="105"/>
                    </a:lnTo>
                    <a:lnTo>
                      <a:pt x="275" y="81"/>
                    </a:lnTo>
                    <a:lnTo>
                      <a:pt x="262" y="67"/>
                    </a:lnTo>
                    <a:lnTo>
                      <a:pt x="247" y="58"/>
                    </a:lnTo>
                    <a:lnTo>
                      <a:pt x="214" y="44"/>
                    </a:lnTo>
                    <a:lnTo>
                      <a:pt x="166" y="31"/>
                    </a:lnTo>
                    <a:lnTo>
                      <a:pt x="157" y="30"/>
                    </a:lnTo>
                    <a:lnTo>
                      <a:pt x="151" y="31"/>
                    </a:lnTo>
                    <a:lnTo>
                      <a:pt x="150" y="27"/>
                    </a:lnTo>
                    <a:lnTo>
                      <a:pt x="147" y="25"/>
                    </a:lnTo>
                    <a:lnTo>
                      <a:pt x="144" y="26"/>
                    </a:lnTo>
                    <a:lnTo>
                      <a:pt x="139" y="26"/>
                    </a:lnTo>
                    <a:lnTo>
                      <a:pt x="138" y="20"/>
                    </a:lnTo>
                    <a:lnTo>
                      <a:pt x="134" y="18"/>
                    </a:lnTo>
                    <a:lnTo>
                      <a:pt x="130" y="16"/>
                    </a:lnTo>
                    <a:lnTo>
                      <a:pt x="126" y="16"/>
                    </a:lnTo>
                    <a:lnTo>
                      <a:pt x="126" y="13"/>
                    </a:lnTo>
                    <a:lnTo>
                      <a:pt x="120" y="0"/>
                    </a:lnTo>
                    <a:lnTo>
                      <a:pt x="7" y="2"/>
                    </a:lnTo>
                    <a:lnTo>
                      <a:pt x="8" y="16"/>
                    </a:lnTo>
                    <a:lnTo>
                      <a:pt x="6" y="27"/>
                    </a:lnTo>
                    <a:lnTo>
                      <a:pt x="3" y="37"/>
                    </a:lnTo>
                    <a:lnTo>
                      <a:pt x="2" y="48"/>
                    </a:lnTo>
                    <a:lnTo>
                      <a:pt x="0" y="64"/>
                    </a:lnTo>
                    <a:lnTo>
                      <a:pt x="2" y="74"/>
                    </a:lnTo>
                    <a:lnTo>
                      <a:pt x="6" y="84"/>
                    </a:lnTo>
                    <a:lnTo>
                      <a:pt x="9" y="93"/>
                    </a:lnTo>
                    <a:lnTo>
                      <a:pt x="14" y="96"/>
                    </a:lnTo>
                    <a:lnTo>
                      <a:pt x="22" y="98"/>
                    </a:lnTo>
                    <a:lnTo>
                      <a:pt x="33" y="102"/>
                    </a:lnTo>
                    <a:lnTo>
                      <a:pt x="39" y="109"/>
                    </a:lnTo>
                    <a:lnTo>
                      <a:pt x="45" y="114"/>
                    </a:lnTo>
                    <a:lnTo>
                      <a:pt x="54" y="119"/>
                    </a:lnTo>
                    <a:lnTo>
                      <a:pt x="64" y="123"/>
                    </a:lnTo>
                    <a:lnTo>
                      <a:pt x="81" y="126"/>
                    </a:lnTo>
                    <a:lnTo>
                      <a:pt x="96" y="126"/>
                    </a:lnTo>
                    <a:lnTo>
                      <a:pt x="108" y="123"/>
                    </a:lnTo>
                    <a:lnTo>
                      <a:pt x="117" y="123"/>
                    </a:lnTo>
                    <a:lnTo>
                      <a:pt x="126" y="128"/>
                    </a:lnTo>
                    <a:lnTo>
                      <a:pt x="140" y="127"/>
                    </a:lnTo>
                    <a:lnTo>
                      <a:pt x="199" y="137"/>
                    </a:lnTo>
                    <a:lnTo>
                      <a:pt x="225" y="142"/>
                    </a:lnTo>
                    <a:lnTo>
                      <a:pt x="252" y="14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6" name="Freeform 326"/>
              <p:cNvSpPr>
                <a:spLocks/>
              </p:cNvSpPr>
              <p:nvPr/>
            </p:nvSpPr>
            <p:spPr bwMode="invGray">
              <a:xfrm>
                <a:off x="1145" y="3214"/>
                <a:ext cx="691" cy="329"/>
              </a:xfrm>
              <a:custGeom>
                <a:avLst/>
                <a:gdLst/>
                <a:ahLst/>
                <a:cxnLst>
                  <a:cxn ang="0">
                    <a:pos x="8" y="13"/>
                  </a:cxn>
                  <a:cxn ang="0">
                    <a:pos x="2" y="30"/>
                  </a:cxn>
                  <a:cxn ang="0">
                    <a:pos x="7" y="78"/>
                  </a:cxn>
                  <a:cxn ang="0">
                    <a:pos x="21" y="78"/>
                  </a:cxn>
                  <a:cxn ang="0">
                    <a:pos x="38" y="96"/>
                  </a:cxn>
                  <a:cxn ang="0">
                    <a:pos x="78" y="108"/>
                  </a:cxn>
                  <a:cxn ang="0">
                    <a:pos x="114" y="108"/>
                  </a:cxn>
                  <a:cxn ang="0">
                    <a:pos x="100" y="90"/>
                  </a:cxn>
                  <a:cxn ang="0">
                    <a:pos x="117" y="107"/>
                  </a:cxn>
                  <a:cxn ang="0">
                    <a:pos x="136" y="112"/>
                  </a:cxn>
                  <a:cxn ang="0">
                    <a:pos x="123" y="100"/>
                  </a:cxn>
                  <a:cxn ang="0">
                    <a:pos x="142" y="113"/>
                  </a:cxn>
                  <a:cxn ang="0">
                    <a:pos x="205" y="123"/>
                  </a:cxn>
                  <a:cxn ang="0">
                    <a:pos x="204" y="114"/>
                  </a:cxn>
                  <a:cxn ang="0">
                    <a:pos x="206" y="111"/>
                  </a:cxn>
                  <a:cxn ang="0">
                    <a:pos x="228" y="125"/>
                  </a:cxn>
                  <a:cxn ang="0">
                    <a:pos x="207" y="103"/>
                  </a:cxn>
                  <a:cxn ang="0">
                    <a:pos x="230" y="118"/>
                  </a:cxn>
                  <a:cxn ang="0">
                    <a:pos x="242" y="114"/>
                  </a:cxn>
                  <a:cxn ang="0">
                    <a:pos x="247" y="114"/>
                  </a:cxn>
                  <a:cxn ang="0">
                    <a:pos x="262" y="121"/>
                  </a:cxn>
                  <a:cxn ang="0">
                    <a:pos x="270" y="103"/>
                  </a:cxn>
                  <a:cxn ang="0">
                    <a:pos x="265" y="66"/>
                  </a:cxn>
                  <a:cxn ang="0">
                    <a:pos x="231" y="45"/>
                  </a:cxn>
                  <a:cxn ang="0">
                    <a:pos x="165" y="22"/>
                  </a:cxn>
                  <a:cxn ang="0">
                    <a:pos x="142" y="31"/>
                  </a:cxn>
                  <a:cxn ang="0">
                    <a:pos x="133" y="33"/>
                  </a:cxn>
                  <a:cxn ang="0">
                    <a:pos x="145" y="19"/>
                  </a:cxn>
                  <a:cxn ang="0">
                    <a:pos x="136" y="16"/>
                  </a:cxn>
                  <a:cxn ang="0">
                    <a:pos x="129" y="24"/>
                  </a:cxn>
                  <a:cxn ang="0">
                    <a:pos x="129" y="20"/>
                  </a:cxn>
                  <a:cxn ang="0">
                    <a:pos x="130" y="9"/>
                  </a:cxn>
                  <a:cxn ang="0">
                    <a:pos x="114" y="18"/>
                  </a:cxn>
                  <a:cxn ang="0">
                    <a:pos x="115" y="9"/>
                  </a:cxn>
                  <a:cxn ang="0">
                    <a:pos x="118" y="0"/>
                  </a:cxn>
                  <a:cxn ang="0">
                    <a:pos x="102" y="8"/>
                  </a:cxn>
                  <a:cxn ang="0">
                    <a:pos x="70" y="15"/>
                  </a:cxn>
                  <a:cxn ang="0">
                    <a:pos x="63" y="4"/>
                  </a:cxn>
                  <a:cxn ang="0">
                    <a:pos x="55" y="18"/>
                  </a:cxn>
                  <a:cxn ang="0">
                    <a:pos x="39" y="9"/>
                  </a:cxn>
                  <a:cxn ang="0">
                    <a:pos x="32" y="19"/>
                  </a:cxn>
                  <a:cxn ang="0">
                    <a:pos x="13" y="16"/>
                  </a:cxn>
                  <a:cxn ang="0">
                    <a:pos x="8" y="4"/>
                  </a:cxn>
                </a:cxnLst>
                <a:rect l="0" t="0" r="r" b="b"/>
                <a:pathLst>
                  <a:path w="271" h="129">
                    <a:moveTo>
                      <a:pt x="8" y="4"/>
                    </a:moveTo>
                    <a:lnTo>
                      <a:pt x="8" y="13"/>
                    </a:lnTo>
                    <a:lnTo>
                      <a:pt x="4" y="9"/>
                    </a:lnTo>
                    <a:lnTo>
                      <a:pt x="2" y="30"/>
                    </a:lnTo>
                    <a:lnTo>
                      <a:pt x="0" y="54"/>
                    </a:lnTo>
                    <a:lnTo>
                      <a:pt x="7" y="78"/>
                    </a:lnTo>
                    <a:lnTo>
                      <a:pt x="24" y="84"/>
                    </a:lnTo>
                    <a:lnTo>
                      <a:pt x="21" y="78"/>
                    </a:lnTo>
                    <a:lnTo>
                      <a:pt x="31" y="88"/>
                    </a:lnTo>
                    <a:lnTo>
                      <a:pt x="38" y="96"/>
                    </a:lnTo>
                    <a:lnTo>
                      <a:pt x="56" y="106"/>
                    </a:lnTo>
                    <a:lnTo>
                      <a:pt x="78" y="108"/>
                    </a:lnTo>
                    <a:lnTo>
                      <a:pt x="103" y="109"/>
                    </a:lnTo>
                    <a:lnTo>
                      <a:pt x="114" y="108"/>
                    </a:lnTo>
                    <a:lnTo>
                      <a:pt x="104" y="103"/>
                    </a:lnTo>
                    <a:lnTo>
                      <a:pt x="100" y="90"/>
                    </a:lnTo>
                    <a:lnTo>
                      <a:pt x="109" y="101"/>
                    </a:lnTo>
                    <a:lnTo>
                      <a:pt x="117" y="107"/>
                    </a:lnTo>
                    <a:lnTo>
                      <a:pt x="127" y="113"/>
                    </a:lnTo>
                    <a:lnTo>
                      <a:pt x="136" y="112"/>
                    </a:lnTo>
                    <a:lnTo>
                      <a:pt x="129" y="106"/>
                    </a:lnTo>
                    <a:lnTo>
                      <a:pt x="123" y="100"/>
                    </a:lnTo>
                    <a:lnTo>
                      <a:pt x="134" y="103"/>
                    </a:lnTo>
                    <a:lnTo>
                      <a:pt x="142" y="113"/>
                    </a:lnTo>
                    <a:lnTo>
                      <a:pt x="174" y="117"/>
                    </a:lnTo>
                    <a:lnTo>
                      <a:pt x="205" y="123"/>
                    </a:lnTo>
                    <a:lnTo>
                      <a:pt x="216" y="121"/>
                    </a:lnTo>
                    <a:lnTo>
                      <a:pt x="204" y="114"/>
                    </a:lnTo>
                    <a:lnTo>
                      <a:pt x="193" y="112"/>
                    </a:lnTo>
                    <a:lnTo>
                      <a:pt x="206" y="111"/>
                    </a:lnTo>
                    <a:lnTo>
                      <a:pt x="216" y="115"/>
                    </a:lnTo>
                    <a:lnTo>
                      <a:pt x="228" y="125"/>
                    </a:lnTo>
                    <a:lnTo>
                      <a:pt x="219" y="111"/>
                    </a:lnTo>
                    <a:lnTo>
                      <a:pt x="207" y="103"/>
                    </a:lnTo>
                    <a:lnTo>
                      <a:pt x="223" y="106"/>
                    </a:lnTo>
                    <a:lnTo>
                      <a:pt x="230" y="118"/>
                    </a:lnTo>
                    <a:lnTo>
                      <a:pt x="232" y="128"/>
                    </a:lnTo>
                    <a:lnTo>
                      <a:pt x="242" y="114"/>
                    </a:lnTo>
                    <a:lnTo>
                      <a:pt x="252" y="108"/>
                    </a:lnTo>
                    <a:lnTo>
                      <a:pt x="247" y="114"/>
                    </a:lnTo>
                    <a:lnTo>
                      <a:pt x="238" y="128"/>
                    </a:lnTo>
                    <a:lnTo>
                      <a:pt x="262" y="121"/>
                    </a:lnTo>
                    <a:lnTo>
                      <a:pt x="267" y="119"/>
                    </a:lnTo>
                    <a:lnTo>
                      <a:pt x="270" y="103"/>
                    </a:lnTo>
                    <a:lnTo>
                      <a:pt x="268" y="82"/>
                    </a:lnTo>
                    <a:lnTo>
                      <a:pt x="265" y="66"/>
                    </a:lnTo>
                    <a:lnTo>
                      <a:pt x="249" y="55"/>
                    </a:lnTo>
                    <a:lnTo>
                      <a:pt x="231" y="45"/>
                    </a:lnTo>
                    <a:lnTo>
                      <a:pt x="194" y="31"/>
                    </a:lnTo>
                    <a:lnTo>
                      <a:pt x="165" y="22"/>
                    </a:lnTo>
                    <a:lnTo>
                      <a:pt x="148" y="20"/>
                    </a:lnTo>
                    <a:lnTo>
                      <a:pt x="142" y="31"/>
                    </a:lnTo>
                    <a:lnTo>
                      <a:pt x="122" y="44"/>
                    </a:lnTo>
                    <a:lnTo>
                      <a:pt x="133" y="33"/>
                    </a:lnTo>
                    <a:lnTo>
                      <a:pt x="141" y="27"/>
                    </a:lnTo>
                    <a:lnTo>
                      <a:pt x="145" y="19"/>
                    </a:lnTo>
                    <a:lnTo>
                      <a:pt x="142" y="16"/>
                    </a:lnTo>
                    <a:lnTo>
                      <a:pt x="136" y="16"/>
                    </a:lnTo>
                    <a:lnTo>
                      <a:pt x="134" y="20"/>
                    </a:lnTo>
                    <a:lnTo>
                      <a:pt x="129" y="24"/>
                    </a:lnTo>
                    <a:lnTo>
                      <a:pt x="121" y="28"/>
                    </a:lnTo>
                    <a:lnTo>
                      <a:pt x="129" y="20"/>
                    </a:lnTo>
                    <a:lnTo>
                      <a:pt x="133" y="14"/>
                    </a:lnTo>
                    <a:lnTo>
                      <a:pt x="130" y="9"/>
                    </a:lnTo>
                    <a:lnTo>
                      <a:pt x="122" y="8"/>
                    </a:lnTo>
                    <a:lnTo>
                      <a:pt x="114" y="18"/>
                    </a:lnTo>
                    <a:lnTo>
                      <a:pt x="104" y="24"/>
                    </a:lnTo>
                    <a:lnTo>
                      <a:pt x="115" y="9"/>
                    </a:lnTo>
                    <a:lnTo>
                      <a:pt x="118" y="3"/>
                    </a:lnTo>
                    <a:lnTo>
                      <a:pt x="118" y="0"/>
                    </a:lnTo>
                    <a:lnTo>
                      <a:pt x="110" y="1"/>
                    </a:lnTo>
                    <a:lnTo>
                      <a:pt x="102" y="8"/>
                    </a:lnTo>
                    <a:lnTo>
                      <a:pt x="96" y="13"/>
                    </a:lnTo>
                    <a:lnTo>
                      <a:pt x="70" y="15"/>
                    </a:lnTo>
                    <a:lnTo>
                      <a:pt x="70" y="8"/>
                    </a:lnTo>
                    <a:lnTo>
                      <a:pt x="63" y="4"/>
                    </a:lnTo>
                    <a:lnTo>
                      <a:pt x="63" y="14"/>
                    </a:lnTo>
                    <a:lnTo>
                      <a:pt x="55" y="18"/>
                    </a:lnTo>
                    <a:lnTo>
                      <a:pt x="38" y="19"/>
                    </a:lnTo>
                    <a:lnTo>
                      <a:pt x="39" y="9"/>
                    </a:lnTo>
                    <a:lnTo>
                      <a:pt x="33" y="9"/>
                    </a:lnTo>
                    <a:lnTo>
                      <a:pt x="32" y="19"/>
                    </a:lnTo>
                    <a:lnTo>
                      <a:pt x="24" y="19"/>
                    </a:lnTo>
                    <a:lnTo>
                      <a:pt x="13" y="16"/>
                    </a:lnTo>
                    <a:lnTo>
                      <a:pt x="13" y="8"/>
                    </a:lnTo>
                    <a:lnTo>
                      <a:pt x="8" y="4"/>
                    </a:lnTo>
                  </a:path>
                </a:pathLst>
              </a:custGeom>
              <a:solidFill>
                <a:srgbClr val="80808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7" name="Freeform 327"/>
              <p:cNvSpPr>
                <a:spLocks/>
              </p:cNvSpPr>
              <p:nvPr/>
            </p:nvSpPr>
            <p:spPr bwMode="invGray">
              <a:xfrm>
                <a:off x="1237" y="3336"/>
                <a:ext cx="97" cy="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20"/>
                  </a:cxn>
                  <a:cxn ang="0">
                    <a:pos x="37" y="15"/>
                  </a:cxn>
                  <a:cxn ang="0">
                    <a:pos x="0" y="0"/>
                  </a:cxn>
                </a:cxnLst>
                <a:rect l="0" t="0" r="r" b="b"/>
                <a:pathLst>
                  <a:path w="38" h="21">
                    <a:moveTo>
                      <a:pt x="0" y="0"/>
                    </a:moveTo>
                    <a:lnTo>
                      <a:pt x="17" y="20"/>
                    </a:lnTo>
                    <a:lnTo>
                      <a:pt x="37" y="1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60606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8" name="Freeform 328"/>
              <p:cNvSpPr>
                <a:spLocks/>
              </p:cNvSpPr>
              <p:nvPr/>
            </p:nvSpPr>
            <p:spPr bwMode="invGray">
              <a:xfrm>
                <a:off x="1145" y="3303"/>
                <a:ext cx="61" cy="5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3"/>
                  </a:cxn>
                  <a:cxn ang="0">
                    <a:pos x="23" y="19"/>
                  </a:cxn>
                  <a:cxn ang="0">
                    <a:pos x="4" y="19"/>
                  </a:cxn>
                  <a:cxn ang="0">
                    <a:pos x="0" y="0"/>
                  </a:cxn>
                </a:cxnLst>
                <a:rect l="0" t="0" r="r" b="b"/>
                <a:pathLst>
                  <a:path w="24" h="20">
                    <a:moveTo>
                      <a:pt x="0" y="0"/>
                    </a:moveTo>
                    <a:lnTo>
                      <a:pt x="6" y="13"/>
                    </a:lnTo>
                    <a:lnTo>
                      <a:pt x="23" y="19"/>
                    </a:lnTo>
                    <a:lnTo>
                      <a:pt x="4" y="1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60606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89" name="Freeform 329"/>
              <p:cNvSpPr>
                <a:spLocks/>
              </p:cNvSpPr>
              <p:nvPr/>
            </p:nvSpPr>
            <p:spPr bwMode="invGray">
              <a:xfrm>
                <a:off x="1385" y="3285"/>
                <a:ext cx="91" cy="6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2"/>
                  </a:cxn>
                  <a:cxn ang="0">
                    <a:pos x="19" y="4"/>
                  </a:cxn>
                  <a:cxn ang="0">
                    <a:pos x="19" y="12"/>
                  </a:cxn>
                  <a:cxn ang="0">
                    <a:pos x="19" y="19"/>
                  </a:cxn>
                  <a:cxn ang="0">
                    <a:pos x="35" y="23"/>
                  </a:cxn>
                  <a:cxn ang="0">
                    <a:pos x="16" y="21"/>
                  </a:cxn>
                  <a:cxn ang="0">
                    <a:pos x="13" y="8"/>
                  </a:cxn>
                  <a:cxn ang="0">
                    <a:pos x="0" y="0"/>
                  </a:cxn>
                </a:cxnLst>
                <a:rect l="0" t="0" r="r" b="b"/>
                <a:pathLst>
                  <a:path w="36" h="24">
                    <a:moveTo>
                      <a:pt x="0" y="0"/>
                    </a:moveTo>
                    <a:lnTo>
                      <a:pt x="15" y="2"/>
                    </a:lnTo>
                    <a:lnTo>
                      <a:pt x="19" y="4"/>
                    </a:lnTo>
                    <a:lnTo>
                      <a:pt x="19" y="12"/>
                    </a:lnTo>
                    <a:lnTo>
                      <a:pt x="19" y="19"/>
                    </a:lnTo>
                    <a:lnTo>
                      <a:pt x="35" y="23"/>
                    </a:lnTo>
                    <a:lnTo>
                      <a:pt x="16" y="21"/>
                    </a:lnTo>
                    <a:lnTo>
                      <a:pt x="13" y="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60606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0" name="Freeform 330"/>
              <p:cNvSpPr>
                <a:spLocks/>
              </p:cNvSpPr>
              <p:nvPr/>
            </p:nvSpPr>
            <p:spPr bwMode="invGray">
              <a:xfrm>
                <a:off x="1476" y="3413"/>
                <a:ext cx="286" cy="8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" y="1"/>
                  </a:cxn>
                  <a:cxn ang="0">
                    <a:pos x="57" y="9"/>
                  </a:cxn>
                  <a:cxn ang="0">
                    <a:pos x="78" y="11"/>
                  </a:cxn>
                  <a:cxn ang="0">
                    <a:pos x="96" y="14"/>
                  </a:cxn>
                  <a:cxn ang="0">
                    <a:pos x="102" y="25"/>
                  </a:cxn>
                  <a:cxn ang="0">
                    <a:pos x="111" y="33"/>
                  </a:cxn>
                  <a:cxn ang="0">
                    <a:pos x="102" y="30"/>
                  </a:cxn>
                  <a:cxn ang="0">
                    <a:pos x="95" y="18"/>
                  </a:cxn>
                  <a:cxn ang="0">
                    <a:pos x="71" y="12"/>
                  </a:cxn>
                  <a:cxn ang="0">
                    <a:pos x="57" y="12"/>
                  </a:cxn>
                  <a:cxn ang="0">
                    <a:pos x="46" y="9"/>
                  </a:cxn>
                  <a:cxn ang="0">
                    <a:pos x="26" y="2"/>
                  </a:cxn>
                  <a:cxn ang="0">
                    <a:pos x="0" y="0"/>
                  </a:cxn>
                </a:cxnLst>
                <a:rect l="0" t="0" r="r" b="b"/>
                <a:pathLst>
                  <a:path w="112" h="34">
                    <a:moveTo>
                      <a:pt x="0" y="0"/>
                    </a:moveTo>
                    <a:lnTo>
                      <a:pt x="28" y="1"/>
                    </a:lnTo>
                    <a:lnTo>
                      <a:pt x="57" y="9"/>
                    </a:lnTo>
                    <a:lnTo>
                      <a:pt x="78" y="11"/>
                    </a:lnTo>
                    <a:lnTo>
                      <a:pt x="96" y="14"/>
                    </a:lnTo>
                    <a:lnTo>
                      <a:pt x="102" y="25"/>
                    </a:lnTo>
                    <a:lnTo>
                      <a:pt x="111" y="33"/>
                    </a:lnTo>
                    <a:lnTo>
                      <a:pt x="102" y="30"/>
                    </a:lnTo>
                    <a:lnTo>
                      <a:pt x="95" y="18"/>
                    </a:lnTo>
                    <a:lnTo>
                      <a:pt x="71" y="12"/>
                    </a:lnTo>
                    <a:lnTo>
                      <a:pt x="57" y="12"/>
                    </a:lnTo>
                    <a:lnTo>
                      <a:pt x="46" y="9"/>
                    </a:lnTo>
                    <a:lnTo>
                      <a:pt x="26" y="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60606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1" name="Freeform 331"/>
              <p:cNvSpPr>
                <a:spLocks/>
              </p:cNvSpPr>
              <p:nvPr/>
            </p:nvSpPr>
            <p:spPr bwMode="invGray">
              <a:xfrm>
                <a:off x="1461" y="2791"/>
                <a:ext cx="255" cy="148"/>
              </a:xfrm>
              <a:custGeom>
                <a:avLst/>
                <a:gdLst/>
                <a:ahLst/>
                <a:cxnLst>
                  <a:cxn ang="0">
                    <a:pos x="10" y="57"/>
                  </a:cxn>
                  <a:cxn ang="0">
                    <a:pos x="15" y="57"/>
                  </a:cxn>
                  <a:cxn ang="0">
                    <a:pos x="20" y="53"/>
                  </a:cxn>
                  <a:cxn ang="0">
                    <a:pos x="26" y="52"/>
                  </a:cxn>
                  <a:cxn ang="0">
                    <a:pos x="33" y="53"/>
                  </a:cxn>
                  <a:cxn ang="0">
                    <a:pos x="40" y="53"/>
                  </a:cxn>
                  <a:cxn ang="0">
                    <a:pos x="44" y="52"/>
                  </a:cxn>
                  <a:cxn ang="0">
                    <a:pos x="47" y="51"/>
                  </a:cxn>
                  <a:cxn ang="0">
                    <a:pos x="51" y="48"/>
                  </a:cxn>
                  <a:cxn ang="0">
                    <a:pos x="54" y="45"/>
                  </a:cxn>
                  <a:cxn ang="0">
                    <a:pos x="57" y="41"/>
                  </a:cxn>
                  <a:cxn ang="0">
                    <a:pos x="62" y="36"/>
                  </a:cxn>
                  <a:cxn ang="0">
                    <a:pos x="67" y="39"/>
                  </a:cxn>
                  <a:cxn ang="0">
                    <a:pos x="72" y="39"/>
                  </a:cxn>
                  <a:cxn ang="0">
                    <a:pos x="73" y="38"/>
                  </a:cxn>
                  <a:cxn ang="0">
                    <a:pos x="76" y="36"/>
                  </a:cxn>
                  <a:cxn ang="0">
                    <a:pos x="77" y="35"/>
                  </a:cxn>
                  <a:cxn ang="0">
                    <a:pos x="76" y="33"/>
                  </a:cxn>
                  <a:cxn ang="0">
                    <a:pos x="73" y="30"/>
                  </a:cxn>
                  <a:cxn ang="0">
                    <a:pos x="72" y="29"/>
                  </a:cxn>
                  <a:cxn ang="0">
                    <a:pos x="66" y="28"/>
                  </a:cxn>
                  <a:cxn ang="0">
                    <a:pos x="60" y="26"/>
                  </a:cxn>
                  <a:cxn ang="0">
                    <a:pos x="65" y="21"/>
                  </a:cxn>
                  <a:cxn ang="0">
                    <a:pos x="71" y="19"/>
                  </a:cxn>
                  <a:cxn ang="0">
                    <a:pos x="77" y="19"/>
                  </a:cxn>
                  <a:cxn ang="0">
                    <a:pos x="83" y="19"/>
                  </a:cxn>
                  <a:cxn ang="0">
                    <a:pos x="88" y="20"/>
                  </a:cxn>
                  <a:cxn ang="0">
                    <a:pos x="93" y="20"/>
                  </a:cxn>
                  <a:cxn ang="0">
                    <a:pos x="94" y="19"/>
                  </a:cxn>
                  <a:cxn ang="0">
                    <a:pos x="94" y="15"/>
                  </a:cxn>
                  <a:cxn ang="0">
                    <a:pos x="96" y="15"/>
                  </a:cxn>
                  <a:cxn ang="0">
                    <a:pos x="99" y="15"/>
                  </a:cxn>
                  <a:cxn ang="0">
                    <a:pos x="99" y="14"/>
                  </a:cxn>
                  <a:cxn ang="0">
                    <a:pos x="99" y="10"/>
                  </a:cxn>
                  <a:cxn ang="0">
                    <a:pos x="97" y="10"/>
                  </a:cxn>
                  <a:cxn ang="0">
                    <a:pos x="95" y="9"/>
                  </a:cxn>
                  <a:cxn ang="0">
                    <a:pos x="93" y="7"/>
                  </a:cxn>
                  <a:cxn ang="0">
                    <a:pos x="90" y="4"/>
                  </a:cxn>
                  <a:cxn ang="0">
                    <a:pos x="88" y="4"/>
                  </a:cxn>
                  <a:cxn ang="0">
                    <a:pos x="85" y="4"/>
                  </a:cxn>
                  <a:cxn ang="0">
                    <a:pos x="72" y="1"/>
                  </a:cxn>
                  <a:cxn ang="0">
                    <a:pos x="70" y="0"/>
                  </a:cxn>
                  <a:cxn ang="0">
                    <a:pos x="67" y="0"/>
                  </a:cxn>
                  <a:cxn ang="0">
                    <a:pos x="64" y="0"/>
                  </a:cxn>
                  <a:cxn ang="0">
                    <a:pos x="60" y="2"/>
                  </a:cxn>
                  <a:cxn ang="0">
                    <a:pos x="51" y="9"/>
                  </a:cxn>
                  <a:cxn ang="0">
                    <a:pos x="45" y="10"/>
                  </a:cxn>
                  <a:cxn ang="0">
                    <a:pos x="41" y="10"/>
                  </a:cxn>
                  <a:cxn ang="0">
                    <a:pos x="38" y="14"/>
                  </a:cxn>
                  <a:cxn ang="0">
                    <a:pos x="35" y="16"/>
                  </a:cxn>
                  <a:cxn ang="0">
                    <a:pos x="27" y="23"/>
                  </a:cxn>
                  <a:cxn ang="0">
                    <a:pos x="22" y="26"/>
                  </a:cxn>
                  <a:cxn ang="0">
                    <a:pos x="17" y="33"/>
                  </a:cxn>
                  <a:cxn ang="0">
                    <a:pos x="15" y="35"/>
                  </a:cxn>
                  <a:cxn ang="0">
                    <a:pos x="0" y="35"/>
                  </a:cxn>
                  <a:cxn ang="0">
                    <a:pos x="10" y="57"/>
                  </a:cxn>
                </a:cxnLst>
                <a:rect l="0" t="0" r="r" b="b"/>
                <a:pathLst>
                  <a:path w="100" h="58">
                    <a:moveTo>
                      <a:pt x="10" y="57"/>
                    </a:moveTo>
                    <a:lnTo>
                      <a:pt x="15" y="57"/>
                    </a:lnTo>
                    <a:lnTo>
                      <a:pt x="20" y="53"/>
                    </a:lnTo>
                    <a:lnTo>
                      <a:pt x="26" y="52"/>
                    </a:lnTo>
                    <a:lnTo>
                      <a:pt x="33" y="53"/>
                    </a:lnTo>
                    <a:lnTo>
                      <a:pt x="40" y="53"/>
                    </a:lnTo>
                    <a:lnTo>
                      <a:pt x="44" y="52"/>
                    </a:lnTo>
                    <a:lnTo>
                      <a:pt x="47" y="51"/>
                    </a:lnTo>
                    <a:lnTo>
                      <a:pt x="51" y="48"/>
                    </a:lnTo>
                    <a:lnTo>
                      <a:pt x="54" y="45"/>
                    </a:lnTo>
                    <a:lnTo>
                      <a:pt x="57" y="41"/>
                    </a:lnTo>
                    <a:lnTo>
                      <a:pt x="62" y="36"/>
                    </a:lnTo>
                    <a:lnTo>
                      <a:pt x="67" y="39"/>
                    </a:lnTo>
                    <a:lnTo>
                      <a:pt x="72" y="39"/>
                    </a:lnTo>
                    <a:lnTo>
                      <a:pt x="73" y="38"/>
                    </a:lnTo>
                    <a:lnTo>
                      <a:pt x="76" y="36"/>
                    </a:lnTo>
                    <a:lnTo>
                      <a:pt x="77" y="35"/>
                    </a:lnTo>
                    <a:lnTo>
                      <a:pt x="76" y="33"/>
                    </a:lnTo>
                    <a:lnTo>
                      <a:pt x="73" y="30"/>
                    </a:lnTo>
                    <a:lnTo>
                      <a:pt x="72" y="29"/>
                    </a:lnTo>
                    <a:lnTo>
                      <a:pt x="66" y="28"/>
                    </a:lnTo>
                    <a:lnTo>
                      <a:pt x="60" y="26"/>
                    </a:lnTo>
                    <a:lnTo>
                      <a:pt x="65" y="21"/>
                    </a:lnTo>
                    <a:lnTo>
                      <a:pt x="71" y="19"/>
                    </a:lnTo>
                    <a:lnTo>
                      <a:pt x="77" y="19"/>
                    </a:lnTo>
                    <a:lnTo>
                      <a:pt x="83" y="19"/>
                    </a:lnTo>
                    <a:lnTo>
                      <a:pt x="88" y="20"/>
                    </a:lnTo>
                    <a:lnTo>
                      <a:pt x="93" y="20"/>
                    </a:lnTo>
                    <a:lnTo>
                      <a:pt x="94" y="19"/>
                    </a:lnTo>
                    <a:lnTo>
                      <a:pt x="94" y="15"/>
                    </a:lnTo>
                    <a:lnTo>
                      <a:pt x="96" y="15"/>
                    </a:lnTo>
                    <a:lnTo>
                      <a:pt x="99" y="15"/>
                    </a:lnTo>
                    <a:lnTo>
                      <a:pt x="99" y="14"/>
                    </a:lnTo>
                    <a:lnTo>
                      <a:pt x="99" y="10"/>
                    </a:lnTo>
                    <a:lnTo>
                      <a:pt x="97" y="10"/>
                    </a:lnTo>
                    <a:lnTo>
                      <a:pt x="95" y="9"/>
                    </a:lnTo>
                    <a:lnTo>
                      <a:pt x="93" y="7"/>
                    </a:lnTo>
                    <a:lnTo>
                      <a:pt x="90" y="4"/>
                    </a:lnTo>
                    <a:lnTo>
                      <a:pt x="88" y="4"/>
                    </a:lnTo>
                    <a:lnTo>
                      <a:pt x="85" y="4"/>
                    </a:lnTo>
                    <a:lnTo>
                      <a:pt x="72" y="1"/>
                    </a:lnTo>
                    <a:lnTo>
                      <a:pt x="70" y="0"/>
                    </a:lnTo>
                    <a:lnTo>
                      <a:pt x="67" y="0"/>
                    </a:lnTo>
                    <a:lnTo>
                      <a:pt x="64" y="0"/>
                    </a:lnTo>
                    <a:lnTo>
                      <a:pt x="60" y="2"/>
                    </a:lnTo>
                    <a:lnTo>
                      <a:pt x="51" y="9"/>
                    </a:lnTo>
                    <a:lnTo>
                      <a:pt x="45" y="10"/>
                    </a:lnTo>
                    <a:lnTo>
                      <a:pt x="41" y="10"/>
                    </a:lnTo>
                    <a:lnTo>
                      <a:pt x="38" y="14"/>
                    </a:lnTo>
                    <a:lnTo>
                      <a:pt x="35" y="16"/>
                    </a:lnTo>
                    <a:lnTo>
                      <a:pt x="27" y="23"/>
                    </a:lnTo>
                    <a:lnTo>
                      <a:pt x="22" y="26"/>
                    </a:lnTo>
                    <a:lnTo>
                      <a:pt x="17" y="33"/>
                    </a:lnTo>
                    <a:lnTo>
                      <a:pt x="15" y="35"/>
                    </a:lnTo>
                    <a:lnTo>
                      <a:pt x="0" y="35"/>
                    </a:lnTo>
                    <a:lnTo>
                      <a:pt x="10" y="57"/>
                    </a:lnTo>
                  </a:path>
                </a:pathLst>
              </a:custGeom>
              <a:solidFill>
                <a:srgbClr val="FFC080"/>
              </a:solidFill>
              <a:ln w="12700" cap="rnd" cmpd="sng">
                <a:solidFill>
                  <a:srgbClr val="402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2" name="Freeform 332"/>
              <p:cNvSpPr>
                <a:spLocks/>
              </p:cNvSpPr>
              <p:nvPr/>
            </p:nvSpPr>
            <p:spPr bwMode="invGray">
              <a:xfrm>
                <a:off x="1558" y="2857"/>
                <a:ext cx="61" cy="52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23" y="5"/>
                  </a:cxn>
                  <a:cxn ang="0">
                    <a:pos x="18" y="2"/>
                  </a:cxn>
                  <a:cxn ang="0">
                    <a:pos x="16" y="5"/>
                  </a:cxn>
                  <a:cxn ang="0">
                    <a:pos x="13" y="14"/>
                  </a:cxn>
                  <a:cxn ang="0">
                    <a:pos x="8" y="16"/>
                  </a:cxn>
                  <a:cxn ang="0">
                    <a:pos x="3" y="16"/>
                  </a:cxn>
                  <a:cxn ang="0">
                    <a:pos x="0" y="19"/>
                  </a:cxn>
                  <a:cxn ang="0">
                    <a:pos x="3" y="14"/>
                  </a:cxn>
                  <a:cxn ang="0">
                    <a:pos x="7" y="14"/>
                  </a:cxn>
                  <a:cxn ang="0">
                    <a:pos x="9" y="14"/>
                  </a:cxn>
                  <a:cxn ang="0">
                    <a:pos x="13" y="8"/>
                  </a:cxn>
                  <a:cxn ang="0">
                    <a:pos x="16" y="2"/>
                  </a:cxn>
                  <a:cxn ang="0">
                    <a:pos x="18" y="0"/>
                  </a:cxn>
                  <a:cxn ang="0">
                    <a:pos x="23" y="0"/>
                  </a:cxn>
                </a:cxnLst>
                <a:rect l="0" t="0" r="r" b="b"/>
                <a:pathLst>
                  <a:path w="24" h="20">
                    <a:moveTo>
                      <a:pt x="23" y="0"/>
                    </a:moveTo>
                    <a:lnTo>
                      <a:pt x="23" y="5"/>
                    </a:lnTo>
                    <a:lnTo>
                      <a:pt x="18" y="2"/>
                    </a:lnTo>
                    <a:lnTo>
                      <a:pt x="16" y="5"/>
                    </a:lnTo>
                    <a:lnTo>
                      <a:pt x="13" y="14"/>
                    </a:lnTo>
                    <a:lnTo>
                      <a:pt x="8" y="16"/>
                    </a:lnTo>
                    <a:lnTo>
                      <a:pt x="3" y="16"/>
                    </a:lnTo>
                    <a:lnTo>
                      <a:pt x="0" y="19"/>
                    </a:lnTo>
                    <a:lnTo>
                      <a:pt x="3" y="14"/>
                    </a:lnTo>
                    <a:lnTo>
                      <a:pt x="7" y="14"/>
                    </a:lnTo>
                    <a:lnTo>
                      <a:pt x="9" y="14"/>
                    </a:lnTo>
                    <a:lnTo>
                      <a:pt x="13" y="8"/>
                    </a:lnTo>
                    <a:lnTo>
                      <a:pt x="16" y="2"/>
                    </a:lnTo>
                    <a:lnTo>
                      <a:pt x="18" y="0"/>
                    </a:lnTo>
                    <a:lnTo>
                      <a:pt x="23" y="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3" name="Freeform 333"/>
              <p:cNvSpPr>
                <a:spLocks/>
              </p:cNvSpPr>
              <p:nvPr/>
            </p:nvSpPr>
            <p:spPr bwMode="invGray">
              <a:xfrm>
                <a:off x="1599" y="2806"/>
                <a:ext cx="61" cy="51"/>
              </a:xfrm>
              <a:custGeom>
                <a:avLst/>
                <a:gdLst/>
                <a:ahLst/>
                <a:cxnLst>
                  <a:cxn ang="0">
                    <a:pos x="23" y="5"/>
                  </a:cxn>
                  <a:cxn ang="0">
                    <a:pos x="16" y="2"/>
                  </a:cxn>
                  <a:cxn ang="0">
                    <a:pos x="14" y="0"/>
                  </a:cxn>
                  <a:cxn ang="0">
                    <a:pos x="13" y="0"/>
                  </a:cxn>
                  <a:cxn ang="0">
                    <a:pos x="10" y="2"/>
                  </a:cxn>
                  <a:cxn ang="0">
                    <a:pos x="9" y="8"/>
                  </a:cxn>
                  <a:cxn ang="0">
                    <a:pos x="6" y="10"/>
                  </a:cxn>
                  <a:cxn ang="0">
                    <a:pos x="2" y="16"/>
                  </a:cxn>
                  <a:cxn ang="0">
                    <a:pos x="0" y="16"/>
                  </a:cxn>
                  <a:cxn ang="0">
                    <a:pos x="2" y="19"/>
                  </a:cxn>
                  <a:cxn ang="0">
                    <a:pos x="4" y="19"/>
                  </a:cxn>
                  <a:cxn ang="0">
                    <a:pos x="9" y="10"/>
                  </a:cxn>
                  <a:cxn ang="0">
                    <a:pos x="10" y="5"/>
                  </a:cxn>
                  <a:cxn ang="0">
                    <a:pos x="14" y="5"/>
                  </a:cxn>
                  <a:cxn ang="0">
                    <a:pos x="16" y="5"/>
                  </a:cxn>
                  <a:cxn ang="0">
                    <a:pos x="23" y="5"/>
                  </a:cxn>
                </a:cxnLst>
                <a:rect l="0" t="0" r="r" b="b"/>
                <a:pathLst>
                  <a:path w="24" h="20">
                    <a:moveTo>
                      <a:pt x="23" y="5"/>
                    </a:moveTo>
                    <a:lnTo>
                      <a:pt x="16" y="2"/>
                    </a:lnTo>
                    <a:lnTo>
                      <a:pt x="14" y="0"/>
                    </a:lnTo>
                    <a:lnTo>
                      <a:pt x="13" y="0"/>
                    </a:lnTo>
                    <a:lnTo>
                      <a:pt x="10" y="2"/>
                    </a:lnTo>
                    <a:lnTo>
                      <a:pt x="9" y="8"/>
                    </a:lnTo>
                    <a:lnTo>
                      <a:pt x="6" y="10"/>
                    </a:lnTo>
                    <a:lnTo>
                      <a:pt x="2" y="16"/>
                    </a:lnTo>
                    <a:lnTo>
                      <a:pt x="0" y="16"/>
                    </a:lnTo>
                    <a:lnTo>
                      <a:pt x="2" y="19"/>
                    </a:lnTo>
                    <a:lnTo>
                      <a:pt x="4" y="19"/>
                    </a:lnTo>
                    <a:lnTo>
                      <a:pt x="9" y="10"/>
                    </a:lnTo>
                    <a:lnTo>
                      <a:pt x="10" y="5"/>
                    </a:lnTo>
                    <a:lnTo>
                      <a:pt x="14" y="5"/>
                    </a:lnTo>
                    <a:lnTo>
                      <a:pt x="16" y="5"/>
                    </a:lnTo>
                    <a:lnTo>
                      <a:pt x="23" y="5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4" name="Freeform 334"/>
              <p:cNvSpPr>
                <a:spLocks/>
              </p:cNvSpPr>
              <p:nvPr/>
            </p:nvSpPr>
            <p:spPr bwMode="invGray">
              <a:xfrm>
                <a:off x="1651" y="2785"/>
                <a:ext cx="51" cy="52"/>
              </a:xfrm>
              <a:custGeom>
                <a:avLst/>
                <a:gdLst/>
                <a:ahLst/>
                <a:cxnLst>
                  <a:cxn ang="0">
                    <a:pos x="0" y="9"/>
                  </a:cxn>
                  <a:cxn ang="0">
                    <a:pos x="5" y="0"/>
                  </a:cxn>
                  <a:cxn ang="0">
                    <a:pos x="5" y="9"/>
                  </a:cxn>
                  <a:cxn ang="0">
                    <a:pos x="19" y="19"/>
                  </a:cxn>
                  <a:cxn ang="0">
                    <a:pos x="15" y="19"/>
                  </a:cxn>
                  <a:cxn ang="0">
                    <a:pos x="0" y="9"/>
                  </a:cxn>
                </a:cxnLst>
                <a:rect l="0" t="0" r="r" b="b"/>
                <a:pathLst>
                  <a:path w="20" h="20">
                    <a:moveTo>
                      <a:pt x="0" y="9"/>
                    </a:moveTo>
                    <a:lnTo>
                      <a:pt x="5" y="0"/>
                    </a:lnTo>
                    <a:lnTo>
                      <a:pt x="5" y="9"/>
                    </a:lnTo>
                    <a:lnTo>
                      <a:pt x="19" y="19"/>
                    </a:lnTo>
                    <a:lnTo>
                      <a:pt x="15" y="19"/>
                    </a:lnTo>
                    <a:lnTo>
                      <a:pt x="0" y="9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5" name="Freeform 335"/>
              <p:cNvSpPr>
                <a:spLocks/>
              </p:cNvSpPr>
              <p:nvPr/>
            </p:nvSpPr>
            <p:spPr bwMode="invGray">
              <a:xfrm>
                <a:off x="1474" y="2901"/>
                <a:ext cx="51" cy="5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" y="5"/>
                  </a:cxn>
                  <a:cxn ang="0">
                    <a:pos x="19" y="19"/>
                  </a:cxn>
                  <a:cxn ang="0">
                    <a:pos x="0" y="0"/>
                  </a:cxn>
                </a:cxnLst>
                <a:rect l="0" t="0" r="r" b="b"/>
                <a:pathLst>
                  <a:path w="20" h="20">
                    <a:moveTo>
                      <a:pt x="0" y="0"/>
                    </a:moveTo>
                    <a:lnTo>
                      <a:pt x="11" y="5"/>
                    </a:lnTo>
                    <a:lnTo>
                      <a:pt x="19" y="1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6" name="Freeform 336"/>
              <p:cNvSpPr>
                <a:spLocks/>
              </p:cNvSpPr>
              <p:nvPr/>
            </p:nvSpPr>
            <p:spPr bwMode="invGray">
              <a:xfrm>
                <a:off x="1425" y="2870"/>
                <a:ext cx="79" cy="107"/>
              </a:xfrm>
              <a:custGeom>
                <a:avLst/>
                <a:gdLst/>
                <a:ahLst/>
                <a:cxnLst>
                  <a:cxn ang="0">
                    <a:pos x="20" y="2"/>
                  </a:cxn>
                  <a:cxn ang="0">
                    <a:pos x="24" y="8"/>
                  </a:cxn>
                  <a:cxn ang="0">
                    <a:pos x="26" y="13"/>
                  </a:cxn>
                  <a:cxn ang="0">
                    <a:pos x="28" y="21"/>
                  </a:cxn>
                  <a:cxn ang="0">
                    <a:pos x="28" y="25"/>
                  </a:cxn>
                  <a:cxn ang="0">
                    <a:pos x="30" y="32"/>
                  </a:cxn>
                  <a:cxn ang="0">
                    <a:pos x="6" y="41"/>
                  </a:cxn>
                  <a:cxn ang="0">
                    <a:pos x="0" y="0"/>
                  </a:cxn>
                  <a:cxn ang="0">
                    <a:pos x="10" y="2"/>
                  </a:cxn>
                  <a:cxn ang="0">
                    <a:pos x="20" y="2"/>
                  </a:cxn>
                </a:cxnLst>
                <a:rect l="0" t="0" r="r" b="b"/>
                <a:pathLst>
                  <a:path w="31" h="42">
                    <a:moveTo>
                      <a:pt x="20" y="2"/>
                    </a:moveTo>
                    <a:lnTo>
                      <a:pt x="24" y="8"/>
                    </a:lnTo>
                    <a:lnTo>
                      <a:pt x="26" y="13"/>
                    </a:lnTo>
                    <a:lnTo>
                      <a:pt x="28" y="21"/>
                    </a:lnTo>
                    <a:lnTo>
                      <a:pt x="28" y="25"/>
                    </a:lnTo>
                    <a:lnTo>
                      <a:pt x="30" y="32"/>
                    </a:lnTo>
                    <a:lnTo>
                      <a:pt x="6" y="41"/>
                    </a:lnTo>
                    <a:lnTo>
                      <a:pt x="0" y="0"/>
                    </a:lnTo>
                    <a:lnTo>
                      <a:pt x="10" y="2"/>
                    </a:lnTo>
                    <a:lnTo>
                      <a:pt x="20" y="2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7" name="Freeform 337"/>
              <p:cNvSpPr>
                <a:spLocks/>
              </p:cNvSpPr>
              <p:nvPr/>
            </p:nvSpPr>
            <p:spPr bwMode="invGray">
              <a:xfrm>
                <a:off x="1433" y="2880"/>
                <a:ext cx="61" cy="87"/>
              </a:xfrm>
              <a:custGeom>
                <a:avLst/>
                <a:gdLst/>
                <a:ahLst/>
                <a:cxnLst>
                  <a:cxn ang="0">
                    <a:pos x="14" y="1"/>
                  </a:cxn>
                  <a:cxn ang="0">
                    <a:pos x="18" y="5"/>
                  </a:cxn>
                  <a:cxn ang="0">
                    <a:pos x="21" y="14"/>
                  </a:cxn>
                  <a:cxn ang="0">
                    <a:pos x="23" y="18"/>
                  </a:cxn>
                  <a:cxn ang="0">
                    <a:pos x="23" y="24"/>
                  </a:cxn>
                  <a:cxn ang="0">
                    <a:pos x="6" y="33"/>
                  </a:cxn>
                  <a:cxn ang="0">
                    <a:pos x="0" y="0"/>
                  </a:cxn>
                  <a:cxn ang="0">
                    <a:pos x="8" y="1"/>
                  </a:cxn>
                  <a:cxn ang="0">
                    <a:pos x="14" y="1"/>
                  </a:cxn>
                </a:cxnLst>
                <a:rect l="0" t="0" r="r" b="b"/>
                <a:pathLst>
                  <a:path w="24" h="34">
                    <a:moveTo>
                      <a:pt x="14" y="1"/>
                    </a:moveTo>
                    <a:lnTo>
                      <a:pt x="18" y="5"/>
                    </a:lnTo>
                    <a:lnTo>
                      <a:pt x="21" y="14"/>
                    </a:lnTo>
                    <a:lnTo>
                      <a:pt x="23" y="18"/>
                    </a:lnTo>
                    <a:lnTo>
                      <a:pt x="23" y="24"/>
                    </a:lnTo>
                    <a:lnTo>
                      <a:pt x="6" y="33"/>
                    </a:lnTo>
                    <a:lnTo>
                      <a:pt x="0" y="0"/>
                    </a:lnTo>
                    <a:lnTo>
                      <a:pt x="8" y="1"/>
                    </a:lnTo>
                    <a:lnTo>
                      <a:pt x="14" y="1"/>
                    </a:lnTo>
                  </a:path>
                </a:pathLst>
              </a:custGeom>
              <a:solidFill>
                <a:srgbClr val="E0E0E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8" name="Freeform 338"/>
              <p:cNvSpPr>
                <a:spLocks/>
              </p:cNvSpPr>
              <p:nvPr/>
            </p:nvSpPr>
            <p:spPr bwMode="invGray">
              <a:xfrm>
                <a:off x="1185" y="2303"/>
                <a:ext cx="251" cy="314"/>
              </a:xfrm>
              <a:custGeom>
                <a:avLst/>
                <a:gdLst/>
                <a:ahLst/>
                <a:cxnLst>
                  <a:cxn ang="0">
                    <a:pos x="65" y="4"/>
                  </a:cxn>
                  <a:cxn ang="0">
                    <a:pos x="74" y="10"/>
                  </a:cxn>
                  <a:cxn ang="0">
                    <a:pos x="79" y="19"/>
                  </a:cxn>
                  <a:cxn ang="0">
                    <a:pos x="83" y="28"/>
                  </a:cxn>
                  <a:cxn ang="0">
                    <a:pos x="86" y="34"/>
                  </a:cxn>
                  <a:cxn ang="0">
                    <a:pos x="86" y="39"/>
                  </a:cxn>
                  <a:cxn ang="0">
                    <a:pos x="83" y="45"/>
                  </a:cxn>
                  <a:cxn ang="0">
                    <a:pos x="87" y="50"/>
                  </a:cxn>
                  <a:cxn ang="0">
                    <a:pos x="94" y="63"/>
                  </a:cxn>
                  <a:cxn ang="0">
                    <a:pos x="97" y="70"/>
                  </a:cxn>
                  <a:cxn ang="0">
                    <a:pos x="97" y="72"/>
                  </a:cxn>
                  <a:cxn ang="0">
                    <a:pos x="97" y="75"/>
                  </a:cxn>
                  <a:cxn ang="0">
                    <a:pos x="94" y="76"/>
                  </a:cxn>
                  <a:cxn ang="0">
                    <a:pos x="89" y="76"/>
                  </a:cxn>
                  <a:cxn ang="0">
                    <a:pos x="87" y="77"/>
                  </a:cxn>
                  <a:cxn ang="0">
                    <a:pos x="87" y="82"/>
                  </a:cxn>
                  <a:cxn ang="0">
                    <a:pos x="89" y="88"/>
                  </a:cxn>
                  <a:cxn ang="0">
                    <a:pos x="86" y="92"/>
                  </a:cxn>
                  <a:cxn ang="0">
                    <a:pos x="87" y="96"/>
                  </a:cxn>
                  <a:cxn ang="0">
                    <a:pos x="85" y="99"/>
                  </a:cxn>
                  <a:cxn ang="0">
                    <a:pos x="83" y="107"/>
                  </a:cxn>
                  <a:cxn ang="0">
                    <a:pos x="80" y="110"/>
                  </a:cxn>
                  <a:cxn ang="0">
                    <a:pos x="75" y="110"/>
                  </a:cxn>
                  <a:cxn ang="0">
                    <a:pos x="69" y="108"/>
                  </a:cxn>
                  <a:cxn ang="0">
                    <a:pos x="62" y="107"/>
                  </a:cxn>
                  <a:cxn ang="0">
                    <a:pos x="63" y="122"/>
                  </a:cxn>
                  <a:cxn ang="0">
                    <a:pos x="11" y="102"/>
                  </a:cxn>
                  <a:cxn ang="0">
                    <a:pos x="15" y="92"/>
                  </a:cxn>
                  <a:cxn ang="0">
                    <a:pos x="14" y="82"/>
                  </a:cxn>
                  <a:cxn ang="0">
                    <a:pos x="0" y="66"/>
                  </a:cxn>
                  <a:cxn ang="0">
                    <a:pos x="0" y="23"/>
                  </a:cxn>
                  <a:cxn ang="0">
                    <a:pos x="9" y="11"/>
                  </a:cxn>
                  <a:cxn ang="0">
                    <a:pos x="22" y="4"/>
                  </a:cxn>
                  <a:cxn ang="0">
                    <a:pos x="34" y="0"/>
                  </a:cxn>
                  <a:cxn ang="0">
                    <a:pos x="50" y="3"/>
                  </a:cxn>
                  <a:cxn ang="0">
                    <a:pos x="65" y="4"/>
                  </a:cxn>
                </a:cxnLst>
                <a:rect l="0" t="0" r="r" b="b"/>
                <a:pathLst>
                  <a:path w="98" h="123">
                    <a:moveTo>
                      <a:pt x="65" y="4"/>
                    </a:moveTo>
                    <a:lnTo>
                      <a:pt x="74" y="10"/>
                    </a:lnTo>
                    <a:lnTo>
                      <a:pt x="79" y="19"/>
                    </a:lnTo>
                    <a:lnTo>
                      <a:pt x="83" y="28"/>
                    </a:lnTo>
                    <a:lnTo>
                      <a:pt x="86" y="34"/>
                    </a:lnTo>
                    <a:lnTo>
                      <a:pt x="86" y="39"/>
                    </a:lnTo>
                    <a:lnTo>
                      <a:pt x="83" y="45"/>
                    </a:lnTo>
                    <a:lnTo>
                      <a:pt x="87" y="50"/>
                    </a:lnTo>
                    <a:lnTo>
                      <a:pt x="94" y="63"/>
                    </a:lnTo>
                    <a:lnTo>
                      <a:pt x="97" y="70"/>
                    </a:lnTo>
                    <a:lnTo>
                      <a:pt x="97" y="72"/>
                    </a:lnTo>
                    <a:lnTo>
                      <a:pt x="97" y="75"/>
                    </a:lnTo>
                    <a:lnTo>
                      <a:pt x="94" y="76"/>
                    </a:lnTo>
                    <a:lnTo>
                      <a:pt x="89" y="76"/>
                    </a:lnTo>
                    <a:lnTo>
                      <a:pt x="87" y="77"/>
                    </a:lnTo>
                    <a:lnTo>
                      <a:pt x="87" y="82"/>
                    </a:lnTo>
                    <a:lnTo>
                      <a:pt x="89" y="88"/>
                    </a:lnTo>
                    <a:lnTo>
                      <a:pt x="86" y="92"/>
                    </a:lnTo>
                    <a:lnTo>
                      <a:pt x="87" y="96"/>
                    </a:lnTo>
                    <a:lnTo>
                      <a:pt x="85" y="99"/>
                    </a:lnTo>
                    <a:lnTo>
                      <a:pt x="83" y="107"/>
                    </a:lnTo>
                    <a:lnTo>
                      <a:pt x="80" y="110"/>
                    </a:lnTo>
                    <a:lnTo>
                      <a:pt x="75" y="110"/>
                    </a:lnTo>
                    <a:lnTo>
                      <a:pt x="69" y="108"/>
                    </a:lnTo>
                    <a:lnTo>
                      <a:pt x="62" y="107"/>
                    </a:lnTo>
                    <a:lnTo>
                      <a:pt x="63" y="122"/>
                    </a:lnTo>
                    <a:lnTo>
                      <a:pt x="11" y="102"/>
                    </a:lnTo>
                    <a:lnTo>
                      <a:pt x="15" y="92"/>
                    </a:lnTo>
                    <a:lnTo>
                      <a:pt x="14" y="82"/>
                    </a:lnTo>
                    <a:lnTo>
                      <a:pt x="0" y="66"/>
                    </a:lnTo>
                    <a:lnTo>
                      <a:pt x="0" y="23"/>
                    </a:lnTo>
                    <a:lnTo>
                      <a:pt x="9" y="11"/>
                    </a:lnTo>
                    <a:lnTo>
                      <a:pt x="22" y="4"/>
                    </a:lnTo>
                    <a:lnTo>
                      <a:pt x="34" y="0"/>
                    </a:lnTo>
                    <a:lnTo>
                      <a:pt x="50" y="3"/>
                    </a:lnTo>
                    <a:lnTo>
                      <a:pt x="65" y="4"/>
                    </a:lnTo>
                  </a:path>
                </a:pathLst>
              </a:custGeom>
              <a:solidFill>
                <a:srgbClr val="FFC080"/>
              </a:solidFill>
              <a:ln w="12700" cap="rnd" cmpd="sng">
                <a:solidFill>
                  <a:srgbClr val="402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99" name="Freeform 339"/>
              <p:cNvSpPr>
                <a:spLocks/>
              </p:cNvSpPr>
              <p:nvPr/>
            </p:nvSpPr>
            <p:spPr bwMode="invGray">
              <a:xfrm>
                <a:off x="1339" y="2444"/>
                <a:ext cx="51" cy="5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3" y="10"/>
                  </a:cxn>
                  <a:cxn ang="0">
                    <a:pos x="19" y="19"/>
                  </a:cxn>
                  <a:cxn ang="0">
                    <a:pos x="13" y="13"/>
                  </a:cxn>
                  <a:cxn ang="0">
                    <a:pos x="0" y="0"/>
                  </a:cxn>
                </a:cxnLst>
                <a:rect l="0" t="0" r="r" b="b"/>
                <a:pathLst>
                  <a:path w="20" h="20">
                    <a:moveTo>
                      <a:pt x="0" y="0"/>
                    </a:moveTo>
                    <a:lnTo>
                      <a:pt x="13" y="10"/>
                    </a:lnTo>
                    <a:lnTo>
                      <a:pt x="19" y="19"/>
                    </a:lnTo>
                    <a:lnTo>
                      <a:pt x="13" y="1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0" name="Freeform 340"/>
              <p:cNvSpPr>
                <a:spLocks/>
              </p:cNvSpPr>
              <p:nvPr/>
            </p:nvSpPr>
            <p:spPr bwMode="invGray">
              <a:xfrm>
                <a:off x="1339" y="2416"/>
                <a:ext cx="51" cy="53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15" y="12"/>
                  </a:cxn>
                  <a:cxn ang="0">
                    <a:pos x="16" y="15"/>
                  </a:cxn>
                  <a:cxn ang="0">
                    <a:pos x="16" y="17"/>
                  </a:cxn>
                  <a:cxn ang="0">
                    <a:pos x="16" y="20"/>
                  </a:cxn>
                  <a:cxn ang="0">
                    <a:pos x="15" y="15"/>
                  </a:cxn>
                  <a:cxn ang="0">
                    <a:pos x="10" y="15"/>
                  </a:cxn>
                  <a:cxn ang="0">
                    <a:pos x="8" y="12"/>
                  </a:cxn>
                  <a:cxn ang="0">
                    <a:pos x="0" y="10"/>
                  </a:cxn>
                  <a:cxn ang="0">
                    <a:pos x="8" y="5"/>
                  </a:cxn>
                  <a:cxn ang="0">
                    <a:pos x="19" y="0"/>
                  </a:cxn>
                </a:cxnLst>
                <a:rect l="0" t="0" r="r" b="b"/>
                <a:pathLst>
                  <a:path w="20" h="21">
                    <a:moveTo>
                      <a:pt x="19" y="0"/>
                    </a:moveTo>
                    <a:lnTo>
                      <a:pt x="15" y="12"/>
                    </a:lnTo>
                    <a:lnTo>
                      <a:pt x="16" y="15"/>
                    </a:lnTo>
                    <a:lnTo>
                      <a:pt x="16" y="17"/>
                    </a:lnTo>
                    <a:lnTo>
                      <a:pt x="16" y="20"/>
                    </a:lnTo>
                    <a:lnTo>
                      <a:pt x="15" y="15"/>
                    </a:lnTo>
                    <a:lnTo>
                      <a:pt x="10" y="15"/>
                    </a:lnTo>
                    <a:lnTo>
                      <a:pt x="8" y="12"/>
                    </a:lnTo>
                    <a:lnTo>
                      <a:pt x="0" y="10"/>
                    </a:lnTo>
                    <a:lnTo>
                      <a:pt x="8" y="5"/>
                    </a:lnTo>
                    <a:lnTo>
                      <a:pt x="19" y="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1" name="Freeform 341"/>
              <p:cNvSpPr>
                <a:spLocks/>
              </p:cNvSpPr>
              <p:nvPr/>
            </p:nvSpPr>
            <p:spPr bwMode="invGray">
              <a:xfrm>
                <a:off x="1349" y="2385"/>
                <a:ext cx="51" cy="54"/>
              </a:xfrm>
              <a:custGeom>
                <a:avLst/>
                <a:gdLst/>
                <a:ahLst/>
                <a:cxnLst>
                  <a:cxn ang="0">
                    <a:pos x="19" y="10"/>
                  </a:cxn>
                  <a:cxn ang="0">
                    <a:pos x="17" y="17"/>
                  </a:cxn>
                  <a:cxn ang="0">
                    <a:pos x="15" y="20"/>
                  </a:cxn>
                  <a:cxn ang="0">
                    <a:pos x="11" y="15"/>
                  </a:cxn>
                  <a:cxn ang="0">
                    <a:pos x="8" y="10"/>
                  </a:cxn>
                  <a:cxn ang="0">
                    <a:pos x="2" y="10"/>
                  </a:cxn>
                  <a:cxn ang="0">
                    <a:pos x="0" y="12"/>
                  </a:cxn>
                  <a:cxn ang="0">
                    <a:pos x="3" y="5"/>
                  </a:cxn>
                  <a:cxn ang="0">
                    <a:pos x="7" y="2"/>
                  </a:cxn>
                  <a:cxn ang="0">
                    <a:pos x="7" y="0"/>
                  </a:cxn>
                  <a:cxn ang="0">
                    <a:pos x="10" y="5"/>
                  </a:cxn>
                  <a:cxn ang="0">
                    <a:pos x="10" y="2"/>
                  </a:cxn>
                  <a:cxn ang="0">
                    <a:pos x="13" y="5"/>
                  </a:cxn>
                  <a:cxn ang="0">
                    <a:pos x="15" y="5"/>
                  </a:cxn>
                  <a:cxn ang="0">
                    <a:pos x="19" y="10"/>
                  </a:cxn>
                </a:cxnLst>
                <a:rect l="0" t="0" r="r" b="b"/>
                <a:pathLst>
                  <a:path w="20" h="21">
                    <a:moveTo>
                      <a:pt x="19" y="10"/>
                    </a:moveTo>
                    <a:lnTo>
                      <a:pt x="17" y="17"/>
                    </a:lnTo>
                    <a:lnTo>
                      <a:pt x="15" y="20"/>
                    </a:lnTo>
                    <a:lnTo>
                      <a:pt x="11" y="15"/>
                    </a:lnTo>
                    <a:lnTo>
                      <a:pt x="8" y="10"/>
                    </a:lnTo>
                    <a:lnTo>
                      <a:pt x="2" y="10"/>
                    </a:lnTo>
                    <a:lnTo>
                      <a:pt x="0" y="12"/>
                    </a:lnTo>
                    <a:lnTo>
                      <a:pt x="3" y="5"/>
                    </a:lnTo>
                    <a:lnTo>
                      <a:pt x="7" y="2"/>
                    </a:lnTo>
                    <a:lnTo>
                      <a:pt x="7" y="0"/>
                    </a:lnTo>
                    <a:lnTo>
                      <a:pt x="10" y="5"/>
                    </a:lnTo>
                    <a:lnTo>
                      <a:pt x="10" y="2"/>
                    </a:lnTo>
                    <a:lnTo>
                      <a:pt x="13" y="5"/>
                    </a:lnTo>
                    <a:lnTo>
                      <a:pt x="15" y="5"/>
                    </a:lnTo>
                    <a:lnTo>
                      <a:pt x="19" y="1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2" name="Freeform 342"/>
              <p:cNvSpPr>
                <a:spLocks/>
              </p:cNvSpPr>
              <p:nvPr/>
            </p:nvSpPr>
            <p:spPr bwMode="invGray">
              <a:xfrm>
                <a:off x="1244" y="2413"/>
                <a:ext cx="51" cy="64"/>
              </a:xfrm>
              <a:custGeom>
                <a:avLst/>
                <a:gdLst/>
                <a:ahLst/>
                <a:cxnLst>
                  <a:cxn ang="0">
                    <a:pos x="19" y="4"/>
                  </a:cxn>
                  <a:cxn ang="0">
                    <a:pos x="14" y="2"/>
                  </a:cxn>
                  <a:cxn ang="0">
                    <a:pos x="5" y="2"/>
                  </a:cxn>
                  <a:cxn ang="0">
                    <a:pos x="3" y="6"/>
                  </a:cxn>
                  <a:cxn ang="0">
                    <a:pos x="1" y="12"/>
                  </a:cxn>
                  <a:cxn ang="0">
                    <a:pos x="3" y="15"/>
                  </a:cxn>
                  <a:cxn ang="0">
                    <a:pos x="4" y="19"/>
                  </a:cxn>
                  <a:cxn ang="0">
                    <a:pos x="8" y="14"/>
                  </a:cxn>
                  <a:cxn ang="0">
                    <a:pos x="10" y="10"/>
                  </a:cxn>
                  <a:cxn ang="0">
                    <a:pos x="19" y="9"/>
                  </a:cxn>
                  <a:cxn ang="0">
                    <a:pos x="13" y="14"/>
                  </a:cxn>
                  <a:cxn ang="0">
                    <a:pos x="8" y="16"/>
                  </a:cxn>
                  <a:cxn ang="0">
                    <a:pos x="8" y="20"/>
                  </a:cxn>
                  <a:cxn ang="0">
                    <a:pos x="9" y="24"/>
                  </a:cxn>
                  <a:cxn ang="0">
                    <a:pos x="13" y="24"/>
                  </a:cxn>
                  <a:cxn ang="0">
                    <a:pos x="4" y="24"/>
                  </a:cxn>
                  <a:cxn ang="0">
                    <a:pos x="0" y="18"/>
                  </a:cxn>
                  <a:cxn ang="0">
                    <a:pos x="0" y="10"/>
                  </a:cxn>
                  <a:cxn ang="0">
                    <a:pos x="0" y="4"/>
                  </a:cxn>
                  <a:cxn ang="0">
                    <a:pos x="4" y="1"/>
                  </a:cxn>
                  <a:cxn ang="0">
                    <a:pos x="10" y="0"/>
                  </a:cxn>
                  <a:cxn ang="0">
                    <a:pos x="17" y="1"/>
                  </a:cxn>
                  <a:cxn ang="0">
                    <a:pos x="19" y="4"/>
                  </a:cxn>
                </a:cxnLst>
                <a:rect l="0" t="0" r="r" b="b"/>
                <a:pathLst>
                  <a:path w="20" h="25">
                    <a:moveTo>
                      <a:pt x="19" y="4"/>
                    </a:moveTo>
                    <a:lnTo>
                      <a:pt x="14" y="2"/>
                    </a:lnTo>
                    <a:lnTo>
                      <a:pt x="5" y="2"/>
                    </a:lnTo>
                    <a:lnTo>
                      <a:pt x="3" y="6"/>
                    </a:lnTo>
                    <a:lnTo>
                      <a:pt x="1" y="12"/>
                    </a:lnTo>
                    <a:lnTo>
                      <a:pt x="3" y="15"/>
                    </a:lnTo>
                    <a:lnTo>
                      <a:pt x="4" y="19"/>
                    </a:lnTo>
                    <a:lnTo>
                      <a:pt x="8" y="14"/>
                    </a:lnTo>
                    <a:lnTo>
                      <a:pt x="10" y="10"/>
                    </a:lnTo>
                    <a:lnTo>
                      <a:pt x="19" y="9"/>
                    </a:lnTo>
                    <a:lnTo>
                      <a:pt x="13" y="14"/>
                    </a:lnTo>
                    <a:lnTo>
                      <a:pt x="8" y="16"/>
                    </a:lnTo>
                    <a:lnTo>
                      <a:pt x="8" y="20"/>
                    </a:lnTo>
                    <a:lnTo>
                      <a:pt x="9" y="24"/>
                    </a:lnTo>
                    <a:lnTo>
                      <a:pt x="13" y="24"/>
                    </a:lnTo>
                    <a:lnTo>
                      <a:pt x="4" y="24"/>
                    </a:lnTo>
                    <a:lnTo>
                      <a:pt x="0" y="18"/>
                    </a:lnTo>
                    <a:lnTo>
                      <a:pt x="0" y="10"/>
                    </a:lnTo>
                    <a:lnTo>
                      <a:pt x="0" y="4"/>
                    </a:lnTo>
                    <a:lnTo>
                      <a:pt x="4" y="1"/>
                    </a:lnTo>
                    <a:lnTo>
                      <a:pt x="10" y="0"/>
                    </a:lnTo>
                    <a:lnTo>
                      <a:pt x="17" y="1"/>
                    </a:lnTo>
                    <a:lnTo>
                      <a:pt x="19" y="4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3" name="Freeform 343"/>
              <p:cNvSpPr>
                <a:spLocks/>
              </p:cNvSpPr>
              <p:nvPr/>
            </p:nvSpPr>
            <p:spPr bwMode="invGray">
              <a:xfrm>
                <a:off x="1254" y="2408"/>
                <a:ext cx="54" cy="84"/>
              </a:xfrm>
              <a:custGeom>
                <a:avLst/>
                <a:gdLst/>
                <a:ahLst/>
                <a:cxnLst>
                  <a:cxn ang="0">
                    <a:pos x="20" y="7"/>
                  </a:cxn>
                  <a:cxn ang="0">
                    <a:pos x="17" y="2"/>
                  </a:cxn>
                  <a:cxn ang="0">
                    <a:pos x="11" y="0"/>
                  </a:cxn>
                  <a:cxn ang="0">
                    <a:pos x="5" y="1"/>
                  </a:cxn>
                  <a:cxn ang="0">
                    <a:pos x="2" y="3"/>
                  </a:cxn>
                  <a:cxn ang="0">
                    <a:pos x="1" y="8"/>
                  </a:cxn>
                  <a:cxn ang="0">
                    <a:pos x="1" y="13"/>
                  </a:cxn>
                  <a:cxn ang="0">
                    <a:pos x="2" y="15"/>
                  </a:cxn>
                  <a:cxn ang="0">
                    <a:pos x="2" y="18"/>
                  </a:cxn>
                  <a:cxn ang="0">
                    <a:pos x="2" y="23"/>
                  </a:cxn>
                  <a:cxn ang="0">
                    <a:pos x="7" y="28"/>
                  </a:cxn>
                  <a:cxn ang="0">
                    <a:pos x="10" y="28"/>
                  </a:cxn>
                  <a:cxn ang="0">
                    <a:pos x="13" y="28"/>
                  </a:cxn>
                  <a:cxn ang="0">
                    <a:pos x="13" y="29"/>
                  </a:cxn>
                  <a:cxn ang="0">
                    <a:pos x="11" y="32"/>
                  </a:cxn>
                  <a:cxn ang="0">
                    <a:pos x="7" y="30"/>
                  </a:cxn>
                  <a:cxn ang="0">
                    <a:pos x="3" y="28"/>
                  </a:cxn>
                  <a:cxn ang="0">
                    <a:pos x="1" y="24"/>
                  </a:cxn>
                  <a:cxn ang="0">
                    <a:pos x="1" y="17"/>
                  </a:cxn>
                  <a:cxn ang="0">
                    <a:pos x="0" y="13"/>
                  </a:cxn>
                  <a:cxn ang="0">
                    <a:pos x="0" y="8"/>
                  </a:cxn>
                  <a:cxn ang="0">
                    <a:pos x="2" y="3"/>
                  </a:cxn>
                  <a:cxn ang="0">
                    <a:pos x="3" y="0"/>
                  </a:cxn>
                  <a:cxn ang="0">
                    <a:pos x="8" y="0"/>
                  </a:cxn>
                  <a:cxn ang="0">
                    <a:pos x="17" y="0"/>
                  </a:cxn>
                  <a:cxn ang="0">
                    <a:pos x="18" y="2"/>
                  </a:cxn>
                  <a:cxn ang="0">
                    <a:pos x="20" y="7"/>
                  </a:cxn>
                </a:cxnLst>
                <a:rect l="0" t="0" r="r" b="b"/>
                <a:pathLst>
                  <a:path w="21" h="33">
                    <a:moveTo>
                      <a:pt x="20" y="7"/>
                    </a:moveTo>
                    <a:lnTo>
                      <a:pt x="17" y="2"/>
                    </a:lnTo>
                    <a:lnTo>
                      <a:pt x="11" y="0"/>
                    </a:lnTo>
                    <a:lnTo>
                      <a:pt x="5" y="1"/>
                    </a:lnTo>
                    <a:lnTo>
                      <a:pt x="2" y="3"/>
                    </a:lnTo>
                    <a:lnTo>
                      <a:pt x="1" y="8"/>
                    </a:lnTo>
                    <a:lnTo>
                      <a:pt x="1" y="13"/>
                    </a:lnTo>
                    <a:lnTo>
                      <a:pt x="2" y="15"/>
                    </a:lnTo>
                    <a:lnTo>
                      <a:pt x="2" y="18"/>
                    </a:lnTo>
                    <a:lnTo>
                      <a:pt x="2" y="23"/>
                    </a:lnTo>
                    <a:lnTo>
                      <a:pt x="7" y="28"/>
                    </a:lnTo>
                    <a:lnTo>
                      <a:pt x="10" y="28"/>
                    </a:lnTo>
                    <a:lnTo>
                      <a:pt x="13" y="28"/>
                    </a:lnTo>
                    <a:lnTo>
                      <a:pt x="13" y="29"/>
                    </a:lnTo>
                    <a:lnTo>
                      <a:pt x="11" y="32"/>
                    </a:lnTo>
                    <a:lnTo>
                      <a:pt x="7" y="30"/>
                    </a:lnTo>
                    <a:lnTo>
                      <a:pt x="3" y="28"/>
                    </a:lnTo>
                    <a:lnTo>
                      <a:pt x="1" y="24"/>
                    </a:lnTo>
                    <a:lnTo>
                      <a:pt x="1" y="17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2" y="3"/>
                    </a:lnTo>
                    <a:lnTo>
                      <a:pt x="3" y="0"/>
                    </a:lnTo>
                    <a:lnTo>
                      <a:pt x="8" y="0"/>
                    </a:lnTo>
                    <a:lnTo>
                      <a:pt x="17" y="0"/>
                    </a:lnTo>
                    <a:lnTo>
                      <a:pt x="18" y="2"/>
                    </a:lnTo>
                    <a:lnTo>
                      <a:pt x="20" y="7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4" name="Freeform 344"/>
              <p:cNvSpPr>
                <a:spLocks/>
              </p:cNvSpPr>
              <p:nvPr/>
            </p:nvSpPr>
            <p:spPr bwMode="invGray">
              <a:xfrm>
                <a:off x="1275" y="2495"/>
                <a:ext cx="51" cy="7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4"/>
                  </a:cxn>
                  <a:cxn ang="0">
                    <a:pos x="5" y="12"/>
                  </a:cxn>
                  <a:cxn ang="0">
                    <a:pos x="10" y="17"/>
                  </a:cxn>
                  <a:cxn ang="0">
                    <a:pos x="16" y="25"/>
                  </a:cxn>
                  <a:cxn ang="0">
                    <a:pos x="19" y="28"/>
                  </a:cxn>
                  <a:cxn ang="0">
                    <a:pos x="13" y="24"/>
                  </a:cxn>
                  <a:cxn ang="0">
                    <a:pos x="7" y="17"/>
                  </a:cxn>
                  <a:cxn ang="0">
                    <a:pos x="3" y="10"/>
                  </a:cxn>
                  <a:cxn ang="0">
                    <a:pos x="0" y="0"/>
                  </a:cxn>
                </a:cxnLst>
                <a:rect l="0" t="0" r="r" b="b"/>
                <a:pathLst>
                  <a:path w="20" h="29">
                    <a:moveTo>
                      <a:pt x="0" y="0"/>
                    </a:moveTo>
                    <a:lnTo>
                      <a:pt x="2" y="4"/>
                    </a:lnTo>
                    <a:lnTo>
                      <a:pt x="5" y="12"/>
                    </a:lnTo>
                    <a:lnTo>
                      <a:pt x="10" y="17"/>
                    </a:lnTo>
                    <a:lnTo>
                      <a:pt x="16" y="25"/>
                    </a:lnTo>
                    <a:lnTo>
                      <a:pt x="19" y="28"/>
                    </a:lnTo>
                    <a:lnTo>
                      <a:pt x="13" y="24"/>
                    </a:lnTo>
                    <a:lnTo>
                      <a:pt x="7" y="17"/>
                    </a:lnTo>
                    <a:lnTo>
                      <a:pt x="3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5" name="Freeform 345"/>
              <p:cNvSpPr>
                <a:spLocks/>
              </p:cNvSpPr>
              <p:nvPr/>
            </p:nvSpPr>
            <p:spPr bwMode="invGray">
              <a:xfrm>
                <a:off x="1167" y="2260"/>
                <a:ext cx="228" cy="263"/>
              </a:xfrm>
              <a:custGeom>
                <a:avLst/>
                <a:gdLst/>
                <a:ahLst/>
                <a:cxnLst>
                  <a:cxn ang="0">
                    <a:pos x="80" y="28"/>
                  </a:cxn>
                  <a:cxn ang="0">
                    <a:pos x="67" y="27"/>
                  </a:cxn>
                  <a:cxn ang="0">
                    <a:pos x="59" y="27"/>
                  </a:cxn>
                  <a:cxn ang="0">
                    <a:pos x="53" y="36"/>
                  </a:cxn>
                  <a:cxn ang="0">
                    <a:pos x="55" y="43"/>
                  </a:cxn>
                  <a:cxn ang="0">
                    <a:pos x="60" y="48"/>
                  </a:cxn>
                  <a:cxn ang="0">
                    <a:pos x="61" y="55"/>
                  </a:cxn>
                  <a:cxn ang="0">
                    <a:pos x="59" y="61"/>
                  </a:cxn>
                  <a:cxn ang="0">
                    <a:pos x="61" y="68"/>
                  </a:cxn>
                  <a:cxn ang="0">
                    <a:pos x="55" y="68"/>
                  </a:cxn>
                  <a:cxn ang="0">
                    <a:pos x="54" y="60"/>
                  </a:cxn>
                  <a:cxn ang="0">
                    <a:pos x="51" y="55"/>
                  </a:cxn>
                  <a:cxn ang="0">
                    <a:pos x="45" y="55"/>
                  </a:cxn>
                  <a:cxn ang="0">
                    <a:pos x="38" y="57"/>
                  </a:cxn>
                  <a:cxn ang="0">
                    <a:pos x="36" y="63"/>
                  </a:cxn>
                  <a:cxn ang="0">
                    <a:pos x="35" y="72"/>
                  </a:cxn>
                  <a:cxn ang="0">
                    <a:pos x="36" y="78"/>
                  </a:cxn>
                  <a:cxn ang="0">
                    <a:pos x="36" y="84"/>
                  </a:cxn>
                  <a:cxn ang="0">
                    <a:pos x="35" y="88"/>
                  </a:cxn>
                  <a:cxn ang="0">
                    <a:pos x="32" y="93"/>
                  </a:cxn>
                  <a:cxn ang="0">
                    <a:pos x="28" y="96"/>
                  </a:cxn>
                  <a:cxn ang="0">
                    <a:pos x="21" y="102"/>
                  </a:cxn>
                  <a:cxn ang="0">
                    <a:pos x="7" y="84"/>
                  </a:cxn>
                  <a:cxn ang="0">
                    <a:pos x="2" y="70"/>
                  </a:cxn>
                  <a:cxn ang="0">
                    <a:pos x="1" y="48"/>
                  </a:cxn>
                  <a:cxn ang="0">
                    <a:pos x="0" y="32"/>
                  </a:cxn>
                  <a:cxn ang="0">
                    <a:pos x="1" y="16"/>
                  </a:cxn>
                  <a:cxn ang="0">
                    <a:pos x="5" y="8"/>
                  </a:cxn>
                  <a:cxn ang="0">
                    <a:pos x="14" y="2"/>
                  </a:cxn>
                  <a:cxn ang="0">
                    <a:pos x="22" y="1"/>
                  </a:cxn>
                  <a:cxn ang="0">
                    <a:pos x="36" y="0"/>
                  </a:cxn>
                  <a:cxn ang="0">
                    <a:pos x="52" y="1"/>
                  </a:cxn>
                  <a:cxn ang="0">
                    <a:pos x="70" y="4"/>
                  </a:cxn>
                  <a:cxn ang="0">
                    <a:pos x="79" y="9"/>
                  </a:cxn>
                  <a:cxn ang="0">
                    <a:pos x="84" y="14"/>
                  </a:cxn>
                  <a:cxn ang="0">
                    <a:pos x="88" y="21"/>
                  </a:cxn>
                  <a:cxn ang="0">
                    <a:pos x="86" y="25"/>
                  </a:cxn>
                  <a:cxn ang="0">
                    <a:pos x="80" y="28"/>
                  </a:cxn>
                </a:cxnLst>
                <a:rect l="0" t="0" r="r" b="b"/>
                <a:pathLst>
                  <a:path w="89" h="103">
                    <a:moveTo>
                      <a:pt x="80" y="28"/>
                    </a:moveTo>
                    <a:lnTo>
                      <a:pt x="67" y="27"/>
                    </a:lnTo>
                    <a:lnTo>
                      <a:pt x="59" y="27"/>
                    </a:lnTo>
                    <a:lnTo>
                      <a:pt x="53" y="36"/>
                    </a:lnTo>
                    <a:lnTo>
                      <a:pt x="55" y="43"/>
                    </a:lnTo>
                    <a:lnTo>
                      <a:pt x="60" y="48"/>
                    </a:lnTo>
                    <a:lnTo>
                      <a:pt x="61" y="55"/>
                    </a:lnTo>
                    <a:lnTo>
                      <a:pt x="59" y="61"/>
                    </a:lnTo>
                    <a:lnTo>
                      <a:pt x="61" y="68"/>
                    </a:lnTo>
                    <a:lnTo>
                      <a:pt x="55" y="68"/>
                    </a:lnTo>
                    <a:lnTo>
                      <a:pt x="54" y="60"/>
                    </a:lnTo>
                    <a:lnTo>
                      <a:pt x="51" y="55"/>
                    </a:lnTo>
                    <a:lnTo>
                      <a:pt x="45" y="55"/>
                    </a:lnTo>
                    <a:lnTo>
                      <a:pt x="38" y="57"/>
                    </a:lnTo>
                    <a:lnTo>
                      <a:pt x="36" y="63"/>
                    </a:lnTo>
                    <a:lnTo>
                      <a:pt x="35" y="72"/>
                    </a:lnTo>
                    <a:lnTo>
                      <a:pt x="36" y="78"/>
                    </a:lnTo>
                    <a:lnTo>
                      <a:pt x="36" y="84"/>
                    </a:lnTo>
                    <a:lnTo>
                      <a:pt x="35" y="88"/>
                    </a:lnTo>
                    <a:lnTo>
                      <a:pt x="32" y="93"/>
                    </a:lnTo>
                    <a:lnTo>
                      <a:pt x="28" y="96"/>
                    </a:lnTo>
                    <a:lnTo>
                      <a:pt x="21" y="102"/>
                    </a:lnTo>
                    <a:lnTo>
                      <a:pt x="7" y="84"/>
                    </a:lnTo>
                    <a:lnTo>
                      <a:pt x="2" y="70"/>
                    </a:lnTo>
                    <a:lnTo>
                      <a:pt x="1" y="48"/>
                    </a:lnTo>
                    <a:lnTo>
                      <a:pt x="0" y="32"/>
                    </a:lnTo>
                    <a:lnTo>
                      <a:pt x="1" y="16"/>
                    </a:lnTo>
                    <a:lnTo>
                      <a:pt x="5" y="8"/>
                    </a:lnTo>
                    <a:lnTo>
                      <a:pt x="14" y="2"/>
                    </a:lnTo>
                    <a:lnTo>
                      <a:pt x="22" y="1"/>
                    </a:lnTo>
                    <a:lnTo>
                      <a:pt x="36" y="0"/>
                    </a:lnTo>
                    <a:lnTo>
                      <a:pt x="52" y="1"/>
                    </a:lnTo>
                    <a:lnTo>
                      <a:pt x="70" y="4"/>
                    </a:lnTo>
                    <a:lnTo>
                      <a:pt x="79" y="9"/>
                    </a:lnTo>
                    <a:lnTo>
                      <a:pt x="84" y="14"/>
                    </a:lnTo>
                    <a:lnTo>
                      <a:pt x="88" y="21"/>
                    </a:lnTo>
                    <a:lnTo>
                      <a:pt x="86" y="25"/>
                    </a:lnTo>
                    <a:lnTo>
                      <a:pt x="80" y="28"/>
                    </a:lnTo>
                  </a:path>
                </a:pathLst>
              </a:custGeom>
              <a:solidFill>
                <a:srgbClr val="603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6" name="Freeform 346"/>
              <p:cNvSpPr>
                <a:spLocks/>
              </p:cNvSpPr>
              <p:nvPr/>
            </p:nvSpPr>
            <p:spPr bwMode="invGray">
              <a:xfrm>
                <a:off x="1173" y="2260"/>
                <a:ext cx="217" cy="255"/>
              </a:xfrm>
              <a:custGeom>
                <a:avLst/>
                <a:gdLst/>
                <a:ahLst/>
                <a:cxnLst>
                  <a:cxn ang="0">
                    <a:pos x="80" y="15"/>
                  </a:cxn>
                  <a:cxn ang="0">
                    <a:pos x="82" y="24"/>
                  </a:cxn>
                  <a:cxn ang="0">
                    <a:pos x="63" y="25"/>
                  </a:cxn>
                  <a:cxn ang="0">
                    <a:pos x="45" y="20"/>
                  </a:cxn>
                  <a:cxn ang="0">
                    <a:pos x="54" y="22"/>
                  </a:cxn>
                  <a:cxn ang="0">
                    <a:pos x="55" y="26"/>
                  </a:cxn>
                  <a:cxn ang="0">
                    <a:pos x="46" y="26"/>
                  </a:cxn>
                  <a:cxn ang="0">
                    <a:pos x="45" y="26"/>
                  </a:cxn>
                  <a:cxn ang="0">
                    <a:pos x="50" y="33"/>
                  </a:cxn>
                  <a:cxn ang="0">
                    <a:pos x="49" y="36"/>
                  </a:cxn>
                  <a:cxn ang="0">
                    <a:pos x="52" y="43"/>
                  </a:cxn>
                  <a:cxn ang="0">
                    <a:pos x="38" y="39"/>
                  </a:cxn>
                  <a:cxn ang="0">
                    <a:pos x="57" y="48"/>
                  </a:cxn>
                  <a:cxn ang="0">
                    <a:pos x="46" y="47"/>
                  </a:cxn>
                  <a:cxn ang="0">
                    <a:pos x="57" y="51"/>
                  </a:cxn>
                  <a:cxn ang="0">
                    <a:pos x="54" y="55"/>
                  </a:cxn>
                  <a:cxn ang="0">
                    <a:pos x="37" y="53"/>
                  </a:cxn>
                  <a:cxn ang="0">
                    <a:pos x="25" y="55"/>
                  </a:cxn>
                  <a:cxn ang="0">
                    <a:pos x="26" y="59"/>
                  </a:cxn>
                  <a:cxn ang="0">
                    <a:pos x="22" y="61"/>
                  </a:cxn>
                  <a:cxn ang="0">
                    <a:pos x="32" y="68"/>
                  </a:cxn>
                  <a:cxn ang="0">
                    <a:pos x="24" y="67"/>
                  </a:cxn>
                  <a:cxn ang="0">
                    <a:pos x="32" y="78"/>
                  </a:cxn>
                  <a:cxn ang="0">
                    <a:pos x="26" y="78"/>
                  </a:cxn>
                  <a:cxn ang="0">
                    <a:pos x="30" y="90"/>
                  </a:cxn>
                  <a:cxn ang="0">
                    <a:pos x="18" y="72"/>
                  </a:cxn>
                  <a:cxn ang="0">
                    <a:pos x="28" y="92"/>
                  </a:cxn>
                  <a:cxn ang="0">
                    <a:pos x="15" y="85"/>
                  </a:cxn>
                  <a:cxn ang="0">
                    <a:pos x="19" y="94"/>
                  </a:cxn>
                  <a:cxn ang="0">
                    <a:pos x="13" y="92"/>
                  </a:cxn>
                  <a:cxn ang="0">
                    <a:pos x="1" y="60"/>
                  </a:cxn>
                  <a:cxn ang="0">
                    <a:pos x="7" y="39"/>
                  </a:cxn>
                  <a:cxn ang="0">
                    <a:pos x="15" y="42"/>
                  </a:cxn>
                  <a:cxn ang="0">
                    <a:pos x="1" y="35"/>
                  </a:cxn>
                  <a:cxn ang="0">
                    <a:pos x="10" y="21"/>
                  </a:cxn>
                  <a:cxn ang="0">
                    <a:pos x="18" y="21"/>
                  </a:cxn>
                  <a:cxn ang="0">
                    <a:pos x="3" y="10"/>
                  </a:cxn>
                  <a:cxn ang="0">
                    <a:pos x="20" y="7"/>
                  </a:cxn>
                  <a:cxn ang="0">
                    <a:pos x="15" y="3"/>
                  </a:cxn>
                  <a:cxn ang="0">
                    <a:pos x="36" y="2"/>
                  </a:cxn>
                  <a:cxn ang="0">
                    <a:pos x="44" y="4"/>
                  </a:cxn>
                  <a:cxn ang="0">
                    <a:pos x="46" y="1"/>
                  </a:cxn>
                  <a:cxn ang="0">
                    <a:pos x="62" y="9"/>
                  </a:cxn>
                  <a:cxn ang="0">
                    <a:pos x="60" y="3"/>
                  </a:cxn>
                </a:cxnLst>
                <a:rect l="0" t="0" r="r" b="b"/>
                <a:pathLst>
                  <a:path w="85" h="100">
                    <a:moveTo>
                      <a:pt x="69" y="7"/>
                    </a:moveTo>
                    <a:lnTo>
                      <a:pt x="76" y="10"/>
                    </a:lnTo>
                    <a:lnTo>
                      <a:pt x="80" y="15"/>
                    </a:lnTo>
                    <a:lnTo>
                      <a:pt x="82" y="19"/>
                    </a:lnTo>
                    <a:lnTo>
                      <a:pt x="84" y="21"/>
                    </a:lnTo>
                    <a:lnTo>
                      <a:pt x="82" y="24"/>
                    </a:lnTo>
                    <a:lnTo>
                      <a:pt x="78" y="26"/>
                    </a:lnTo>
                    <a:lnTo>
                      <a:pt x="68" y="25"/>
                    </a:lnTo>
                    <a:lnTo>
                      <a:pt x="63" y="25"/>
                    </a:lnTo>
                    <a:lnTo>
                      <a:pt x="57" y="21"/>
                    </a:lnTo>
                    <a:lnTo>
                      <a:pt x="51" y="20"/>
                    </a:lnTo>
                    <a:lnTo>
                      <a:pt x="45" y="20"/>
                    </a:lnTo>
                    <a:lnTo>
                      <a:pt x="38" y="20"/>
                    </a:lnTo>
                    <a:lnTo>
                      <a:pt x="49" y="21"/>
                    </a:lnTo>
                    <a:lnTo>
                      <a:pt x="54" y="22"/>
                    </a:lnTo>
                    <a:lnTo>
                      <a:pt x="57" y="25"/>
                    </a:lnTo>
                    <a:lnTo>
                      <a:pt x="57" y="25"/>
                    </a:lnTo>
                    <a:lnTo>
                      <a:pt x="55" y="26"/>
                    </a:lnTo>
                    <a:lnTo>
                      <a:pt x="54" y="28"/>
                    </a:lnTo>
                    <a:lnTo>
                      <a:pt x="50" y="26"/>
                    </a:lnTo>
                    <a:lnTo>
                      <a:pt x="46" y="26"/>
                    </a:lnTo>
                    <a:lnTo>
                      <a:pt x="40" y="24"/>
                    </a:lnTo>
                    <a:lnTo>
                      <a:pt x="38" y="24"/>
                    </a:lnTo>
                    <a:lnTo>
                      <a:pt x="45" y="26"/>
                    </a:lnTo>
                    <a:lnTo>
                      <a:pt x="49" y="30"/>
                    </a:lnTo>
                    <a:lnTo>
                      <a:pt x="51" y="31"/>
                    </a:lnTo>
                    <a:lnTo>
                      <a:pt x="50" y="33"/>
                    </a:lnTo>
                    <a:lnTo>
                      <a:pt x="45" y="31"/>
                    </a:lnTo>
                    <a:lnTo>
                      <a:pt x="40" y="31"/>
                    </a:lnTo>
                    <a:lnTo>
                      <a:pt x="49" y="36"/>
                    </a:lnTo>
                    <a:lnTo>
                      <a:pt x="51" y="37"/>
                    </a:lnTo>
                    <a:lnTo>
                      <a:pt x="51" y="42"/>
                    </a:lnTo>
                    <a:lnTo>
                      <a:pt x="52" y="43"/>
                    </a:lnTo>
                    <a:lnTo>
                      <a:pt x="49" y="41"/>
                    </a:lnTo>
                    <a:lnTo>
                      <a:pt x="44" y="39"/>
                    </a:lnTo>
                    <a:lnTo>
                      <a:pt x="38" y="39"/>
                    </a:lnTo>
                    <a:lnTo>
                      <a:pt x="48" y="43"/>
                    </a:lnTo>
                    <a:lnTo>
                      <a:pt x="54" y="45"/>
                    </a:lnTo>
                    <a:lnTo>
                      <a:pt x="57" y="48"/>
                    </a:lnTo>
                    <a:lnTo>
                      <a:pt x="58" y="51"/>
                    </a:lnTo>
                    <a:lnTo>
                      <a:pt x="54" y="49"/>
                    </a:lnTo>
                    <a:lnTo>
                      <a:pt x="46" y="47"/>
                    </a:lnTo>
                    <a:lnTo>
                      <a:pt x="43" y="47"/>
                    </a:lnTo>
                    <a:lnTo>
                      <a:pt x="51" y="49"/>
                    </a:lnTo>
                    <a:lnTo>
                      <a:pt x="57" y="51"/>
                    </a:lnTo>
                    <a:lnTo>
                      <a:pt x="58" y="55"/>
                    </a:lnTo>
                    <a:lnTo>
                      <a:pt x="57" y="56"/>
                    </a:lnTo>
                    <a:lnTo>
                      <a:pt x="54" y="55"/>
                    </a:lnTo>
                    <a:lnTo>
                      <a:pt x="49" y="53"/>
                    </a:lnTo>
                    <a:lnTo>
                      <a:pt x="40" y="53"/>
                    </a:lnTo>
                    <a:lnTo>
                      <a:pt x="37" y="53"/>
                    </a:lnTo>
                    <a:lnTo>
                      <a:pt x="28" y="54"/>
                    </a:lnTo>
                    <a:lnTo>
                      <a:pt x="19" y="51"/>
                    </a:lnTo>
                    <a:lnTo>
                      <a:pt x="25" y="55"/>
                    </a:lnTo>
                    <a:lnTo>
                      <a:pt x="34" y="56"/>
                    </a:lnTo>
                    <a:lnTo>
                      <a:pt x="32" y="61"/>
                    </a:lnTo>
                    <a:lnTo>
                      <a:pt x="26" y="59"/>
                    </a:lnTo>
                    <a:lnTo>
                      <a:pt x="19" y="56"/>
                    </a:lnTo>
                    <a:lnTo>
                      <a:pt x="14" y="53"/>
                    </a:lnTo>
                    <a:lnTo>
                      <a:pt x="22" y="61"/>
                    </a:lnTo>
                    <a:lnTo>
                      <a:pt x="28" y="62"/>
                    </a:lnTo>
                    <a:lnTo>
                      <a:pt x="32" y="65"/>
                    </a:lnTo>
                    <a:lnTo>
                      <a:pt x="32" y="68"/>
                    </a:lnTo>
                    <a:lnTo>
                      <a:pt x="26" y="67"/>
                    </a:lnTo>
                    <a:lnTo>
                      <a:pt x="21" y="65"/>
                    </a:lnTo>
                    <a:lnTo>
                      <a:pt x="24" y="67"/>
                    </a:lnTo>
                    <a:lnTo>
                      <a:pt x="30" y="70"/>
                    </a:lnTo>
                    <a:lnTo>
                      <a:pt x="32" y="71"/>
                    </a:lnTo>
                    <a:lnTo>
                      <a:pt x="32" y="78"/>
                    </a:lnTo>
                    <a:lnTo>
                      <a:pt x="26" y="76"/>
                    </a:lnTo>
                    <a:lnTo>
                      <a:pt x="21" y="73"/>
                    </a:lnTo>
                    <a:lnTo>
                      <a:pt x="26" y="78"/>
                    </a:lnTo>
                    <a:lnTo>
                      <a:pt x="33" y="82"/>
                    </a:lnTo>
                    <a:lnTo>
                      <a:pt x="32" y="85"/>
                    </a:lnTo>
                    <a:lnTo>
                      <a:pt x="30" y="90"/>
                    </a:lnTo>
                    <a:lnTo>
                      <a:pt x="26" y="85"/>
                    </a:lnTo>
                    <a:lnTo>
                      <a:pt x="21" y="78"/>
                    </a:lnTo>
                    <a:lnTo>
                      <a:pt x="18" y="72"/>
                    </a:lnTo>
                    <a:lnTo>
                      <a:pt x="21" y="83"/>
                    </a:lnTo>
                    <a:lnTo>
                      <a:pt x="24" y="85"/>
                    </a:lnTo>
                    <a:lnTo>
                      <a:pt x="28" y="92"/>
                    </a:lnTo>
                    <a:lnTo>
                      <a:pt x="25" y="97"/>
                    </a:lnTo>
                    <a:lnTo>
                      <a:pt x="20" y="91"/>
                    </a:lnTo>
                    <a:lnTo>
                      <a:pt x="15" y="85"/>
                    </a:lnTo>
                    <a:lnTo>
                      <a:pt x="13" y="78"/>
                    </a:lnTo>
                    <a:lnTo>
                      <a:pt x="15" y="88"/>
                    </a:lnTo>
                    <a:lnTo>
                      <a:pt x="19" y="94"/>
                    </a:lnTo>
                    <a:lnTo>
                      <a:pt x="22" y="97"/>
                    </a:lnTo>
                    <a:lnTo>
                      <a:pt x="19" y="99"/>
                    </a:lnTo>
                    <a:lnTo>
                      <a:pt x="13" y="92"/>
                    </a:lnTo>
                    <a:lnTo>
                      <a:pt x="6" y="82"/>
                    </a:lnTo>
                    <a:lnTo>
                      <a:pt x="3" y="73"/>
                    </a:lnTo>
                    <a:lnTo>
                      <a:pt x="1" y="60"/>
                    </a:lnTo>
                    <a:lnTo>
                      <a:pt x="1" y="49"/>
                    </a:lnTo>
                    <a:lnTo>
                      <a:pt x="0" y="37"/>
                    </a:lnTo>
                    <a:lnTo>
                      <a:pt x="7" y="39"/>
                    </a:lnTo>
                    <a:lnTo>
                      <a:pt x="15" y="43"/>
                    </a:lnTo>
                    <a:lnTo>
                      <a:pt x="26" y="47"/>
                    </a:lnTo>
                    <a:lnTo>
                      <a:pt x="15" y="42"/>
                    </a:lnTo>
                    <a:lnTo>
                      <a:pt x="12" y="38"/>
                    </a:lnTo>
                    <a:lnTo>
                      <a:pt x="4" y="36"/>
                    </a:lnTo>
                    <a:lnTo>
                      <a:pt x="1" y="35"/>
                    </a:lnTo>
                    <a:lnTo>
                      <a:pt x="1" y="28"/>
                    </a:lnTo>
                    <a:lnTo>
                      <a:pt x="1" y="20"/>
                    </a:lnTo>
                    <a:lnTo>
                      <a:pt x="10" y="21"/>
                    </a:lnTo>
                    <a:lnTo>
                      <a:pt x="16" y="24"/>
                    </a:lnTo>
                    <a:lnTo>
                      <a:pt x="24" y="28"/>
                    </a:lnTo>
                    <a:lnTo>
                      <a:pt x="18" y="21"/>
                    </a:lnTo>
                    <a:lnTo>
                      <a:pt x="9" y="20"/>
                    </a:lnTo>
                    <a:lnTo>
                      <a:pt x="1" y="16"/>
                    </a:lnTo>
                    <a:lnTo>
                      <a:pt x="3" y="10"/>
                    </a:lnTo>
                    <a:lnTo>
                      <a:pt x="6" y="7"/>
                    </a:lnTo>
                    <a:lnTo>
                      <a:pt x="13" y="4"/>
                    </a:lnTo>
                    <a:lnTo>
                      <a:pt x="20" y="7"/>
                    </a:lnTo>
                    <a:lnTo>
                      <a:pt x="26" y="12"/>
                    </a:lnTo>
                    <a:lnTo>
                      <a:pt x="22" y="6"/>
                    </a:lnTo>
                    <a:lnTo>
                      <a:pt x="15" y="3"/>
                    </a:lnTo>
                    <a:lnTo>
                      <a:pt x="22" y="1"/>
                    </a:lnTo>
                    <a:lnTo>
                      <a:pt x="28" y="1"/>
                    </a:lnTo>
                    <a:lnTo>
                      <a:pt x="36" y="2"/>
                    </a:lnTo>
                    <a:lnTo>
                      <a:pt x="42" y="6"/>
                    </a:lnTo>
                    <a:lnTo>
                      <a:pt x="50" y="8"/>
                    </a:lnTo>
                    <a:lnTo>
                      <a:pt x="44" y="4"/>
                    </a:lnTo>
                    <a:lnTo>
                      <a:pt x="40" y="2"/>
                    </a:lnTo>
                    <a:lnTo>
                      <a:pt x="38" y="0"/>
                    </a:lnTo>
                    <a:lnTo>
                      <a:pt x="46" y="1"/>
                    </a:lnTo>
                    <a:lnTo>
                      <a:pt x="52" y="1"/>
                    </a:lnTo>
                    <a:lnTo>
                      <a:pt x="57" y="4"/>
                    </a:lnTo>
                    <a:lnTo>
                      <a:pt x="62" y="9"/>
                    </a:lnTo>
                    <a:lnTo>
                      <a:pt x="66" y="15"/>
                    </a:lnTo>
                    <a:lnTo>
                      <a:pt x="63" y="8"/>
                    </a:lnTo>
                    <a:lnTo>
                      <a:pt x="60" y="3"/>
                    </a:lnTo>
                    <a:lnTo>
                      <a:pt x="69" y="7"/>
                    </a:lnTo>
                  </a:path>
                </a:pathLst>
              </a:custGeom>
              <a:solidFill>
                <a:srgbClr val="A05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7" name="Freeform 347"/>
              <p:cNvSpPr>
                <a:spLocks/>
              </p:cNvSpPr>
              <p:nvPr/>
            </p:nvSpPr>
            <p:spPr bwMode="invGray">
              <a:xfrm>
                <a:off x="1606" y="2893"/>
                <a:ext cx="238" cy="170"/>
              </a:xfrm>
              <a:custGeom>
                <a:avLst/>
                <a:gdLst/>
                <a:ahLst/>
                <a:cxnLst>
                  <a:cxn ang="0">
                    <a:pos x="0" y="39"/>
                  </a:cxn>
                  <a:cxn ang="0">
                    <a:pos x="11" y="36"/>
                  </a:cxn>
                  <a:cxn ang="0">
                    <a:pos x="16" y="34"/>
                  </a:cxn>
                  <a:cxn ang="0">
                    <a:pos x="19" y="32"/>
                  </a:cxn>
                  <a:cxn ang="0">
                    <a:pos x="21" y="28"/>
                  </a:cxn>
                  <a:cxn ang="0">
                    <a:pos x="27" y="21"/>
                  </a:cxn>
                  <a:cxn ang="0">
                    <a:pos x="37" y="12"/>
                  </a:cxn>
                  <a:cxn ang="0">
                    <a:pos x="39" y="8"/>
                  </a:cxn>
                  <a:cxn ang="0">
                    <a:pos x="41" y="6"/>
                  </a:cxn>
                  <a:cxn ang="0">
                    <a:pos x="46" y="4"/>
                  </a:cxn>
                  <a:cxn ang="0">
                    <a:pos x="62" y="2"/>
                  </a:cxn>
                  <a:cxn ang="0">
                    <a:pos x="66" y="0"/>
                  </a:cxn>
                  <a:cxn ang="0">
                    <a:pos x="70" y="2"/>
                  </a:cxn>
                  <a:cxn ang="0">
                    <a:pos x="72" y="3"/>
                  </a:cxn>
                  <a:cxn ang="0">
                    <a:pos x="82" y="7"/>
                  </a:cxn>
                  <a:cxn ang="0">
                    <a:pos x="86" y="9"/>
                  </a:cxn>
                  <a:cxn ang="0">
                    <a:pos x="88" y="10"/>
                  </a:cxn>
                  <a:cxn ang="0">
                    <a:pos x="89" y="18"/>
                  </a:cxn>
                  <a:cxn ang="0">
                    <a:pos x="90" y="20"/>
                  </a:cxn>
                  <a:cxn ang="0">
                    <a:pos x="90" y="22"/>
                  </a:cxn>
                  <a:cxn ang="0">
                    <a:pos x="92" y="25"/>
                  </a:cxn>
                  <a:cxn ang="0">
                    <a:pos x="92" y="27"/>
                  </a:cxn>
                  <a:cxn ang="0">
                    <a:pos x="90" y="30"/>
                  </a:cxn>
                  <a:cxn ang="0">
                    <a:pos x="87" y="30"/>
                  </a:cxn>
                  <a:cxn ang="0">
                    <a:pos x="80" y="25"/>
                  </a:cxn>
                  <a:cxn ang="0">
                    <a:pos x="72" y="24"/>
                  </a:cxn>
                  <a:cxn ang="0">
                    <a:pos x="65" y="25"/>
                  </a:cxn>
                  <a:cxn ang="0">
                    <a:pos x="74" y="27"/>
                  </a:cxn>
                  <a:cxn ang="0">
                    <a:pos x="78" y="30"/>
                  </a:cxn>
                  <a:cxn ang="0">
                    <a:pos x="84" y="32"/>
                  </a:cxn>
                  <a:cxn ang="0">
                    <a:pos x="84" y="34"/>
                  </a:cxn>
                  <a:cxn ang="0">
                    <a:pos x="84" y="37"/>
                  </a:cxn>
                  <a:cxn ang="0">
                    <a:pos x="83" y="39"/>
                  </a:cxn>
                  <a:cxn ang="0">
                    <a:pos x="81" y="38"/>
                  </a:cxn>
                  <a:cxn ang="0">
                    <a:pos x="72" y="36"/>
                  </a:cxn>
                  <a:cxn ang="0">
                    <a:pos x="65" y="34"/>
                  </a:cxn>
                  <a:cxn ang="0">
                    <a:pos x="59" y="36"/>
                  </a:cxn>
                  <a:cxn ang="0">
                    <a:pos x="56" y="38"/>
                  </a:cxn>
                  <a:cxn ang="0">
                    <a:pos x="52" y="43"/>
                  </a:cxn>
                  <a:cxn ang="0">
                    <a:pos x="50" y="48"/>
                  </a:cxn>
                  <a:cxn ang="0">
                    <a:pos x="46" y="52"/>
                  </a:cxn>
                  <a:cxn ang="0">
                    <a:pos x="44" y="57"/>
                  </a:cxn>
                  <a:cxn ang="0">
                    <a:pos x="39" y="60"/>
                  </a:cxn>
                  <a:cxn ang="0">
                    <a:pos x="35" y="61"/>
                  </a:cxn>
                  <a:cxn ang="0">
                    <a:pos x="31" y="62"/>
                  </a:cxn>
                  <a:cxn ang="0">
                    <a:pos x="25" y="61"/>
                  </a:cxn>
                  <a:cxn ang="0">
                    <a:pos x="21" y="61"/>
                  </a:cxn>
                  <a:cxn ang="0">
                    <a:pos x="15" y="62"/>
                  </a:cxn>
                  <a:cxn ang="0">
                    <a:pos x="0" y="66"/>
                  </a:cxn>
                  <a:cxn ang="0">
                    <a:pos x="0" y="39"/>
                  </a:cxn>
                </a:cxnLst>
                <a:rect l="0" t="0" r="r" b="b"/>
                <a:pathLst>
                  <a:path w="93" h="67">
                    <a:moveTo>
                      <a:pt x="0" y="39"/>
                    </a:moveTo>
                    <a:lnTo>
                      <a:pt x="11" y="36"/>
                    </a:lnTo>
                    <a:lnTo>
                      <a:pt x="16" y="34"/>
                    </a:lnTo>
                    <a:lnTo>
                      <a:pt x="19" y="32"/>
                    </a:lnTo>
                    <a:lnTo>
                      <a:pt x="21" y="28"/>
                    </a:lnTo>
                    <a:lnTo>
                      <a:pt x="27" y="21"/>
                    </a:lnTo>
                    <a:lnTo>
                      <a:pt x="37" y="12"/>
                    </a:lnTo>
                    <a:lnTo>
                      <a:pt x="39" y="8"/>
                    </a:lnTo>
                    <a:lnTo>
                      <a:pt x="41" y="6"/>
                    </a:lnTo>
                    <a:lnTo>
                      <a:pt x="46" y="4"/>
                    </a:lnTo>
                    <a:lnTo>
                      <a:pt x="62" y="2"/>
                    </a:lnTo>
                    <a:lnTo>
                      <a:pt x="66" y="0"/>
                    </a:lnTo>
                    <a:lnTo>
                      <a:pt x="70" y="2"/>
                    </a:lnTo>
                    <a:lnTo>
                      <a:pt x="72" y="3"/>
                    </a:lnTo>
                    <a:lnTo>
                      <a:pt x="82" y="7"/>
                    </a:lnTo>
                    <a:lnTo>
                      <a:pt x="86" y="9"/>
                    </a:lnTo>
                    <a:lnTo>
                      <a:pt x="88" y="10"/>
                    </a:lnTo>
                    <a:lnTo>
                      <a:pt x="89" y="18"/>
                    </a:lnTo>
                    <a:lnTo>
                      <a:pt x="90" y="20"/>
                    </a:lnTo>
                    <a:lnTo>
                      <a:pt x="90" y="22"/>
                    </a:lnTo>
                    <a:lnTo>
                      <a:pt x="92" y="25"/>
                    </a:lnTo>
                    <a:lnTo>
                      <a:pt x="92" y="27"/>
                    </a:lnTo>
                    <a:lnTo>
                      <a:pt x="90" y="30"/>
                    </a:lnTo>
                    <a:lnTo>
                      <a:pt x="87" y="30"/>
                    </a:lnTo>
                    <a:lnTo>
                      <a:pt x="80" y="25"/>
                    </a:lnTo>
                    <a:lnTo>
                      <a:pt x="72" y="24"/>
                    </a:lnTo>
                    <a:lnTo>
                      <a:pt x="65" y="25"/>
                    </a:lnTo>
                    <a:lnTo>
                      <a:pt x="74" y="27"/>
                    </a:lnTo>
                    <a:lnTo>
                      <a:pt x="78" y="30"/>
                    </a:lnTo>
                    <a:lnTo>
                      <a:pt x="84" y="32"/>
                    </a:lnTo>
                    <a:lnTo>
                      <a:pt x="84" y="34"/>
                    </a:lnTo>
                    <a:lnTo>
                      <a:pt x="84" y="37"/>
                    </a:lnTo>
                    <a:lnTo>
                      <a:pt x="83" y="39"/>
                    </a:lnTo>
                    <a:lnTo>
                      <a:pt x="81" y="38"/>
                    </a:lnTo>
                    <a:lnTo>
                      <a:pt x="72" y="36"/>
                    </a:lnTo>
                    <a:lnTo>
                      <a:pt x="65" y="34"/>
                    </a:lnTo>
                    <a:lnTo>
                      <a:pt x="59" y="36"/>
                    </a:lnTo>
                    <a:lnTo>
                      <a:pt x="56" y="38"/>
                    </a:lnTo>
                    <a:lnTo>
                      <a:pt x="52" y="43"/>
                    </a:lnTo>
                    <a:lnTo>
                      <a:pt x="50" y="48"/>
                    </a:lnTo>
                    <a:lnTo>
                      <a:pt x="46" y="52"/>
                    </a:lnTo>
                    <a:lnTo>
                      <a:pt x="44" y="57"/>
                    </a:lnTo>
                    <a:lnTo>
                      <a:pt x="39" y="60"/>
                    </a:lnTo>
                    <a:lnTo>
                      <a:pt x="35" y="61"/>
                    </a:lnTo>
                    <a:lnTo>
                      <a:pt x="31" y="62"/>
                    </a:lnTo>
                    <a:lnTo>
                      <a:pt x="25" y="61"/>
                    </a:lnTo>
                    <a:lnTo>
                      <a:pt x="21" y="61"/>
                    </a:lnTo>
                    <a:lnTo>
                      <a:pt x="15" y="62"/>
                    </a:lnTo>
                    <a:lnTo>
                      <a:pt x="0" y="66"/>
                    </a:lnTo>
                    <a:lnTo>
                      <a:pt x="0" y="39"/>
                    </a:lnTo>
                  </a:path>
                </a:pathLst>
              </a:custGeom>
              <a:solidFill>
                <a:srgbClr val="FFC080"/>
              </a:solidFill>
              <a:ln w="12700" cap="rnd" cmpd="sng">
                <a:solidFill>
                  <a:srgbClr val="402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8" name="Freeform 348"/>
              <p:cNvSpPr>
                <a:spLocks/>
              </p:cNvSpPr>
              <p:nvPr/>
            </p:nvSpPr>
            <p:spPr bwMode="invGray">
              <a:xfrm>
                <a:off x="1752" y="2921"/>
                <a:ext cx="77" cy="51"/>
              </a:xfrm>
              <a:custGeom>
                <a:avLst/>
                <a:gdLst/>
                <a:ahLst/>
                <a:cxnLst>
                  <a:cxn ang="0">
                    <a:pos x="29" y="19"/>
                  </a:cxn>
                  <a:cxn ang="0">
                    <a:pos x="24" y="14"/>
                  </a:cxn>
                  <a:cxn ang="0">
                    <a:pos x="20" y="11"/>
                  </a:cxn>
                  <a:cxn ang="0">
                    <a:pos x="15" y="7"/>
                  </a:cxn>
                  <a:cxn ang="0">
                    <a:pos x="10" y="4"/>
                  </a:cxn>
                  <a:cxn ang="0">
                    <a:pos x="4" y="4"/>
                  </a:cxn>
                  <a:cxn ang="0">
                    <a:pos x="0" y="7"/>
                  </a:cxn>
                  <a:cxn ang="0">
                    <a:pos x="6" y="2"/>
                  </a:cxn>
                  <a:cxn ang="0">
                    <a:pos x="12" y="0"/>
                  </a:cxn>
                  <a:cxn ang="0">
                    <a:pos x="20" y="9"/>
                  </a:cxn>
                  <a:cxn ang="0">
                    <a:pos x="24" y="9"/>
                  </a:cxn>
                  <a:cxn ang="0">
                    <a:pos x="29" y="16"/>
                  </a:cxn>
                  <a:cxn ang="0">
                    <a:pos x="29" y="19"/>
                  </a:cxn>
                </a:cxnLst>
                <a:rect l="0" t="0" r="r" b="b"/>
                <a:pathLst>
                  <a:path w="30" h="20">
                    <a:moveTo>
                      <a:pt x="29" y="19"/>
                    </a:moveTo>
                    <a:lnTo>
                      <a:pt x="24" y="14"/>
                    </a:lnTo>
                    <a:lnTo>
                      <a:pt x="20" y="11"/>
                    </a:lnTo>
                    <a:lnTo>
                      <a:pt x="15" y="7"/>
                    </a:lnTo>
                    <a:lnTo>
                      <a:pt x="10" y="4"/>
                    </a:lnTo>
                    <a:lnTo>
                      <a:pt x="4" y="4"/>
                    </a:lnTo>
                    <a:lnTo>
                      <a:pt x="0" y="7"/>
                    </a:lnTo>
                    <a:lnTo>
                      <a:pt x="6" y="2"/>
                    </a:lnTo>
                    <a:lnTo>
                      <a:pt x="12" y="0"/>
                    </a:lnTo>
                    <a:lnTo>
                      <a:pt x="20" y="9"/>
                    </a:lnTo>
                    <a:lnTo>
                      <a:pt x="24" y="9"/>
                    </a:lnTo>
                    <a:lnTo>
                      <a:pt x="29" y="16"/>
                    </a:lnTo>
                    <a:lnTo>
                      <a:pt x="29" y="19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09" name="Freeform 349"/>
              <p:cNvSpPr>
                <a:spLocks/>
              </p:cNvSpPr>
              <p:nvPr/>
            </p:nvSpPr>
            <p:spPr bwMode="invGray">
              <a:xfrm>
                <a:off x="1724" y="2901"/>
                <a:ext cx="66" cy="50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1" y="0"/>
                  </a:cxn>
                  <a:cxn ang="0">
                    <a:pos x="25" y="5"/>
                  </a:cxn>
                  <a:cxn ang="0">
                    <a:pos x="22" y="5"/>
                  </a:cxn>
                  <a:cxn ang="0">
                    <a:pos x="19" y="3"/>
                  </a:cxn>
                  <a:cxn ang="0">
                    <a:pos x="10" y="9"/>
                  </a:cxn>
                  <a:cxn ang="0">
                    <a:pos x="5" y="15"/>
                  </a:cxn>
                  <a:cxn ang="0">
                    <a:pos x="1" y="19"/>
                  </a:cxn>
                  <a:cxn ang="0">
                    <a:pos x="0" y="15"/>
                  </a:cxn>
                  <a:cxn ang="0">
                    <a:pos x="4" y="13"/>
                  </a:cxn>
                  <a:cxn ang="0">
                    <a:pos x="11" y="5"/>
                  </a:cxn>
                  <a:cxn ang="0">
                    <a:pos x="17" y="0"/>
                  </a:cxn>
                </a:cxnLst>
                <a:rect l="0" t="0" r="r" b="b"/>
                <a:pathLst>
                  <a:path w="26" h="20">
                    <a:moveTo>
                      <a:pt x="17" y="0"/>
                    </a:moveTo>
                    <a:lnTo>
                      <a:pt x="21" y="0"/>
                    </a:lnTo>
                    <a:lnTo>
                      <a:pt x="25" y="5"/>
                    </a:lnTo>
                    <a:lnTo>
                      <a:pt x="22" y="5"/>
                    </a:lnTo>
                    <a:lnTo>
                      <a:pt x="19" y="3"/>
                    </a:lnTo>
                    <a:lnTo>
                      <a:pt x="10" y="9"/>
                    </a:lnTo>
                    <a:lnTo>
                      <a:pt x="5" y="15"/>
                    </a:lnTo>
                    <a:lnTo>
                      <a:pt x="1" y="19"/>
                    </a:lnTo>
                    <a:lnTo>
                      <a:pt x="0" y="15"/>
                    </a:lnTo>
                    <a:lnTo>
                      <a:pt x="4" y="13"/>
                    </a:lnTo>
                    <a:lnTo>
                      <a:pt x="11" y="5"/>
                    </a:lnTo>
                    <a:lnTo>
                      <a:pt x="17" y="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0" name="Freeform 350"/>
              <p:cNvSpPr>
                <a:spLocks/>
              </p:cNvSpPr>
              <p:nvPr/>
            </p:nvSpPr>
            <p:spPr bwMode="invGray">
              <a:xfrm>
                <a:off x="1772" y="2944"/>
                <a:ext cx="52" cy="5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"/>
                  </a:cxn>
                  <a:cxn ang="0">
                    <a:pos x="7" y="13"/>
                  </a:cxn>
                  <a:cxn ang="0">
                    <a:pos x="19" y="19"/>
                  </a:cxn>
                  <a:cxn ang="0">
                    <a:pos x="0" y="0"/>
                  </a:cxn>
                </a:cxnLst>
                <a:rect l="0" t="0" r="r" b="b"/>
                <a:pathLst>
                  <a:path w="20" h="20">
                    <a:moveTo>
                      <a:pt x="0" y="0"/>
                    </a:moveTo>
                    <a:lnTo>
                      <a:pt x="0" y="5"/>
                    </a:lnTo>
                    <a:lnTo>
                      <a:pt x="7" y="13"/>
                    </a:lnTo>
                    <a:lnTo>
                      <a:pt x="19" y="1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1" name="Freeform 351"/>
              <p:cNvSpPr>
                <a:spLocks/>
              </p:cNvSpPr>
              <p:nvPr/>
            </p:nvSpPr>
            <p:spPr bwMode="invGray">
              <a:xfrm>
                <a:off x="1673" y="2934"/>
                <a:ext cx="51" cy="50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15" y="8"/>
                  </a:cxn>
                  <a:cxn ang="0">
                    <a:pos x="15" y="10"/>
                  </a:cxn>
                  <a:cxn ang="0">
                    <a:pos x="0" y="19"/>
                  </a:cxn>
                  <a:cxn ang="0">
                    <a:pos x="19" y="0"/>
                  </a:cxn>
                </a:cxnLst>
                <a:rect l="0" t="0" r="r" b="b"/>
                <a:pathLst>
                  <a:path w="20" h="20">
                    <a:moveTo>
                      <a:pt x="19" y="0"/>
                    </a:moveTo>
                    <a:lnTo>
                      <a:pt x="15" y="8"/>
                    </a:lnTo>
                    <a:lnTo>
                      <a:pt x="15" y="10"/>
                    </a:lnTo>
                    <a:lnTo>
                      <a:pt x="0" y="19"/>
                    </a:lnTo>
                    <a:lnTo>
                      <a:pt x="19" y="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2" name="Freeform 352"/>
              <p:cNvSpPr>
                <a:spLocks/>
              </p:cNvSpPr>
              <p:nvPr/>
            </p:nvSpPr>
            <p:spPr bwMode="invGray">
              <a:xfrm>
                <a:off x="1655" y="2931"/>
                <a:ext cx="51" cy="51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15" y="5"/>
                  </a:cxn>
                  <a:cxn ang="0">
                    <a:pos x="11" y="10"/>
                  </a:cxn>
                  <a:cxn ang="0">
                    <a:pos x="0" y="19"/>
                  </a:cxn>
                  <a:cxn ang="0">
                    <a:pos x="11" y="9"/>
                  </a:cxn>
                  <a:cxn ang="0">
                    <a:pos x="19" y="0"/>
                  </a:cxn>
                </a:cxnLst>
                <a:rect l="0" t="0" r="r" b="b"/>
                <a:pathLst>
                  <a:path w="20" h="20">
                    <a:moveTo>
                      <a:pt x="19" y="0"/>
                    </a:moveTo>
                    <a:lnTo>
                      <a:pt x="15" y="5"/>
                    </a:lnTo>
                    <a:lnTo>
                      <a:pt x="11" y="10"/>
                    </a:lnTo>
                    <a:lnTo>
                      <a:pt x="0" y="19"/>
                    </a:lnTo>
                    <a:lnTo>
                      <a:pt x="11" y="9"/>
                    </a:lnTo>
                    <a:lnTo>
                      <a:pt x="19" y="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3" name="Freeform 353"/>
              <p:cNvSpPr>
                <a:spLocks/>
              </p:cNvSpPr>
              <p:nvPr/>
            </p:nvSpPr>
            <p:spPr bwMode="invGray">
              <a:xfrm>
                <a:off x="1601" y="2994"/>
                <a:ext cx="51" cy="5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" y="5"/>
                  </a:cxn>
                  <a:cxn ang="0">
                    <a:pos x="15" y="13"/>
                  </a:cxn>
                  <a:cxn ang="0">
                    <a:pos x="15" y="19"/>
                  </a:cxn>
                  <a:cxn ang="0">
                    <a:pos x="19" y="10"/>
                  </a:cxn>
                  <a:cxn ang="0">
                    <a:pos x="15" y="4"/>
                  </a:cxn>
                  <a:cxn ang="0">
                    <a:pos x="0" y="0"/>
                  </a:cxn>
                </a:cxnLst>
                <a:rect l="0" t="0" r="r" b="b"/>
                <a:pathLst>
                  <a:path w="20" h="20">
                    <a:moveTo>
                      <a:pt x="0" y="0"/>
                    </a:moveTo>
                    <a:lnTo>
                      <a:pt x="11" y="5"/>
                    </a:lnTo>
                    <a:lnTo>
                      <a:pt x="15" y="13"/>
                    </a:lnTo>
                    <a:lnTo>
                      <a:pt x="15" y="19"/>
                    </a:lnTo>
                    <a:lnTo>
                      <a:pt x="19" y="10"/>
                    </a:lnTo>
                    <a:lnTo>
                      <a:pt x="15" y="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200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4" name="Freeform 354"/>
              <p:cNvSpPr>
                <a:spLocks/>
              </p:cNvSpPr>
              <p:nvPr/>
            </p:nvSpPr>
            <p:spPr bwMode="invGray">
              <a:xfrm>
                <a:off x="1331" y="2624"/>
                <a:ext cx="150" cy="421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4" y="7"/>
                  </a:cxn>
                  <a:cxn ang="0">
                    <a:pos x="15" y="16"/>
                  </a:cxn>
                  <a:cxn ang="0">
                    <a:pos x="24" y="26"/>
                  </a:cxn>
                  <a:cxn ang="0">
                    <a:pos x="41" y="70"/>
                  </a:cxn>
                  <a:cxn ang="0">
                    <a:pos x="49" y="110"/>
                  </a:cxn>
                  <a:cxn ang="0">
                    <a:pos x="58" y="164"/>
                  </a:cxn>
                  <a:cxn ang="0">
                    <a:pos x="33" y="140"/>
                  </a:cxn>
                  <a:cxn ang="0">
                    <a:pos x="0" y="21"/>
                  </a:cxn>
                  <a:cxn ang="0">
                    <a:pos x="8" y="0"/>
                  </a:cxn>
                </a:cxnLst>
                <a:rect l="0" t="0" r="r" b="b"/>
                <a:pathLst>
                  <a:path w="59" h="165">
                    <a:moveTo>
                      <a:pt x="8" y="0"/>
                    </a:moveTo>
                    <a:lnTo>
                      <a:pt x="14" y="7"/>
                    </a:lnTo>
                    <a:lnTo>
                      <a:pt x="15" y="16"/>
                    </a:lnTo>
                    <a:lnTo>
                      <a:pt x="24" y="26"/>
                    </a:lnTo>
                    <a:lnTo>
                      <a:pt x="41" y="70"/>
                    </a:lnTo>
                    <a:lnTo>
                      <a:pt x="49" y="110"/>
                    </a:lnTo>
                    <a:lnTo>
                      <a:pt x="58" y="164"/>
                    </a:lnTo>
                    <a:lnTo>
                      <a:pt x="33" y="140"/>
                    </a:lnTo>
                    <a:lnTo>
                      <a:pt x="0" y="21"/>
                    </a:lnTo>
                    <a:lnTo>
                      <a:pt x="8" y="0"/>
                    </a:lnTo>
                  </a:path>
                </a:pathLst>
              </a:custGeom>
              <a:solidFill>
                <a:srgbClr val="40000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5" name="Freeform 355"/>
              <p:cNvSpPr>
                <a:spLocks/>
              </p:cNvSpPr>
              <p:nvPr/>
            </p:nvSpPr>
            <p:spPr bwMode="invGray">
              <a:xfrm>
                <a:off x="1096" y="2543"/>
                <a:ext cx="541" cy="699"/>
              </a:xfrm>
              <a:custGeom>
                <a:avLst/>
                <a:gdLst/>
                <a:ahLst/>
                <a:cxnLst>
                  <a:cxn ang="0">
                    <a:pos x="39" y="15"/>
                  </a:cxn>
                  <a:cxn ang="0">
                    <a:pos x="45" y="0"/>
                  </a:cxn>
                  <a:cxn ang="0">
                    <a:pos x="97" y="26"/>
                  </a:cxn>
                  <a:cxn ang="0">
                    <a:pos x="99" y="44"/>
                  </a:cxn>
                  <a:cxn ang="0">
                    <a:pos x="104" y="51"/>
                  </a:cxn>
                  <a:cxn ang="0">
                    <a:pos x="109" y="58"/>
                  </a:cxn>
                  <a:cxn ang="0">
                    <a:pos x="112" y="71"/>
                  </a:cxn>
                  <a:cxn ang="0">
                    <a:pos x="124" y="102"/>
                  </a:cxn>
                  <a:cxn ang="0">
                    <a:pos x="134" y="141"/>
                  </a:cxn>
                  <a:cxn ang="0">
                    <a:pos x="137" y="166"/>
                  </a:cxn>
                  <a:cxn ang="0">
                    <a:pos x="178" y="167"/>
                  </a:cxn>
                  <a:cxn ang="0">
                    <a:pos x="185" y="172"/>
                  </a:cxn>
                  <a:cxn ang="0">
                    <a:pos x="205" y="172"/>
                  </a:cxn>
                  <a:cxn ang="0">
                    <a:pos x="209" y="182"/>
                  </a:cxn>
                  <a:cxn ang="0">
                    <a:pos x="211" y="193"/>
                  </a:cxn>
                  <a:cxn ang="0">
                    <a:pos x="209" y="203"/>
                  </a:cxn>
                  <a:cxn ang="0">
                    <a:pos x="191" y="207"/>
                  </a:cxn>
                  <a:cxn ang="0">
                    <a:pos x="183" y="221"/>
                  </a:cxn>
                  <a:cxn ang="0">
                    <a:pos x="167" y="226"/>
                  </a:cxn>
                  <a:cxn ang="0">
                    <a:pos x="154" y="226"/>
                  </a:cxn>
                  <a:cxn ang="0">
                    <a:pos x="140" y="229"/>
                  </a:cxn>
                  <a:cxn ang="0">
                    <a:pos x="140" y="237"/>
                  </a:cxn>
                  <a:cxn ang="0">
                    <a:pos x="140" y="251"/>
                  </a:cxn>
                  <a:cxn ang="0">
                    <a:pos x="139" y="261"/>
                  </a:cxn>
                  <a:cxn ang="0">
                    <a:pos x="131" y="262"/>
                  </a:cxn>
                  <a:cxn ang="0">
                    <a:pos x="122" y="263"/>
                  </a:cxn>
                  <a:cxn ang="0">
                    <a:pos x="112" y="273"/>
                  </a:cxn>
                  <a:cxn ang="0">
                    <a:pos x="101" y="273"/>
                  </a:cxn>
                  <a:cxn ang="0">
                    <a:pos x="92" y="271"/>
                  </a:cxn>
                  <a:cxn ang="0">
                    <a:pos x="77" y="267"/>
                  </a:cxn>
                  <a:cxn ang="0">
                    <a:pos x="61" y="268"/>
                  </a:cxn>
                  <a:cxn ang="0">
                    <a:pos x="44" y="273"/>
                  </a:cxn>
                  <a:cxn ang="0">
                    <a:pos x="28" y="269"/>
                  </a:cxn>
                  <a:cxn ang="0">
                    <a:pos x="17" y="256"/>
                  </a:cxn>
                  <a:cxn ang="0">
                    <a:pos x="17" y="240"/>
                  </a:cxn>
                  <a:cxn ang="0">
                    <a:pos x="14" y="221"/>
                  </a:cxn>
                  <a:cxn ang="0">
                    <a:pos x="11" y="195"/>
                  </a:cxn>
                  <a:cxn ang="0">
                    <a:pos x="7" y="173"/>
                  </a:cxn>
                  <a:cxn ang="0">
                    <a:pos x="0" y="138"/>
                  </a:cxn>
                  <a:cxn ang="0">
                    <a:pos x="1" y="102"/>
                  </a:cxn>
                  <a:cxn ang="0">
                    <a:pos x="1" y="73"/>
                  </a:cxn>
                  <a:cxn ang="0">
                    <a:pos x="2" y="51"/>
                  </a:cxn>
                  <a:cxn ang="0">
                    <a:pos x="7" y="41"/>
                  </a:cxn>
                  <a:cxn ang="0">
                    <a:pos x="15" y="34"/>
                  </a:cxn>
                  <a:cxn ang="0">
                    <a:pos x="26" y="21"/>
                  </a:cxn>
                  <a:cxn ang="0">
                    <a:pos x="39" y="15"/>
                  </a:cxn>
                </a:cxnLst>
                <a:rect l="0" t="0" r="r" b="b"/>
                <a:pathLst>
                  <a:path w="212" h="274">
                    <a:moveTo>
                      <a:pt x="39" y="15"/>
                    </a:moveTo>
                    <a:lnTo>
                      <a:pt x="45" y="0"/>
                    </a:lnTo>
                    <a:lnTo>
                      <a:pt x="97" y="26"/>
                    </a:lnTo>
                    <a:lnTo>
                      <a:pt x="99" y="44"/>
                    </a:lnTo>
                    <a:lnTo>
                      <a:pt x="104" y="51"/>
                    </a:lnTo>
                    <a:lnTo>
                      <a:pt x="109" y="58"/>
                    </a:lnTo>
                    <a:lnTo>
                      <a:pt x="112" y="71"/>
                    </a:lnTo>
                    <a:lnTo>
                      <a:pt x="124" y="102"/>
                    </a:lnTo>
                    <a:lnTo>
                      <a:pt x="134" y="141"/>
                    </a:lnTo>
                    <a:lnTo>
                      <a:pt x="137" y="166"/>
                    </a:lnTo>
                    <a:lnTo>
                      <a:pt x="178" y="167"/>
                    </a:lnTo>
                    <a:lnTo>
                      <a:pt x="185" y="172"/>
                    </a:lnTo>
                    <a:lnTo>
                      <a:pt x="205" y="172"/>
                    </a:lnTo>
                    <a:lnTo>
                      <a:pt x="209" y="182"/>
                    </a:lnTo>
                    <a:lnTo>
                      <a:pt x="211" y="193"/>
                    </a:lnTo>
                    <a:lnTo>
                      <a:pt x="209" y="203"/>
                    </a:lnTo>
                    <a:lnTo>
                      <a:pt x="191" y="207"/>
                    </a:lnTo>
                    <a:lnTo>
                      <a:pt x="183" y="221"/>
                    </a:lnTo>
                    <a:lnTo>
                      <a:pt x="167" y="226"/>
                    </a:lnTo>
                    <a:lnTo>
                      <a:pt x="154" y="226"/>
                    </a:lnTo>
                    <a:lnTo>
                      <a:pt x="140" y="229"/>
                    </a:lnTo>
                    <a:lnTo>
                      <a:pt x="140" y="237"/>
                    </a:lnTo>
                    <a:lnTo>
                      <a:pt x="140" y="251"/>
                    </a:lnTo>
                    <a:lnTo>
                      <a:pt x="139" y="261"/>
                    </a:lnTo>
                    <a:lnTo>
                      <a:pt x="131" y="262"/>
                    </a:lnTo>
                    <a:lnTo>
                      <a:pt x="122" y="263"/>
                    </a:lnTo>
                    <a:lnTo>
                      <a:pt x="112" y="273"/>
                    </a:lnTo>
                    <a:lnTo>
                      <a:pt x="101" y="273"/>
                    </a:lnTo>
                    <a:lnTo>
                      <a:pt x="92" y="271"/>
                    </a:lnTo>
                    <a:lnTo>
                      <a:pt x="77" y="267"/>
                    </a:lnTo>
                    <a:lnTo>
                      <a:pt x="61" y="268"/>
                    </a:lnTo>
                    <a:lnTo>
                      <a:pt x="44" y="273"/>
                    </a:lnTo>
                    <a:lnTo>
                      <a:pt x="28" y="269"/>
                    </a:lnTo>
                    <a:lnTo>
                      <a:pt x="17" y="256"/>
                    </a:lnTo>
                    <a:lnTo>
                      <a:pt x="17" y="240"/>
                    </a:lnTo>
                    <a:lnTo>
                      <a:pt x="14" y="221"/>
                    </a:lnTo>
                    <a:lnTo>
                      <a:pt x="11" y="195"/>
                    </a:lnTo>
                    <a:lnTo>
                      <a:pt x="7" y="173"/>
                    </a:lnTo>
                    <a:lnTo>
                      <a:pt x="0" y="138"/>
                    </a:lnTo>
                    <a:lnTo>
                      <a:pt x="1" y="102"/>
                    </a:lnTo>
                    <a:lnTo>
                      <a:pt x="1" y="73"/>
                    </a:lnTo>
                    <a:lnTo>
                      <a:pt x="2" y="51"/>
                    </a:lnTo>
                    <a:lnTo>
                      <a:pt x="7" y="41"/>
                    </a:lnTo>
                    <a:lnTo>
                      <a:pt x="15" y="34"/>
                    </a:lnTo>
                    <a:lnTo>
                      <a:pt x="26" y="21"/>
                    </a:lnTo>
                    <a:lnTo>
                      <a:pt x="39" y="15"/>
                    </a:lnTo>
                  </a:path>
                </a:pathLst>
              </a:custGeom>
              <a:solidFill>
                <a:srgbClr val="C0C0C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6" name="Freeform 356"/>
              <p:cNvSpPr>
                <a:spLocks/>
              </p:cNvSpPr>
              <p:nvPr/>
            </p:nvSpPr>
            <p:spPr bwMode="invGray">
              <a:xfrm>
                <a:off x="1111" y="2583"/>
                <a:ext cx="342" cy="654"/>
              </a:xfrm>
              <a:custGeom>
                <a:avLst/>
                <a:gdLst/>
                <a:ahLst/>
                <a:cxnLst>
                  <a:cxn ang="0">
                    <a:pos x="115" y="211"/>
                  </a:cxn>
                  <a:cxn ang="0">
                    <a:pos x="85" y="208"/>
                  </a:cxn>
                  <a:cxn ang="0">
                    <a:pos x="57" y="198"/>
                  </a:cxn>
                  <a:cxn ang="0">
                    <a:pos x="46" y="175"/>
                  </a:cxn>
                  <a:cxn ang="0">
                    <a:pos x="50" y="161"/>
                  </a:cxn>
                  <a:cxn ang="0">
                    <a:pos x="29" y="127"/>
                  </a:cxn>
                  <a:cxn ang="0">
                    <a:pos x="49" y="141"/>
                  </a:cxn>
                  <a:cxn ang="0">
                    <a:pos x="38" y="113"/>
                  </a:cxn>
                  <a:cxn ang="0">
                    <a:pos x="21" y="75"/>
                  </a:cxn>
                  <a:cxn ang="0">
                    <a:pos x="46" y="107"/>
                  </a:cxn>
                  <a:cxn ang="0">
                    <a:pos x="50" y="57"/>
                  </a:cxn>
                  <a:cxn ang="0">
                    <a:pos x="63" y="39"/>
                  </a:cxn>
                  <a:cxn ang="0">
                    <a:pos x="80" y="32"/>
                  </a:cxn>
                  <a:cxn ang="0">
                    <a:pos x="46" y="18"/>
                  </a:cxn>
                  <a:cxn ang="0">
                    <a:pos x="29" y="33"/>
                  </a:cxn>
                  <a:cxn ang="0">
                    <a:pos x="40" y="18"/>
                  </a:cxn>
                  <a:cxn ang="0">
                    <a:pos x="59" y="13"/>
                  </a:cxn>
                  <a:cxn ang="0">
                    <a:pos x="46" y="7"/>
                  </a:cxn>
                  <a:cxn ang="0">
                    <a:pos x="34" y="0"/>
                  </a:cxn>
                  <a:cxn ang="0">
                    <a:pos x="19" y="13"/>
                  </a:cxn>
                  <a:cxn ang="0">
                    <a:pos x="4" y="27"/>
                  </a:cxn>
                  <a:cxn ang="0">
                    <a:pos x="0" y="50"/>
                  </a:cxn>
                  <a:cxn ang="0">
                    <a:pos x="1" y="95"/>
                  </a:cxn>
                  <a:cxn ang="0">
                    <a:pos x="5" y="149"/>
                  </a:cxn>
                  <a:cxn ang="0">
                    <a:pos x="13" y="200"/>
                  </a:cxn>
                  <a:cxn ang="0">
                    <a:pos x="16" y="232"/>
                  </a:cxn>
                  <a:cxn ang="0">
                    <a:pos x="23" y="247"/>
                  </a:cxn>
                  <a:cxn ang="0">
                    <a:pos x="40" y="255"/>
                  </a:cxn>
                  <a:cxn ang="0">
                    <a:pos x="52" y="251"/>
                  </a:cxn>
                  <a:cxn ang="0">
                    <a:pos x="62" y="238"/>
                  </a:cxn>
                  <a:cxn ang="0">
                    <a:pos x="65" y="233"/>
                  </a:cxn>
                  <a:cxn ang="0">
                    <a:pos x="79" y="247"/>
                  </a:cxn>
                  <a:cxn ang="0">
                    <a:pos x="97" y="252"/>
                  </a:cxn>
                  <a:cxn ang="0">
                    <a:pos x="110" y="248"/>
                  </a:cxn>
                  <a:cxn ang="0">
                    <a:pos x="101" y="238"/>
                  </a:cxn>
                  <a:cxn ang="0">
                    <a:pos x="87" y="221"/>
                  </a:cxn>
                  <a:cxn ang="0">
                    <a:pos x="110" y="235"/>
                  </a:cxn>
                  <a:cxn ang="0">
                    <a:pos x="129" y="241"/>
                  </a:cxn>
                  <a:cxn ang="0">
                    <a:pos x="133" y="232"/>
                  </a:cxn>
                </a:cxnLst>
                <a:rect l="0" t="0" r="r" b="b"/>
                <a:pathLst>
                  <a:path w="134" h="256">
                    <a:moveTo>
                      <a:pt x="133" y="214"/>
                    </a:moveTo>
                    <a:lnTo>
                      <a:pt x="115" y="211"/>
                    </a:lnTo>
                    <a:lnTo>
                      <a:pt x="100" y="210"/>
                    </a:lnTo>
                    <a:lnTo>
                      <a:pt x="85" y="208"/>
                    </a:lnTo>
                    <a:lnTo>
                      <a:pt x="65" y="205"/>
                    </a:lnTo>
                    <a:lnTo>
                      <a:pt x="57" y="198"/>
                    </a:lnTo>
                    <a:lnTo>
                      <a:pt x="34" y="165"/>
                    </a:lnTo>
                    <a:lnTo>
                      <a:pt x="46" y="175"/>
                    </a:lnTo>
                    <a:lnTo>
                      <a:pt x="55" y="182"/>
                    </a:lnTo>
                    <a:lnTo>
                      <a:pt x="50" y="161"/>
                    </a:lnTo>
                    <a:lnTo>
                      <a:pt x="41" y="150"/>
                    </a:lnTo>
                    <a:lnTo>
                      <a:pt x="29" y="127"/>
                    </a:lnTo>
                    <a:lnTo>
                      <a:pt x="40" y="139"/>
                    </a:lnTo>
                    <a:lnTo>
                      <a:pt x="49" y="141"/>
                    </a:lnTo>
                    <a:lnTo>
                      <a:pt x="46" y="125"/>
                    </a:lnTo>
                    <a:lnTo>
                      <a:pt x="38" y="113"/>
                    </a:lnTo>
                    <a:lnTo>
                      <a:pt x="29" y="103"/>
                    </a:lnTo>
                    <a:lnTo>
                      <a:pt x="21" y="75"/>
                    </a:lnTo>
                    <a:lnTo>
                      <a:pt x="38" y="98"/>
                    </a:lnTo>
                    <a:lnTo>
                      <a:pt x="46" y="107"/>
                    </a:lnTo>
                    <a:lnTo>
                      <a:pt x="47" y="72"/>
                    </a:lnTo>
                    <a:lnTo>
                      <a:pt x="50" y="57"/>
                    </a:lnTo>
                    <a:lnTo>
                      <a:pt x="55" y="50"/>
                    </a:lnTo>
                    <a:lnTo>
                      <a:pt x="63" y="39"/>
                    </a:lnTo>
                    <a:lnTo>
                      <a:pt x="74" y="34"/>
                    </a:lnTo>
                    <a:lnTo>
                      <a:pt x="80" y="32"/>
                    </a:lnTo>
                    <a:lnTo>
                      <a:pt x="63" y="13"/>
                    </a:lnTo>
                    <a:lnTo>
                      <a:pt x="46" y="18"/>
                    </a:lnTo>
                    <a:lnTo>
                      <a:pt x="34" y="26"/>
                    </a:lnTo>
                    <a:lnTo>
                      <a:pt x="29" y="33"/>
                    </a:lnTo>
                    <a:lnTo>
                      <a:pt x="33" y="22"/>
                    </a:lnTo>
                    <a:lnTo>
                      <a:pt x="40" y="18"/>
                    </a:lnTo>
                    <a:lnTo>
                      <a:pt x="51" y="13"/>
                    </a:lnTo>
                    <a:lnTo>
                      <a:pt x="59" y="13"/>
                    </a:lnTo>
                    <a:lnTo>
                      <a:pt x="55" y="8"/>
                    </a:lnTo>
                    <a:lnTo>
                      <a:pt x="46" y="7"/>
                    </a:lnTo>
                    <a:lnTo>
                      <a:pt x="38" y="2"/>
                    </a:lnTo>
                    <a:lnTo>
                      <a:pt x="34" y="0"/>
                    </a:lnTo>
                    <a:lnTo>
                      <a:pt x="23" y="7"/>
                    </a:lnTo>
                    <a:lnTo>
                      <a:pt x="19" y="13"/>
                    </a:lnTo>
                    <a:lnTo>
                      <a:pt x="13" y="22"/>
                    </a:lnTo>
                    <a:lnTo>
                      <a:pt x="4" y="27"/>
                    </a:lnTo>
                    <a:lnTo>
                      <a:pt x="3" y="36"/>
                    </a:lnTo>
                    <a:lnTo>
                      <a:pt x="0" y="50"/>
                    </a:lnTo>
                    <a:lnTo>
                      <a:pt x="0" y="73"/>
                    </a:lnTo>
                    <a:lnTo>
                      <a:pt x="1" y="95"/>
                    </a:lnTo>
                    <a:lnTo>
                      <a:pt x="2" y="121"/>
                    </a:lnTo>
                    <a:lnTo>
                      <a:pt x="5" y="149"/>
                    </a:lnTo>
                    <a:lnTo>
                      <a:pt x="10" y="175"/>
                    </a:lnTo>
                    <a:lnTo>
                      <a:pt x="13" y="200"/>
                    </a:lnTo>
                    <a:lnTo>
                      <a:pt x="16" y="217"/>
                    </a:lnTo>
                    <a:lnTo>
                      <a:pt x="16" y="232"/>
                    </a:lnTo>
                    <a:lnTo>
                      <a:pt x="19" y="241"/>
                    </a:lnTo>
                    <a:lnTo>
                      <a:pt x="23" y="247"/>
                    </a:lnTo>
                    <a:lnTo>
                      <a:pt x="31" y="253"/>
                    </a:lnTo>
                    <a:lnTo>
                      <a:pt x="40" y="255"/>
                    </a:lnTo>
                    <a:lnTo>
                      <a:pt x="46" y="252"/>
                    </a:lnTo>
                    <a:lnTo>
                      <a:pt x="52" y="251"/>
                    </a:lnTo>
                    <a:lnTo>
                      <a:pt x="68" y="247"/>
                    </a:lnTo>
                    <a:lnTo>
                      <a:pt x="62" y="238"/>
                    </a:lnTo>
                    <a:lnTo>
                      <a:pt x="55" y="223"/>
                    </a:lnTo>
                    <a:lnTo>
                      <a:pt x="65" y="233"/>
                    </a:lnTo>
                    <a:lnTo>
                      <a:pt x="74" y="241"/>
                    </a:lnTo>
                    <a:lnTo>
                      <a:pt x="79" y="247"/>
                    </a:lnTo>
                    <a:lnTo>
                      <a:pt x="87" y="252"/>
                    </a:lnTo>
                    <a:lnTo>
                      <a:pt x="97" y="252"/>
                    </a:lnTo>
                    <a:lnTo>
                      <a:pt x="105" y="252"/>
                    </a:lnTo>
                    <a:lnTo>
                      <a:pt x="110" y="248"/>
                    </a:lnTo>
                    <a:lnTo>
                      <a:pt x="112" y="246"/>
                    </a:lnTo>
                    <a:lnTo>
                      <a:pt x="101" y="238"/>
                    </a:lnTo>
                    <a:lnTo>
                      <a:pt x="91" y="227"/>
                    </a:lnTo>
                    <a:lnTo>
                      <a:pt x="87" y="221"/>
                    </a:lnTo>
                    <a:lnTo>
                      <a:pt x="95" y="222"/>
                    </a:lnTo>
                    <a:lnTo>
                      <a:pt x="110" y="235"/>
                    </a:lnTo>
                    <a:lnTo>
                      <a:pt x="115" y="241"/>
                    </a:lnTo>
                    <a:lnTo>
                      <a:pt x="129" y="241"/>
                    </a:lnTo>
                    <a:lnTo>
                      <a:pt x="133" y="239"/>
                    </a:lnTo>
                    <a:lnTo>
                      <a:pt x="133" y="232"/>
                    </a:lnTo>
                    <a:lnTo>
                      <a:pt x="133" y="214"/>
                    </a:lnTo>
                  </a:path>
                </a:pathLst>
              </a:custGeom>
              <a:solidFill>
                <a:srgbClr val="E0E0E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7" name="Freeform 357"/>
              <p:cNvSpPr>
                <a:spLocks/>
              </p:cNvSpPr>
              <p:nvPr/>
            </p:nvSpPr>
            <p:spPr bwMode="invGray">
              <a:xfrm>
                <a:off x="1137" y="2905"/>
                <a:ext cx="99" cy="304"/>
              </a:xfrm>
              <a:custGeom>
                <a:avLst/>
                <a:gdLst/>
                <a:ahLst/>
                <a:cxnLst>
                  <a:cxn ang="0">
                    <a:pos x="38" y="118"/>
                  </a:cxn>
                  <a:cxn ang="0">
                    <a:pos x="30" y="114"/>
                  </a:cxn>
                  <a:cxn ang="0">
                    <a:pos x="23" y="105"/>
                  </a:cxn>
                  <a:cxn ang="0">
                    <a:pos x="17" y="87"/>
                  </a:cxn>
                  <a:cxn ang="0">
                    <a:pos x="14" y="73"/>
                  </a:cxn>
                  <a:cxn ang="0">
                    <a:pos x="9" y="56"/>
                  </a:cxn>
                  <a:cxn ang="0">
                    <a:pos x="7" y="40"/>
                  </a:cxn>
                  <a:cxn ang="0">
                    <a:pos x="3" y="18"/>
                  </a:cxn>
                  <a:cxn ang="0">
                    <a:pos x="0" y="0"/>
                  </a:cxn>
                  <a:cxn ang="0">
                    <a:pos x="8" y="36"/>
                  </a:cxn>
                  <a:cxn ang="0">
                    <a:pos x="14" y="61"/>
                  </a:cxn>
                  <a:cxn ang="0">
                    <a:pos x="21" y="80"/>
                  </a:cxn>
                  <a:cxn ang="0">
                    <a:pos x="33" y="99"/>
                  </a:cxn>
                  <a:cxn ang="0">
                    <a:pos x="38" y="118"/>
                  </a:cxn>
                </a:cxnLst>
                <a:rect l="0" t="0" r="r" b="b"/>
                <a:pathLst>
                  <a:path w="39" h="119">
                    <a:moveTo>
                      <a:pt x="38" y="118"/>
                    </a:moveTo>
                    <a:lnTo>
                      <a:pt x="30" y="114"/>
                    </a:lnTo>
                    <a:lnTo>
                      <a:pt x="23" y="105"/>
                    </a:lnTo>
                    <a:lnTo>
                      <a:pt x="17" y="87"/>
                    </a:lnTo>
                    <a:lnTo>
                      <a:pt x="14" y="73"/>
                    </a:lnTo>
                    <a:lnTo>
                      <a:pt x="9" y="56"/>
                    </a:lnTo>
                    <a:lnTo>
                      <a:pt x="7" y="40"/>
                    </a:lnTo>
                    <a:lnTo>
                      <a:pt x="3" y="18"/>
                    </a:lnTo>
                    <a:lnTo>
                      <a:pt x="0" y="0"/>
                    </a:lnTo>
                    <a:lnTo>
                      <a:pt x="8" y="36"/>
                    </a:lnTo>
                    <a:lnTo>
                      <a:pt x="14" y="61"/>
                    </a:lnTo>
                    <a:lnTo>
                      <a:pt x="21" y="80"/>
                    </a:lnTo>
                    <a:lnTo>
                      <a:pt x="33" y="99"/>
                    </a:lnTo>
                    <a:lnTo>
                      <a:pt x="38" y="118"/>
                    </a:lnTo>
                  </a:path>
                </a:pathLst>
              </a:custGeom>
              <a:solidFill>
                <a:srgbClr val="C0C0C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8" name="Freeform 358"/>
              <p:cNvSpPr>
                <a:spLocks/>
              </p:cNvSpPr>
              <p:nvPr/>
            </p:nvSpPr>
            <p:spPr bwMode="invGray">
              <a:xfrm>
                <a:off x="1236" y="2665"/>
                <a:ext cx="398" cy="454"/>
              </a:xfrm>
              <a:custGeom>
                <a:avLst/>
                <a:gdLst/>
                <a:ahLst/>
                <a:cxnLst>
                  <a:cxn ang="0">
                    <a:pos x="48" y="7"/>
                  </a:cxn>
                  <a:cxn ang="0">
                    <a:pos x="60" y="33"/>
                  </a:cxn>
                  <a:cxn ang="0">
                    <a:pos x="57" y="58"/>
                  </a:cxn>
                  <a:cxn ang="0">
                    <a:pos x="60" y="87"/>
                  </a:cxn>
                  <a:cxn ang="0">
                    <a:pos x="60" y="95"/>
                  </a:cxn>
                  <a:cxn ang="0">
                    <a:pos x="57" y="105"/>
                  </a:cxn>
                  <a:cxn ang="0">
                    <a:pos x="64" y="111"/>
                  </a:cxn>
                  <a:cxn ang="0">
                    <a:pos x="70" y="119"/>
                  </a:cxn>
                  <a:cxn ang="0">
                    <a:pos x="80" y="119"/>
                  </a:cxn>
                  <a:cxn ang="0">
                    <a:pos x="116" y="120"/>
                  </a:cxn>
                  <a:cxn ang="0">
                    <a:pos x="133" y="126"/>
                  </a:cxn>
                  <a:cxn ang="0">
                    <a:pos x="155" y="132"/>
                  </a:cxn>
                  <a:cxn ang="0">
                    <a:pos x="155" y="153"/>
                  </a:cxn>
                  <a:cxn ang="0">
                    <a:pos x="141" y="149"/>
                  </a:cxn>
                  <a:cxn ang="0">
                    <a:pos x="138" y="139"/>
                  </a:cxn>
                  <a:cxn ang="0">
                    <a:pos x="135" y="156"/>
                  </a:cxn>
                  <a:cxn ang="0">
                    <a:pos x="127" y="171"/>
                  </a:cxn>
                  <a:cxn ang="0">
                    <a:pos x="102" y="177"/>
                  </a:cxn>
                  <a:cxn ang="0">
                    <a:pos x="105" y="167"/>
                  </a:cxn>
                  <a:cxn ang="0">
                    <a:pos x="118" y="149"/>
                  </a:cxn>
                  <a:cxn ang="0">
                    <a:pos x="108" y="141"/>
                  </a:cxn>
                  <a:cxn ang="0">
                    <a:pos x="102" y="157"/>
                  </a:cxn>
                  <a:cxn ang="0">
                    <a:pos x="85" y="175"/>
                  </a:cxn>
                  <a:cxn ang="0">
                    <a:pos x="61" y="175"/>
                  </a:cxn>
                  <a:cxn ang="0">
                    <a:pos x="87" y="155"/>
                  </a:cxn>
                  <a:cxn ang="0">
                    <a:pos x="98" y="141"/>
                  </a:cxn>
                  <a:cxn ang="0">
                    <a:pos x="92" y="135"/>
                  </a:cxn>
                  <a:cxn ang="0">
                    <a:pos x="82" y="148"/>
                  </a:cxn>
                  <a:cxn ang="0">
                    <a:pos x="66" y="162"/>
                  </a:cxn>
                  <a:cxn ang="0">
                    <a:pos x="52" y="172"/>
                  </a:cxn>
                  <a:cxn ang="0">
                    <a:pos x="34" y="173"/>
                  </a:cxn>
                  <a:cxn ang="0">
                    <a:pos x="45" y="162"/>
                  </a:cxn>
                  <a:cxn ang="0">
                    <a:pos x="60" y="149"/>
                  </a:cxn>
                  <a:cxn ang="0">
                    <a:pos x="56" y="141"/>
                  </a:cxn>
                  <a:cxn ang="0">
                    <a:pos x="48" y="154"/>
                  </a:cxn>
                  <a:cxn ang="0">
                    <a:pos x="34" y="166"/>
                  </a:cxn>
                  <a:cxn ang="0">
                    <a:pos x="18" y="167"/>
                  </a:cxn>
                  <a:cxn ang="0">
                    <a:pos x="8" y="151"/>
                  </a:cxn>
                  <a:cxn ang="0">
                    <a:pos x="39" y="145"/>
                  </a:cxn>
                  <a:cxn ang="0">
                    <a:pos x="58" y="132"/>
                  </a:cxn>
                  <a:cxn ang="0">
                    <a:pos x="62" y="120"/>
                  </a:cxn>
                  <a:cxn ang="0">
                    <a:pos x="54" y="126"/>
                  </a:cxn>
                  <a:cxn ang="0">
                    <a:pos x="33" y="142"/>
                  </a:cxn>
                  <a:cxn ang="0">
                    <a:pos x="8" y="151"/>
                  </a:cxn>
                  <a:cxn ang="0">
                    <a:pos x="3" y="117"/>
                  </a:cxn>
                  <a:cxn ang="0">
                    <a:pos x="18" y="113"/>
                  </a:cxn>
                  <a:cxn ang="0">
                    <a:pos x="48" y="116"/>
                  </a:cxn>
                  <a:cxn ang="0">
                    <a:pos x="52" y="110"/>
                  </a:cxn>
                  <a:cxn ang="0">
                    <a:pos x="37" y="112"/>
                  </a:cxn>
                  <a:cxn ang="0">
                    <a:pos x="3" y="105"/>
                  </a:cxn>
                  <a:cxn ang="0">
                    <a:pos x="1" y="74"/>
                  </a:cxn>
                  <a:cxn ang="0">
                    <a:pos x="2" y="40"/>
                  </a:cxn>
                  <a:cxn ang="0">
                    <a:pos x="19" y="23"/>
                  </a:cxn>
                  <a:cxn ang="0">
                    <a:pos x="2" y="31"/>
                  </a:cxn>
                  <a:cxn ang="0">
                    <a:pos x="12" y="10"/>
                  </a:cxn>
                  <a:cxn ang="0">
                    <a:pos x="28" y="0"/>
                  </a:cxn>
                </a:cxnLst>
                <a:rect l="0" t="0" r="r" b="b"/>
                <a:pathLst>
                  <a:path w="156" h="178">
                    <a:moveTo>
                      <a:pt x="28" y="0"/>
                    </a:moveTo>
                    <a:lnTo>
                      <a:pt x="48" y="7"/>
                    </a:lnTo>
                    <a:lnTo>
                      <a:pt x="56" y="15"/>
                    </a:lnTo>
                    <a:lnTo>
                      <a:pt x="60" y="33"/>
                    </a:lnTo>
                    <a:lnTo>
                      <a:pt x="60" y="50"/>
                    </a:lnTo>
                    <a:lnTo>
                      <a:pt x="57" y="58"/>
                    </a:lnTo>
                    <a:lnTo>
                      <a:pt x="60" y="75"/>
                    </a:lnTo>
                    <a:lnTo>
                      <a:pt x="60" y="87"/>
                    </a:lnTo>
                    <a:lnTo>
                      <a:pt x="56" y="90"/>
                    </a:lnTo>
                    <a:lnTo>
                      <a:pt x="60" y="95"/>
                    </a:lnTo>
                    <a:lnTo>
                      <a:pt x="61" y="100"/>
                    </a:lnTo>
                    <a:lnTo>
                      <a:pt x="57" y="105"/>
                    </a:lnTo>
                    <a:lnTo>
                      <a:pt x="57" y="110"/>
                    </a:lnTo>
                    <a:lnTo>
                      <a:pt x="64" y="111"/>
                    </a:lnTo>
                    <a:lnTo>
                      <a:pt x="63" y="116"/>
                    </a:lnTo>
                    <a:lnTo>
                      <a:pt x="70" y="119"/>
                    </a:lnTo>
                    <a:lnTo>
                      <a:pt x="76" y="117"/>
                    </a:lnTo>
                    <a:lnTo>
                      <a:pt x="80" y="119"/>
                    </a:lnTo>
                    <a:lnTo>
                      <a:pt x="99" y="121"/>
                    </a:lnTo>
                    <a:lnTo>
                      <a:pt x="116" y="120"/>
                    </a:lnTo>
                    <a:lnTo>
                      <a:pt x="126" y="121"/>
                    </a:lnTo>
                    <a:lnTo>
                      <a:pt x="133" y="126"/>
                    </a:lnTo>
                    <a:lnTo>
                      <a:pt x="150" y="126"/>
                    </a:lnTo>
                    <a:lnTo>
                      <a:pt x="155" y="132"/>
                    </a:lnTo>
                    <a:lnTo>
                      <a:pt x="155" y="141"/>
                    </a:lnTo>
                    <a:lnTo>
                      <a:pt x="155" y="153"/>
                    </a:lnTo>
                    <a:lnTo>
                      <a:pt x="141" y="156"/>
                    </a:lnTo>
                    <a:lnTo>
                      <a:pt x="141" y="149"/>
                    </a:lnTo>
                    <a:lnTo>
                      <a:pt x="140" y="142"/>
                    </a:lnTo>
                    <a:lnTo>
                      <a:pt x="138" y="139"/>
                    </a:lnTo>
                    <a:lnTo>
                      <a:pt x="136" y="147"/>
                    </a:lnTo>
                    <a:lnTo>
                      <a:pt x="135" y="156"/>
                    </a:lnTo>
                    <a:lnTo>
                      <a:pt x="133" y="162"/>
                    </a:lnTo>
                    <a:lnTo>
                      <a:pt x="127" y="171"/>
                    </a:lnTo>
                    <a:lnTo>
                      <a:pt x="112" y="174"/>
                    </a:lnTo>
                    <a:lnTo>
                      <a:pt x="102" y="177"/>
                    </a:lnTo>
                    <a:lnTo>
                      <a:pt x="90" y="177"/>
                    </a:lnTo>
                    <a:lnTo>
                      <a:pt x="105" y="167"/>
                    </a:lnTo>
                    <a:lnTo>
                      <a:pt x="116" y="156"/>
                    </a:lnTo>
                    <a:lnTo>
                      <a:pt x="118" y="149"/>
                    </a:lnTo>
                    <a:lnTo>
                      <a:pt x="117" y="142"/>
                    </a:lnTo>
                    <a:lnTo>
                      <a:pt x="108" y="141"/>
                    </a:lnTo>
                    <a:lnTo>
                      <a:pt x="104" y="149"/>
                    </a:lnTo>
                    <a:lnTo>
                      <a:pt x="102" y="157"/>
                    </a:lnTo>
                    <a:lnTo>
                      <a:pt x="93" y="167"/>
                    </a:lnTo>
                    <a:lnTo>
                      <a:pt x="85" y="175"/>
                    </a:lnTo>
                    <a:lnTo>
                      <a:pt x="75" y="177"/>
                    </a:lnTo>
                    <a:lnTo>
                      <a:pt x="61" y="175"/>
                    </a:lnTo>
                    <a:lnTo>
                      <a:pt x="76" y="161"/>
                    </a:lnTo>
                    <a:lnTo>
                      <a:pt x="87" y="155"/>
                    </a:lnTo>
                    <a:lnTo>
                      <a:pt x="96" y="147"/>
                    </a:lnTo>
                    <a:lnTo>
                      <a:pt x="98" y="141"/>
                    </a:lnTo>
                    <a:lnTo>
                      <a:pt x="97" y="136"/>
                    </a:lnTo>
                    <a:lnTo>
                      <a:pt x="92" y="135"/>
                    </a:lnTo>
                    <a:lnTo>
                      <a:pt x="86" y="141"/>
                    </a:lnTo>
                    <a:lnTo>
                      <a:pt x="82" y="148"/>
                    </a:lnTo>
                    <a:lnTo>
                      <a:pt x="75" y="157"/>
                    </a:lnTo>
                    <a:lnTo>
                      <a:pt x="66" y="162"/>
                    </a:lnTo>
                    <a:lnTo>
                      <a:pt x="60" y="167"/>
                    </a:lnTo>
                    <a:lnTo>
                      <a:pt x="52" y="172"/>
                    </a:lnTo>
                    <a:lnTo>
                      <a:pt x="43" y="173"/>
                    </a:lnTo>
                    <a:lnTo>
                      <a:pt x="34" y="173"/>
                    </a:lnTo>
                    <a:lnTo>
                      <a:pt x="24" y="172"/>
                    </a:lnTo>
                    <a:lnTo>
                      <a:pt x="45" y="162"/>
                    </a:lnTo>
                    <a:lnTo>
                      <a:pt x="54" y="157"/>
                    </a:lnTo>
                    <a:lnTo>
                      <a:pt x="60" y="149"/>
                    </a:lnTo>
                    <a:lnTo>
                      <a:pt x="60" y="141"/>
                    </a:lnTo>
                    <a:lnTo>
                      <a:pt x="56" y="141"/>
                    </a:lnTo>
                    <a:lnTo>
                      <a:pt x="52" y="148"/>
                    </a:lnTo>
                    <a:lnTo>
                      <a:pt x="48" y="154"/>
                    </a:lnTo>
                    <a:lnTo>
                      <a:pt x="43" y="160"/>
                    </a:lnTo>
                    <a:lnTo>
                      <a:pt x="34" y="166"/>
                    </a:lnTo>
                    <a:lnTo>
                      <a:pt x="25" y="171"/>
                    </a:lnTo>
                    <a:lnTo>
                      <a:pt x="18" y="167"/>
                    </a:lnTo>
                    <a:lnTo>
                      <a:pt x="14" y="162"/>
                    </a:lnTo>
                    <a:lnTo>
                      <a:pt x="8" y="151"/>
                    </a:lnTo>
                    <a:lnTo>
                      <a:pt x="19" y="148"/>
                    </a:lnTo>
                    <a:lnTo>
                      <a:pt x="39" y="145"/>
                    </a:lnTo>
                    <a:lnTo>
                      <a:pt x="52" y="138"/>
                    </a:lnTo>
                    <a:lnTo>
                      <a:pt x="58" y="132"/>
                    </a:lnTo>
                    <a:lnTo>
                      <a:pt x="61" y="124"/>
                    </a:lnTo>
                    <a:lnTo>
                      <a:pt x="62" y="120"/>
                    </a:lnTo>
                    <a:lnTo>
                      <a:pt x="58" y="120"/>
                    </a:lnTo>
                    <a:lnTo>
                      <a:pt x="54" y="126"/>
                    </a:lnTo>
                    <a:lnTo>
                      <a:pt x="48" y="136"/>
                    </a:lnTo>
                    <a:lnTo>
                      <a:pt x="33" y="142"/>
                    </a:lnTo>
                    <a:lnTo>
                      <a:pt x="19" y="147"/>
                    </a:lnTo>
                    <a:lnTo>
                      <a:pt x="8" y="151"/>
                    </a:lnTo>
                    <a:lnTo>
                      <a:pt x="3" y="131"/>
                    </a:lnTo>
                    <a:lnTo>
                      <a:pt x="3" y="117"/>
                    </a:lnTo>
                    <a:lnTo>
                      <a:pt x="3" y="105"/>
                    </a:lnTo>
                    <a:lnTo>
                      <a:pt x="18" y="113"/>
                    </a:lnTo>
                    <a:lnTo>
                      <a:pt x="34" y="117"/>
                    </a:lnTo>
                    <a:lnTo>
                      <a:pt x="48" y="116"/>
                    </a:lnTo>
                    <a:lnTo>
                      <a:pt x="51" y="114"/>
                    </a:lnTo>
                    <a:lnTo>
                      <a:pt x="52" y="110"/>
                    </a:lnTo>
                    <a:lnTo>
                      <a:pt x="44" y="110"/>
                    </a:lnTo>
                    <a:lnTo>
                      <a:pt x="37" y="112"/>
                    </a:lnTo>
                    <a:lnTo>
                      <a:pt x="18" y="113"/>
                    </a:lnTo>
                    <a:lnTo>
                      <a:pt x="3" y="105"/>
                    </a:lnTo>
                    <a:lnTo>
                      <a:pt x="2" y="86"/>
                    </a:lnTo>
                    <a:lnTo>
                      <a:pt x="1" y="74"/>
                    </a:lnTo>
                    <a:lnTo>
                      <a:pt x="0" y="60"/>
                    </a:lnTo>
                    <a:lnTo>
                      <a:pt x="2" y="40"/>
                    </a:lnTo>
                    <a:lnTo>
                      <a:pt x="6" y="33"/>
                    </a:lnTo>
                    <a:lnTo>
                      <a:pt x="19" y="23"/>
                    </a:lnTo>
                    <a:lnTo>
                      <a:pt x="14" y="25"/>
                    </a:lnTo>
                    <a:lnTo>
                      <a:pt x="2" y="31"/>
                    </a:lnTo>
                    <a:lnTo>
                      <a:pt x="7" y="17"/>
                    </a:lnTo>
                    <a:lnTo>
                      <a:pt x="12" y="10"/>
                    </a:lnTo>
                    <a:lnTo>
                      <a:pt x="14" y="5"/>
                    </a:lnTo>
                    <a:lnTo>
                      <a:pt x="28" y="0"/>
                    </a:lnTo>
                  </a:path>
                </a:pathLst>
              </a:custGeom>
              <a:solidFill>
                <a:srgbClr val="E0E0E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9" name="Freeform 359"/>
              <p:cNvSpPr>
                <a:spLocks/>
              </p:cNvSpPr>
              <p:nvPr/>
            </p:nvSpPr>
            <p:spPr bwMode="invGray">
              <a:xfrm>
                <a:off x="1264" y="2834"/>
                <a:ext cx="100" cy="104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38" y="3"/>
                  </a:cxn>
                  <a:cxn ang="0">
                    <a:pos x="33" y="10"/>
                  </a:cxn>
                  <a:cxn ang="0">
                    <a:pos x="28" y="15"/>
                  </a:cxn>
                  <a:cxn ang="0">
                    <a:pos x="17" y="23"/>
                  </a:cxn>
                  <a:cxn ang="0">
                    <a:pos x="14" y="27"/>
                  </a:cxn>
                  <a:cxn ang="0">
                    <a:pos x="3" y="36"/>
                  </a:cxn>
                  <a:cxn ang="0">
                    <a:pos x="15" y="32"/>
                  </a:cxn>
                  <a:cxn ang="0">
                    <a:pos x="26" y="28"/>
                  </a:cxn>
                  <a:cxn ang="0">
                    <a:pos x="35" y="27"/>
                  </a:cxn>
                  <a:cxn ang="0">
                    <a:pos x="34" y="31"/>
                  </a:cxn>
                  <a:cxn ang="0">
                    <a:pos x="17" y="35"/>
                  </a:cxn>
                  <a:cxn ang="0">
                    <a:pos x="9" y="38"/>
                  </a:cxn>
                  <a:cxn ang="0">
                    <a:pos x="3" y="40"/>
                  </a:cxn>
                  <a:cxn ang="0">
                    <a:pos x="0" y="37"/>
                  </a:cxn>
                  <a:cxn ang="0">
                    <a:pos x="0" y="32"/>
                  </a:cxn>
                  <a:cxn ang="0">
                    <a:pos x="3" y="30"/>
                  </a:cxn>
                  <a:cxn ang="0">
                    <a:pos x="8" y="24"/>
                  </a:cxn>
                  <a:cxn ang="0">
                    <a:pos x="13" y="17"/>
                  </a:cxn>
                  <a:cxn ang="0">
                    <a:pos x="19" y="8"/>
                  </a:cxn>
                  <a:cxn ang="0">
                    <a:pos x="26" y="2"/>
                  </a:cxn>
                  <a:cxn ang="0">
                    <a:pos x="33" y="1"/>
                  </a:cxn>
                  <a:cxn ang="0">
                    <a:pos x="38" y="0"/>
                  </a:cxn>
                </a:cxnLst>
                <a:rect l="0" t="0" r="r" b="b"/>
                <a:pathLst>
                  <a:path w="39" h="41">
                    <a:moveTo>
                      <a:pt x="38" y="0"/>
                    </a:moveTo>
                    <a:lnTo>
                      <a:pt x="38" y="3"/>
                    </a:lnTo>
                    <a:lnTo>
                      <a:pt x="33" y="10"/>
                    </a:lnTo>
                    <a:lnTo>
                      <a:pt x="28" y="15"/>
                    </a:lnTo>
                    <a:lnTo>
                      <a:pt x="17" y="23"/>
                    </a:lnTo>
                    <a:lnTo>
                      <a:pt x="14" y="27"/>
                    </a:lnTo>
                    <a:lnTo>
                      <a:pt x="3" y="36"/>
                    </a:lnTo>
                    <a:lnTo>
                      <a:pt x="15" y="32"/>
                    </a:lnTo>
                    <a:lnTo>
                      <a:pt x="26" y="28"/>
                    </a:lnTo>
                    <a:lnTo>
                      <a:pt x="35" y="27"/>
                    </a:lnTo>
                    <a:lnTo>
                      <a:pt x="34" y="31"/>
                    </a:lnTo>
                    <a:lnTo>
                      <a:pt x="17" y="35"/>
                    </a:lnTo>
                    <a:lnTo>
                      <a:pt x="9" y="38"/>
                    </a:lnTo>
                    <a:lnTo>
                      <a:pt x="3" y="40"/>
                    </a:lnTo>
                    <a:lnTo>
                      <a:pt x="0" y="37"/>
                    </a:lnTo>
                    <a:lnTo>
                      <a:pt x="0" y="32"/>
                    </a:lnTo>
                    <a:lnTo>
                      <a:pt x="3" y="30"/>
                    </a:lnTo>
                    <a:lnTo>
                      <a:pt x="8" y="24"/>
                    </a:lnTo>
                    <a:lnTo>
                      <a:pt x="13" y="17"/>
                    </a:lnTo>
                    <a:lnTo>
                      <a:pt x="19" y="8"/>
                    </a:lnTo>
                    <a:lnTo>
                      <a:pt x="26" y="2"/>
                    </a:lnTo>
                    <a:lnTo>
                      <a:pt x="33" y="1"/>
                    </a:lnTo>
                    <a:lnTo>
                      <a:pt x="38" y="0"/>
                    </a:lnTo>
                  </a:path>
                </a:pathLst>
              </a:custGeom>
              <a:solidFill>
                <a:srgbClr val="C0C0C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0" name="Freeform 360"/>
              <p:cNvSpPr>
                <a:spLocks/>
              </p:cNvSpPr>
              <p:nvPr/>
            </p:nvSpPr>
            <p:spPr bwMode="invGray">
              <a:xfrm>
                <a:off x="1267" y="2747"/>
                <a:ext cx="92" cy="138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33" y="1"/>
                  </a:cxn>
                  <a:cxn ang="0">
                    <a:pos x="35" y="6"/>
                  </a:cxn>
                  <a:cxn ang="0">
                    <a:pos x="35" y="9"/>
                  </a:cxn>
                  <a:cxn ang="0">
                    <a:pos x="32" y="15"/>
                  </a:cxn>
                  <a:cxn ang="0">
                    <a:pos x="27" y="16"/>
                  </a:cxn>
                  <a:cxn ang="0">
                    <a:pos x="20" y="22"/>
                  </a:cxn>
                  <a:cxn ang="0">
                    <a:pos x="13" y="28"/>
                  </a:cxn>
                  <a:cxn ang="0">
                    <a:pos x="8" y="39"/>
                  </a:cxn>
                  <a:cxn ang="0">
                    <a:pos x="2" y="50"/>
                  </a:cxn>
                  <a:cxn ang="0">
                    <a:pos x="0" y="53"/>
                  </a:cxn>
                  <a:cxn ang="0">
                    <a:pos x="2" y="40"/>
                  </a:cxn>
                  <a:cxn ang="0">
                    <a:pos x="3" y="30"/>
                  </a:cxn>
                  <a:cxn ang="0">
                    <a:pos x="6" y="21"/>
                  </a:cxn>
                  <a:cxn ang="0">
                    <a:pos x="10" y="13"/>
                  </a:cxn>
                  <a:cxn ang="0">
                    <a:pos x="24" y="1"/>
                  </a:cxn>
                  <a:cxn ang="0">
                    <a:pos x="28" y="0"/>
                  </a:cxn>
                </a:cxnLst>
                <a:rect l="0" t="0" r="r" b="b"/>
                <a:pathLst>
                  <a:path w="36" h="54">
                    <a:moveTo>
                      <a:pt x="28" y="0"/>
                    </a:moveTo>
                    <a:lnTo>
                      <a:pt x="33" y="1"/>
                    </a:lnTo>
                    <a:lnTo>
                      <a:pt x="35" y="6"/>
                    </a:lnTo>
                    <a:lnTo>
                      <a:pt x="35" y="9"/>
                    </a:lnTo>
                    <a:lnTo>
                      <a:pt x="32" y="15"/>
                    </a:lnTo>
                    <a:lnTo>
                      <a:pt x="27" y="16"/>
                    </a:lnTo>
                    <a:lnTo>
                      <a:pt x="20" y="22"/>
                    </a:lnTo>
                    <a:lnTo>
                      <a:pt x="13" y="28"/>
                    </a:lnTo>
                    <a:lnTo>
                      <a:pt x="8" y="39"/>
                    </a:lnTo>
                    <a:lnTo>
                      <a:pt x="2" y="50"/>
                    </a:lnTo>
                    <a:lnTo>
                      <a:pt x="0" y="53"/>
                    </a:lnTo>
                    <a:lnTo>
                      <a:pt x="2" y="40"/>
                    </a:lnTo>
                    <a:lnTo>
                      <a:pt x="3" y="30"/>
                    </a:lnTo>
                    <a:lnTo>
                      <a:pt x="6" y="21"/>
                    </a:lnTo>
                    <a:lnTo>
                      <a:pt x="10" y="13"/>
                    </a:lnTo>
                    <a:lnTo>
                      <a:pt x="24" y="1"/>
                    </a:lnTo>
                    <a:lnTo>
                      <a:pt x="28" y="0"/>
                    </a:lnTo>
                  </a:path>
                </a:pathLst>
              </a:custGeom>
              <a:solidFill>
                <a:srgbClr val="C0C0C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1" name="Freeform 361"/>
              <p:cNvSpPr>
                <a:spLocks/>
              </p:cNvSpPr>
              <p:nvPr/>
            </p:nvSpPr>
            <p:spPr bwMode="invGray">
              <a:xfrm>
                <a:off x="1277" y="2617"/>
                <a:ext cx="100" cy="79"/>
              </a:xfrm>
              <a:custGeom>
                <a:avLst/>
                <a:gdLst/>
                <a:ahLst/>
                <a:cxnLst>
                  <a:cxn ang="0">
                    <a:pos x="38" y="30"/>
                  </a:cxn>
                  <a:cxn ang="0">
                    <a:pos x="30" y="22"/>
                  </a:cxn>
                  <a:cxn ang="0">
                    <a:pos x="20" y="18"/>
                  </a:cxn>
                  <a:cxn ang="0">
                    <a:pos x="13" y="16"/>
                  </a:cxn>
                  <a:cxn ang="0">
                    <a:pos x="0" y="0"/>
                  </a:cxn>
                  <a:cxn ang="0">
                    <a:pos x="9" y="6"/>
                  </a:cxn>
                  <a:cxn ang="0">
                    <a:pos x="19" y="10"/>
                  </a:cxn>
                  <a:cxn ang="0">
                    <a:pos x="26" y="14"/>
                  </a:cxn>
                  <a:cxn ang="0">
                    <a:pos x="28" y="18"/>
                  </a:cxn>
                  <a:cxn ang="0">
                    <a:pos x="38" y="30"/>
                  </a:cxn>
                </a:cxnLst>
                <a:rect l="0" t="0" r="r" b="b"/>
                <a:pathLst>
                  <a:path w="39" h="31">
                    <a:moveTo>
                      <a:pt x="38" y="30"/>
                    </a:moveTo>
                    <a:lnTo>
                      <a:pt x="30" y="22"/>
                    </a:lnTo>
                    <a:lnTo>
                      <a:pt x="20" y="18"/>
                    </a:lnTo>
                    <a:lnTo>
                      <a:pt x="13" y="16"/>
                    </a:lnTo>
                    <a:lnTo>
                      <a:pt x="0" y="0"/>
                    </a:lnTo>
                    <a:lnTo>
                      <a:pt x="9" y="6"/>
                    </a:lnTo>
                    <a:lnTo>
                      <a:pt x="19" y="10"/>
                    </a:lnTo>
                    <a:lnTo>
                      <a:pt x="26" y="14"/>
                    </a:lnTo>
                    <a:lnTo>
                      <a:pt x="28" y="18"/>
                    </a:lnTo>
                    <a:lnTo>
                      <a:pt x="38" y="30"/>
                    </a:lnTo>
                  </a:path>
                </a:pathLst>
              </a:custGeom>
              <a:solidFill>
                <a:srgbClr val="E0E0E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2" name="Freeform 362"/>
              <p:cNvSpPr>
                <a:spLocks/>
              </p:cNvSpPr>
              <p:nvPr/>
            </p:nvSpPr>
            <p:spPr bwMode="invGray">
              <a:xfrm>
                <a:off x="1392" y="2762"/>
                <a:ext cx="56" cy="202"/>
              </a:xfrm>
              <a:custGeom>
                <a:avLst/>
                <a:gdLst/>
                <a:ahLst/>
                <a:cxnLst>
                  <a:cxn ang="0">
                    <a:pos x="21" y="78"/>
                  </a:cxn>
                  <a:cxn ang="0">
                    <a:pos x="9" y="78"/>
                  </a:cxn>
                  <a:cxn ang="0">
                    <a:pos x="7" y="76"/>
                  </a:cxn>
                  <a:cxn ang="0">
                    <a:pos x="7" y="74"/>
                  </a:cxn>
                  <a:cxn ang="0">
                    <a:pos x="4" y="70"/>
                  </a:cxn>
                  <a:cxn ang="0">
                    <a:pos x="1" y="68"/>
                  </a:cxn>
                  <a:cxn ang="0">
                    <a:pos x="2" y="64"/>
                  </a:cxn>
                  <a:cxn ang="0">
                    <a:pos x="2" y="61"/>
                  </a:cxn>
                  <a:cxn ang="0">
                    <a:pos x="1" y="56"/>
                  </a:cxn>
                  <a:cxn ang="0">
                    <a:pos x="1" y="51"/>
                  </a:cxn>
                  <a:cxn ang="0">
                    <a:pos x="2" y="45"/>
                  </a:cxn>
                  <a:cxn ang="0">
                    <a:pos x="2" y="33"/>
                  </a:cxn>
                  <a:cxn ang="0">
                    <a:pos x="0" y="21"/>
                  </a:cxn>
                  <a:cxn ang="0">
                    <a:pos x="1" y="14"/>
                  </a:cxn>
                  <a:cxn ang="0">
                    <a:pos x="1" y="0"/>
                  </a:cxn>
                  <a:cxn ang="0">
                    <a:pos x="7" y="21"/>
                  </a:cxn>
                  <a:cxn ang="0">
                    <a:pos x="12" y="40"/>
                  </a:cxn>
                  <a:cxn ang="0">
                    <a:pos x="17" y="63"/>
                  </a:cxn>
                  <a:cxn ang="0">
                    <a:pos x="21" y="78"/>
                  </a:cxn>
                </a:cxnLst>
                <a:rect l="0" t="0" r="r" b="b"/>
                <a:pathLst>
                  <a:path w="22" h="79">
                    <a:moveTo>
                      <a:pt x="21" y="78"/>
                    </a:moveTo>
                    <a:lnTo>
                      <a:pt x="9" y="78"/>
                    </a:lnTo>
                    <a:lnTo>
                      <a:pt x="7" y="76"/>
                    </a:lnTo>
                    <a:lnTo>
                      <a:pt x="7" y="74"/>
                    </a:lnTo>
                    <a:lnTo>
                      <a:pt x="4" y="70"/>
                    </a:lnTo>
                    <a:lnTo>
                      <a:pt x="1" y="68"/>
                    </a:lnTo>
                    <a:lnTo>
                      <a:pt x="2" y="64"/>
                    </a:lnTo>
                    <a:lnTo>
                      <a:pt x="2" y="61"/>
                    </a:lnTo>
                    <a:lnTo>
                      <a:pt x="1" y="56"/>
                    </a:lnTo>
                    <a:lnTo>
                      <a:pt x="1" y="51"/>
                    </a:lnTo>
                    <a:lnTo>
                      <a:pt x="2" y="45"/>
                    </a:lnTo>
                    <a:lnTo>
                      <a:pt x="2" y="33"/>
                    </a:lnTo>
                    <a:lnTo>
                      <a:pt x="0" y="21"/>
                    </a:lnTo>
                    <a:lnTo>
                      <a:pt x="1" y="14"/>
                    </a:lnTo>
                    <a:lnTo>
                      <a:pt x="1" y="0"/>
                    </a:lnTo>
                    <a:lnTo>
                      <a:pt x="7" y="21"/>
                    </a:lnTo>
                    <a:lnTo>
                      <a:pt x="12" y="40"/>
                    </a:lnTo>
                    <a:lnTo>
                      <a:pt x="17" y="63"/>
                    </a:lnTo>
                    <a:lnTo>
                      <a:pt x="21" y="78"/>
                    </a:lnTo>
                  </a:path>
                </a:pathLst>
              </a:custGeom>
              <a:solidFill>
                <a:srgbClr val="E0E0E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3" name="Freeform 363"/>
              <p:cNvSpPr>
                <a:spLocks/>
              </p:cNvSpPr>
              <p:nvPr/>
            </p:nvSpPr>
            <p:spPr bwMode="invGray">
              <a:xfrm>
                <a:off x="1264" y="2977"/>
                <a:ext cx="103" cy="51"/>
              </a:xfrm>
              <a:custGeom>
                <a:avLst/>
                <a:gdLst/>
                <a:ahLst/>
                <a:cxnLst>
                  <a:cxn ang="0">
                    <a:pos x="7" y="8"/>
                  </a:cxn>
                  <a:cxn ang="0">
                    <a:pos x="15" y="3"/>
                  </a:cxn>
                  <a:cxn ang="0">
                    <a:pos x="24" y="1"/>
                  </a:cxn>
                  <a:cxn ang="0">
                    <a:pos x="34" y="0"/>
                  </a:cxn>
                  <a:cxn ang="0">
                    <a:pos x="39" y="1"/>
                  </a:cxn>
                  <a:cxn ang="0">
                    <a:pos x="36" y="7"/>
                  </a:cxn>
                  <a:cxn ang="0">
                    <a:pos x="32" y="10"/>
                  </a:cxn>
                  <a:cxn ang="0">
                    <a:pos x="24" y="14"/>
                  </a:cxn>
                  <a:cxn ang="0">
                    <a:pos x="8" y="19"/>
                  </a:cxn>
                  <a:cxn ang="0">
                    <a:pos x="0" y="16"/>
                  </a:cxn>
                  <a:cxn ang="0">
                    <a:pos x="7" y="8"/>
                  </a:cxn>
                </a:cxnLst>
                <a:rect l="0" t="0" r="r" b="b"/>
                <a:pathLst>
                  <a:path w="40" h="20">
                    <a:moveTo>
                      <a:pt x="7" y="8"/>
                    </a:moveTo>
                    <a:lnTo>
                      <a:pt x="15" y="3"/>
                    </a:lnTo>
                    <a:lnTo>
                      <a:pt x="24" y="1"/>
                    </a:lnTo>
                    <a:lnTo>
                      <a:pt x="34" y="0"/>
                    </a:lnTo>
                    <a:lnTo>
                      <a:pt x="39" y="1"/>
                    </a:lnTo>
                    <a:lnTo>
                      <a:pt x="36" y="7"/>
                    </a:lnTo>
                    <a:lnTo>
                      <a:pt x="32" y="10"/>
                    </a:lnTo>
                    <a:lnTo>
                      <a:pt x="24" y="14"/>
                    </a:lnTo>
                    <a:lnTo>
                      <a:pt x="8" y="19"/>
                    </a:lnTo>
                    <a:lnTo>
                      <a:pt x="0" y="16"/>
                    </a:lnTo>
                    <a:lnTo>
                      <a:pt x="7" y="8"/>
                    </a:lnTo>
                  </a:path>
                </a:pathLst>
              </a:custGeom>
              <a:solidFill>
                <a:srgbClr val="C0C0C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4" name="Freeform 364"/>
              <p:cNvSpPr>
                <a:spLocks/>
              </p:cNvSpPr>
              <p:nvPr/>
            </p:nvSpPr>
            <p:spPr bwMode="invGray">
              <a:xfrm>
                <a:off x="1387" y="2992"/>
                <a:ext cx="61" cy="87"/>
              </a:xfrm>
              <a:custGeom>
                <a:avLst/>
                <a:gdLst/>
                <a:ahLst/>
                <a:cxnLst>
                  <a:cxn ang="0">
                    <a:pos x="13" y="8"/>
                  </a:cxn>
                  <a:cxn ang="0">
                    <a:pos x="15" y="2"/>
                  </a:cxn>
                  <a:cxn ang="0">
                    <a:pos x="20" y="0"/>
                  </a:cxn>
                  <a:cxn ang="0">
                    <a:pos x="23" y="2"/>
                  </a:cxn>
                  <a:cxn ang="0">
                    <a:pos x="23" y="5"/>
                  </a:cxn>
                  <a:cxn ang="0">
                    <a:pos x="21" y="11"/>
                  </a:cxn>
                  <a:cxn ang="0">
                    <a:pos x="18" y="17"/>
                  </a:cxn>
                  <a:cxn ang="0">
                    <a:pos x="14" y="23"/>
                  </a:cxn>
                  <a:cxn ang="0">
                    <a:pos x="8" y="28"/>
                  </a:cxn>
                  <a:cxn ang="0">
                    <a:pos x="0" y="33"/>
                  </a:cxn>
                  <a:cxn ang="0">
                    <a:pos x="8" y="23"/>
                  </a:cxn>
                  <a:cxn ang="0">
                    <a:pos x="10" y="16"/>
                  </a:cxn>
                  <a:cxn ang="0">
                    <a:pos x="13" y="8"/>
                  </a:cxn>
                </a:cxnLst>
                <a:rect l="0" t="0" r="r" b="b"/>
                <a:pathLst>
                  <a:path w="24" h="34">
                    <a:moveTo>
                      <a:pt x="13" y="8"/>
                    </a:moveTo>
                    <a:lnTo>
                      <a:pt x="15" y="2"/>
                    </a:lnTo>
                    <a:lnTo>
                      <a:pt x="20" y="0"/>
                    </a:lnTo>
                    <a:lnTo>
                      <a:pt x="23" y="2"/>
                    </a:lnTo>
                    <a:lnTo>
                      <a:pt x="23" y="5"/>
                    </a:lnTo>
                    <a:lnTo>
                      <a:pt x="21" y="11"/>
                    </a:lnTo>
                    <a:lnTo>
                      <a:pt x="18" y="17"/>
                    </a:lnTo>
                    <a:lnTo>
                      <a:pt x="14" y="23"/>
                    </a:lnTo>
                    <a:lnTo>
                      <a:pt x="8" y="28"/>
                    </a:lnTo>
                    <a:lnTo>
                      <a:pt x="0" y="33"/>
                    </a:lnTo>
                    <a:lnTo>
                      <a:pt x="8" y="23"/>
                    </a:lnTo>
                    <a:lnTo>
                      <a:pt x="10" y="16"/>
                    </a:lnTo>
                    <a:lnTo>
                      <a:pt x="13" y="8"/>
                    </a:lnTo>
                  </a:path>
                </a:pathLst>
              </a:custGeom>
              <a:solidFill>
                <a:srgbClr val="C0C0C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5" name="Freeform 365"/>
              <p:cNvSpPr>
                <a:spLocks/>
              </p:cNvSpPr>
              <p:nvPr/>
            </p:nvSpPr>
            <p:spPr bwMode="invGray">
              <a:xfrm>
                <a:off x="1208" y="2553"/>
                <a:ext cx="146" cy="105"/>
              </a:xfrm>
              <a:custGeom>
                <a:avLst/>
                <a:gdLst/>
                <a:ahLst/>
                <a:cxnLst>
                  <a:cxn ang="0">
                    <a:pos x="56" y="40"/>
                  </a:cxn>
                  <a:cxn ang="0">
                    <a:pos x="54" y="23"/>
                  </a:cxn>
                  <a:cxn ang="0">
                    <a:pos x="42" y="16"/>
                  </a:cxn>
                  <a:cxn ang="0">
                    <a:pos x="26" y="10"/>
                  </a:cxn>
                  <a:cxn ang="0">
                    <a:pos x="15" y="6"/>
                  </a:cxn>
                  <a:cxn ang="0">
                    <a:pos x="3" y="0"/>
                  </a:cxn>
                  <a:cxn ang="0">
                    <a:pos x="0" y="12"/>
                  </a:cxn>
                  <a:cxn ang="0">
                    <a:pos x="9" y="18"/>
                  </a:cxn>
                  <a:cxn ang="0">
                    <a:pos x="21" y="23"/>
                  </a:cxn>
                  <a:cxn ang="0">
                    <a:pos x="31" y="26"/>
                  </a:cxn>
                  <a:cxn ang="0">
                    <a:pos x="43" y="32"/>
                  </a:cxn>
                  <a:cxn ang="0">
                    <a:pos x="56" y="40"/>
                  </a:cxn>
                </a:cxnLst>
                <a:rect l="0" t="0" r="r" b="b"/>
                <a:pathLst>
                  <a:path w="57" h="41">
                    <a:moveTo>
                      <a:pt x="56" y="40"/>
                    </a:moveTo>
                    <a:lnTo>
                      <a:pt x="54" y="23"/>
                    </a:lnTo>
                    <a:lnTo>
                      <a:pt x="42" y="16"/>
                    </a:lnTo>
                    <a:lnTo>
                      <a:pt x="26" y="10"/>
                    </a:lnTo>
                    <a:lnTo>
                      <a:pt x="15" y="6"/>
                    </a:lnTo>
                    <a:lnTo>
                      <a:pt x="3" y="0"/>
                    </a:lnTo>
                    <a:lnTo>
                      <a:pt x="0" y="12"/>
                    </a:lnTo>
                    <a:lnTo>
                      <a:pt x="9" y="18"/>
                    </a:lnTo>
                    <a:lnTo>
                      <a:pt x="21" y="23"/>
                    </a:lnTo>
                    <a:lnTo>
                      <a:pt x="31" y="26"/>
                    </a:lnTo>
                    <a:lnTo>
                      <a:pt x="43" y="32"/>
                    </a:lnTo>
                    <a:lnTo>
                      <a:pt x="56" y="40"/>
                    </a:lnTo>
                  </a:path>
                </a:pathLst>
              </a:custGeom>
              <a:solidFill>
                <a:srgbClr val="E0E0E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6" name="Freeform 366"/>
              <p:cNvSpPr>
                <a:spLocks/>
              </p:cNvSpPr>
              <p:nvPr/>
            </p:nvSpPr>
            <p:spPr bwMode="invGray">
              <a:xfrm>
                <a:off x="1048" y="3023"/>
                <a:ext cx="291" cy="454"/>
              </a:xfrm>
              <a:custGeom>
                <a:avLst/>
                <a:gdLst/>
                <a:ahLst/>
                <a:cxnLst>
                  <a:cxn ang="0">
                    <a:pos x="62" y="26"/>
                  </a:cxn>
                  <a:cxn ang="0">
                    <a:pos x="40" y="25"/>
                  </a:cxn>
                  <a:cxn ang="0">
                    <a:pos x="28" y="20"/>
                  </a:cxn>
                  <a:cxn ang="0">
                    <a:pos x="25" y="14"/>
                  </a:cxn>
                  <a:cxn ang="0">
                    <a:pos x="25" y="8"/>
                  </a:cxn>
                  <a:cxn ang="0">
                    <a:pos x="21" y="3"/>
                  </a:cxn>
                  <a:cxn ang="0">
                    <a:pos x="10" y="0"/>
                  </a:cxn>
                  <a:cxn ang="0">
                    <a:pos x="0" y="1"/>
                  </a:cxn>
                  <a:cxn ang="0">
                    <a:pos x="13" y="137"/>
                  </a:cxn>
                  <a:cxn ang="0">
                    <a:pos x="21" y="150"/>
                  </a:cxn>
                  <a:cxn ang="0">
                    <a:pos x="33" y="162"/>
                  </a:cxn>
                  <a:cxn ang="0">
                    <a:pos x="49" y="172"/>
                  </a:cxn>
                  <a:cxn ang="0">
                    <a:pos x="68" y="175"/>
                  </a:cxn>
                  <a:cxn ang="0">
                    <a:pos x="94" y="177"/>
                  </a:cxn>
                  <a:cxn ang="0">
                    <a:pos x="110" y="174"/>
                  </a:cxn>
                  <a:cxn ang="0">
                    <a:pos x="113" y="165"/>
                  </a:cxn>
                  <a:cxn ang="0">
                    <a:pos x="110" y="151"/>
                  </a:cxn>
                  <a:cxn ang="0">
                    <a:pos x="100" y="114"/>
                  </a:cxn>
                  <a:cxn ang="0">
                    <a:pos x="91" y="75"/>
                  </a:cxn>
                  <a:cxn ang="0">
                    <a:pos x="87" y="47"/>
                  </a:cxn>
                  <a:cxn ang="0">
                    <a:pos x="87" y="40"/>
                  </a:cxn>
                  <a:cxn ang="0">
                    <a:pos x="81" y="29"/>
                  </a:cxn>
                  <a:cxn ang="0">
                    <a:pos x="74" y="26"/>
                  </a:cxn>
                  <a:cxn ang="0">
                    <a:pos x="62" y="26"/>
                  </a:cxn>
                </a:cxnLst>
                <a:rect l="0" t="0" r="r" b="b"/>
                <a:pathLst>
                  <a:path w="114" h="178">
                    <a:moveTo>
                      <a:pt x="62" y="26"/>
                    </a:moveTo>
                    <a:lnTo>
                      <a:pt x="40" y="25"/>
                    </a:lnTo>
                    <a:lnTo>
                      <a:pt x="28" y="20"/>
                    </a:lnTo>
                    <a:lnTo>
                      <a:pt x="25" y="14"/>
                    </a:lnTo>
                    <a:lnTo>
                      <a:pt x="25" y="8"/>
                    </a:lnTo>
                    <a:lnTo>
                      <a:pt x="21" y="3"/>
                    </a:lnTo>
                    <a:lnTo>
                      <a:pt x="10" y="0"/>
                    </a:lnTo>
                    <a:lnTo>
                      <a:pt x="0" y="1"/>
                    </a:lnTo>
                    <a:lnTo>
                      <a:pt x="13" y="137"/>
                    </a:lnTo>
                    <a:lnTo>
                      <a:pt x="21" y="150"/>
                    </a:lnTo>
                    <a:lnTo>
                      <a:pt x="33" y="162"/>
                    </a:lnTo>
                    <a:lnTo>
                      <a:pt x="49" y="172"/>
                    </a:lnTo>
                    <a:lnTo>
                      <a:pt x="68" y="175"/>
                    </a:lnTo>
                    <a:lnTo>
                      <a:pt x="94" y="177"/>
                    </a:lnTo>
                    <a:lnTo>
                      <a:pt x="110" y="174"/>
                    </a:lnTo>
                    <a:lnTo>
                      <a:pt x="113" y="165"/>
                    </a:lnTo>
                    <a:lnTo>
                      <a:pt x="110" y="151"/>
                    </a:lnTo>
                    <a:lnTo>
                      <a:pt x="100" y="114"/>
                    </a:lnTo>
                    <a:lnTo>
                      <a:pt x="91" y="75"/>
                    </a:lnTo>
                    <a:lnTo>
                      <a:pt x="87" y="47"/>
                    </a:lnTo>
                    <a:lnTo>
                      <a:pt x="87" y="40"/>
                    </a:lnTo>
                    <a:lnTo>
                      <a:pt x="81" y="29"/>
                    </a:lnTo>
                    <a:lnTo>
                      <a:pt x="74" y="26"/>
                    </a:lnTo>
                    <a:lnTo>
                      <a:pt x="62" y="26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7" name="Freeform 367"/>
              <p:cNvSpPr>
                <a:spLocks/>
              </p:cNvSpPr>
              <p:nvPr/>
            </p:nvSpPr>
            <p:spPr bwMode="invGray">
              <a:xfrm>
                <a:off x="1053" y="3043"/>
                <a:ext cx="255" cy="419"/>
              </a:xfrm>
              <a:custGeom>
                <a:avLst/>
                <a:gdLst/>
                <a:ahLst/>
                <a:cxnLst>
                  <a:cxn ang="0">
                    <a:pos x="63" y="33"/>
                  </a:cxn>
                  <a:cxn ang="0">
                    <a:pos x="44" y="32"/>
                  </a:cxn>
                  <a:cxn ang="0">
                    <a:pos x="26" y="27"/>
                  </a:cxn>
                  <a:cxn ang="0">
                    <a:pos x="14" y="21"/>
                  </a:cxn>
                  <a:cxn ang="0">
                    <a:pos x="8" y="15"/>
                  </a:cxn>
                  <a:cxn ang="0">
                    <a:pos x="0" y="0"/>
                  </a:cxn>
                  <a:cxn ang="0">
                    <a:pos x="12" y="124"/>
                  </a:cxn>
                  <a:cxn ang="0">
                    <a:pos x="20" y="136"/>
                  </a:cxn>
                  <a:cxn ang="0">
                    <a:pos x="30" y="147"/>
                  </a:cxn>
                  <a:cxn ang="0">
                    <a:pos x="41" y="155"/>
                  </a:cxn>
                  <a:cxn ang="0">
                    <a:pos x="50" y="159"/>
                  </a:cxn>
                  <a:cxn ang="0">
                    <a:pos x="63" y="160"/>
                  </a:cxn>
                  <a:cxn ang="0">
                    <a:pos x="76" y="163"/>
                  </a:cxn>
                  <a:cxn ang="0">
                    <a:pos x="89" y="163"/>
                  </a:cxn>
                  <a:cxn ang="0">
                    <a:pos x="95" y="160"/>
                  </a:cxn>
                  <a:cxn ang="0">
                    <a:pos x="99" y="155"/>
                  </a:cxn>
                  <a:cxn ang="0">
                    <a:pos x="96" y="145"/>
                  </a:cxn>
                  <a:cxn ang="0">
                    <a:pos x="88" y="123"/>
                  </a:cxn>
                  <a:cxn ang="0">
                    <a:pos x="73" y="47"/>
                  </a:cxn>
                  <a:cxn ang="0">
                    <a:pos x="71" y="38"/>
                  </a:cxn>
                  <a:cxn ang="0">
                    <a:pos x="63" y="33"/>
                  </a:cxn>
                </a:cxnLst>
                <a:rect l="0" t="0" r="r" b="b"/>
                <a:pathLst>
                  <a:path w="100" h="164">
                    <a:moveTo>
                      <a:pt x="63" y="33"/>
                    </a:moveTo>
                    <a:lnTo>
                      <a:pt x="44" y="32"/>
                    </a:lnTo>
                    <a:lnTo>
                      <a:pt x="26" y="27"/>
                    </a:lnTo>
                    <a:lnTo>
                      <a:pt x="14" y="21"/>
                    </a:lnTo>
                    <a:lnTo>
                      <a:pt x="8" y="15"/>
                    </a:lnTo>
                    <a:lnTo>
                      <a:pt x="0" y="0"/>
                    </a:lnTo>
                    <a:lnTo>
                      <a:pt x="12" y="124"/>
                    </a:lnTo>
                    <a:lnTo>
                      <a:pt x="20" y="136"/>
                    </a:lnTo>
                    <a:lnTo>
                      <a:pt x="30" y="147"/>
                    </a:lnTo>
                    <a:lnTo>
                      <a:pt x="41" y="155"/>
                    </a:lnTo>
                    <a:lnTo>
                      <a:pt x="50" y="159"/>
                    </a:lnTo>
                    <a:lnTo>
                      <a:pt x="63" y="160"/>
                    </a:lnTo>
                    <a:lnTo>
                      <a:pt x="76" y="163"/>
                    </a:lnTo>
                    <a:lnTo>
                      <a:pt x="89" y="163"/>
                    </a:lnTo>
                    <a:lnTo>
                      <a:pt x="95" y="160"/>
                    </a:lnTo>
                    <a:lnTo>
                      <a:pt x="99" y="155"/>
                    </a:lnTo>
                    <a:lnTo>
                      <a:pt x="96" y="145"/>
                    </a:lnTo>
                    <a:lnTo>
                      <a:pt x="88" y="123"/>
                    </a:lnTo>
                    <a:lnTo>
                      <a:pt x="73" y="47"/>
                    </a:lnTo>
                    <a:lnTo>
                      <a:pt x="71" y="38"/>
                    </a:lnTo>
                    <a:lnTo>
                      <a:pt x="63" y="33"/>
                    </a:lnTo>
                  </a:path>
                </a:pathLst>
              </a:custGeom>
              <a:solidFill>
                <a:srgbClr val="606060"/>
              </a:solidFill>
              <a:ln w="9525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728" name="Text Box 368"/>
            <p:cNvSpPr txBox="1">
              <a:spLocks noChangeArrowheads="1"/>
            </p:cNvSpPr>
            <p:nvPr/>
          </p:nvSpPr>
          <p:spPr bwMode="invGray">
            <a:xfrm>
              <a:off x="886" y="1706"/>
              <a:ext cx="768" cy="167"/>
            </a:xfrm>
            <a:prstGeom prst="rect">
              <a:avLst/>
            </a:prstGeom>
            <a:noFill/>
            <a:ln w="127000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0" hangingPunct="0">
                <a:lnSpc>
                  <a:spcPct val="80000"/>
                </a:lnSpc>
                <a:buClr>
                  <a:schemeClr val="tx2"/>
                </a:buClr>
              </a:pPr>
              <a:r>
                <a:rPr lang="sr-Latn-RS" sz="1400" b="1" dirty="0"/>
                <a:t>Kontrola</a:t>
              </a:r>
              <a:endParaRPr lang="en-US" sz="1600" b="1" dirty="0"/>
            </a:p>
          </p:txBody>
        </p:sp>
        <p:sp>
          <p:nvSpPr>
            <p:cNvPr id="15729" name="Line 369"/>
            <p:cNvSpPr>
              <a:spLocks noChangeShapeType="1"/>
            </p:cNvSpPr>
            <p:nvPr/>
          </p:nvSpPr>
          <p:spPr bwMode="auto">
            <a:xfrm>
              <a:off x="1587" y="1416"/>
              <a:ext cx="531" cy="1358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730" name="Rectangle 370"/>
          <p:cNvSpPr>
            <a:spLocks noChangeArrowheads="1"/>
          </p:cNvSpPr>
          <p:nvPr/>
        </p:nvSpPr>
        <p:spPr bwMode="auto">
          <a:xfrm>
            <a:off x="3944938" y="2074863"/>
            <a:ext cx="5199062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28600" indent="-228600" eaLnBrk="0" hangingPunct="0">
              <a:buFontTx/>
              <a:buChar char="•"/>
            </a:pPr>
            <a:r>
              <a:rPr lang="sr-Latn-RS" sz="1600" b="1" dirty="0"/>
              <a:t>Više virtuelnih korisnika na manjem broju mašina</a:t>
            </a:r>
            <a:endParaRPr lang="en-US" sz="1600" b="1" dirty="0"/>
          </a:p>
        </p:txBody>
      </p:sp>
      <p:sp>
        <p:nvSpPr>
          <p:cNvPr id="15731" name="Rectangle 371"/>
          <p:cNvSpPr>
            <a:spLocks noChangeArrowheads="1"/>
          </p:cNvSpPr>
          <p:nvPr/>
        </p:nvSpPr>
        <p:spPr bwMode="auto">
          <a:xfrm>
            <a:off x="3944938" y="1779588"/>
            <a:ext cx="4589462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28600" indent="-228600" eaLnBrk="0" hangingPunct="0">
              <a:buFontTx/>
              <a:buChar char="•"/>
            </a:pPr>
            <a:r>
              <a:rPr lang="sr-Latn-RS" sz="1600" b="1" dirty="0"/>
              <a:t>Zamena testera virtuelnim korisnicima</a:t>
            </a:r>
            <a:endParaRPr lang="en-US" sz="1600" b="1" dirty="0"/>
          </a:p>
        </p:txBody>
      </p:sp>
      <p:sp>
        <p:nvSpPr>
          <p:cNvPr id="15732" name="Rectangle 372"/>
          <p:cNvSpPr>
            <a:spLocks noChangeArrowheads="1"/>
          </p:cNvSpPr>
          <p:nvPr/>
        </p:nvSpPr>
        <p:spPr bwMode="auto">
          <a:xfrm>
            <a:off x="3954462" y="2379663"/>
            <a:ext cx="5037137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228600" indent="-228600" eaLnBrk="0" hangingPunct="0">
              <a:buFontTx/>
              <a:buChar char="•"/>
            </a:pPr>
            <a:r>
              <a:rPr lang="sr-Latn-RS" sz="1600" b="1" dirty="0"/>
              <a:t>Jedna osoba upravlja virtuelnim korisnicima</a:t>
            </a:r>
            <a:endParaRPr lang="en-US" sz="1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4 </a:t>
            </a:r>
            <a:r>
              <a:rPr lang="sr-Latn-RS" sz="4000" dirty="0"/>
              <a:t>osnovne komponente alata za testiranje opterećenja</a:t>
            </a:r>
            <a:endParaRPr lang="en-US" sz="4000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r-Latn-RS" dirty="0"/>
              <a:t>Komponenta za kreiranje skripti</a:t>
            </a:r>
            <a:endParaRPr lang="en-US" dirty="0"/>
          </a:p>
          <a:p>
            <a:pPr lvl="2">
              <a:lnSpc>
                <a:spcPct val="90000"/>
              </a:lnSpc>
              <a:buFont typeface="Wingdings" pitchFamily="2" charset="2"/>
              <a:buChar char="v"/>
            </a:pPr>
            <a:r>
              <a:rPr lang="en-US" dirty="0"/>
              <a:t> </a:t>
            </a:r>
            <a:r>
              <a:rPr lang="sr-Latn-RS" dirty="0"/>
              <a:t>kreira skriptu koja imitira ponašanje korisnika u aplikaciji</a:t>
            </a:r>
            <a:r>
              <a:rPr lang="en-US" dirty="0"/>
              <a:t>. </a:t>
            </a:r>
          </a:p>
          <a:p>
            <a:pPr>
              <a:lnSpc>
                <a:spcPct val="90000"/>
              </a:lnSpc>
            </a:pPr>
            <a:r>
              <a:rPr lang="sr-Latn-RS" dirty="0"/>
              <a:t>Komponenta za izvršenje testa opterećenja</a:t>
            </a:r>
            <a:endParaRPr lang="en-US" dirty="0"/>
          </a:p>
          <a:p>
            <a:pPr lvl="2">
              <a:lnSpc>
                <a:spcPct val="90000"/>
              </a:lnSpc>
              <a:buFont typeface="Wingdings" pitchFamily="2" charset="2"/>
              <a:buChar char="v"/>
            </a:pPr>
            <a:r>
              <a:rPr lang="sr-Latn-RS" dirty="0"/>
              <a:t>izvršava skripte kao da postoji veći brpoj korisnika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dirty="0"/>
              <a:t>Anal</a:t>
            </a:r>
            <a:r>
              <a:rPr lang="sr-Latn-RS" dirty="0"/>
              <a:t>iza</a:t>
            </a:r>
            <a:endParaRPr lang="en-US" dirty="0"/>
          </a:p>
          <a:p>
            <a:pPr lvl="2">
              <a:lnSpc>
                <a:spcPct val="90000"/>
              </a:lnSpc>
              <a:buFont typeface="Wingdings" pitchFamily="2" charset="2"/>
              <a:buChar char="v"/>
            </a:pPr>
            <a:r>
              <a:rPr lang="en-US" dirty="0"/>
              <a:t>Anal</a:t>
            </a:r>
            <a:r>
              <a:rPr lang="sr-Latn-RS" dirty="0"/>
              <a:t>iza različitih pokazatelja performansi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dirty="0"/>
              <a:t>Monitoring (Web Server, </a:t>
            </a:r>
            <a:r>
              <a:rPr lang="sr-Latn-RS" dirty="0"/>
              <a:t>server baze podataka, mreža...</a:t>
            </a:r>
            <a:r>
              <a:rPr lang="en-US" dirty="0"/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937AC-5CDA-800D-B78C-2DADF694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37CF07D-B486-68CD-3BE8-219EC143F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sz="4000" dirty="0"/>
              <a:t>Uobičajeni </a:t>
            </a:r>
            <a:r>
              <a:rPr lang="it-IT" sz="4000" dirty="0" err="1"/>
              <a:t>simptomi</a:t>
            </a:r>
            <a:r>
              <a:rPr lang="it-IT" sz="4000" dirty="0"/>
              <a:t> problema sa </a:t>
            </a:r>
            <a:r>
              <a:rPr lang="it-IT" sz="4000" dirty="0" err="1"/>
              <a:t>performansama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8525C5D-A30E-E202-EFDA-FC4420BAF8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1066800"/>
            <a:ext cx="8183880" cy="343204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r-Latn-RS" dirty="0"/>
              <a:t>Spore stranice / API odgovori</a:t>
            </a:r>
          </a:p>
          <a:p>
            <a:pPr>
              <a:lnSpc>
                <a:spcPct val="90000"/>
              </a:lnSpc>
            </a:pPr>
            <a:r>
              <a:rPr lang="sr-Latn-RS" dirty="0"/>
              <a:t>Tajmauti i 504/503 greške</a:t>
            </a:r>
          </a:p>
          <a:p>
            <a:pPr>
              <a:lnSpc>
                <a:spcPct val="90000"/>
              </a:lnSpc>
            </a:pPr>
            <a:r>
              <a:rPr lang="sr-Latn-RS" dirty="0"/>
              <a:t>Zaključavanje baze (</a:t>
            </a:r>
            <a:r>
              <a:rPr lang="sr-Latn-RS" dirty="0" err="1"/>
              <a:t>deadlock</a:t>
            </a:r>
            <a:r>
              <a:rPr lang="sr-Latn-RS" dirty="0"/>
              <a:t>)</a:t>
            </a:r>
          </a:p>
          <a:p>
            <a:pPr>
              <a:lnSpc>
                <a:spcPct val="90000"/>
              </a:lnSpc>
            </a:pPr>
            <a:r>
              <a:rPr lang="sr-Latn-RS" dirty="0"/>
              <a:t>Nagomilavanje redova (</a:t>
            </a:r>
            <a:r>
              <a:rPr lang="sr-Latn-RS" dirty="0" err="1"/>
              <a:t>message</a:t>
            </a:r>
            <a:r>
              <a:rPr lang="sr-Latn-RS" dirty="0"/>
              <a:t> </a:t>
            </a:r>
            <a:r>
              <a:rPr lang="sr-Latn-RS" dirty="0" err="1"/>
              <a:t>brokers</a:t>
            </a:r>
            <a:r>
              <a:rPr lang="sr-Latn-RS" dirty="0"/>
              <a:t>)</a:t>
            </a:r>
          </a:p>
          <a:p>
            <a:pPr>
              <a:lnSpc>
                <a:spcPct val="90000"/>
              </a:lnSpc>
            </a:pPr>
            <a:r>
              <a:rPr lang="sr-Latn-RS" dirty="0"/>
              <a:t>Curenje memorije pod visokim konkurentnim opterećenjem</a:t>
            </a:r>
          </a:p>
          <a:p>
            <a:pPr>
              <a:lnSpc>
                <a:spcPct val="90000"/>
              </a:lnSpc>
            </a:pPr>
            <a:r>
              <a:rPr lang="sr-Latn-RS" dirty="0" err="1"/>
              <a:t>Cache</a:t>
            </a:r>
            <a:r>
              <a:rPr lang="sr-Latn-RS" dirty="0"/>
              <a:t> </a:t>
            </a:r>
            <a:r>
              <a:rPr lang="sr-Latn-RS" dirty="0" err="1"/>
              <a:t>thrashing</a:t>
            </a: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1725871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2A289-3419-9F7D-8E99-F7F7189A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3041D15-AC33-A702-F44B-96490F98B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 fontScale="90000"/>
          </a:bodyPr>
          <a:lstStyle/>
          <a:p>
            <a:r>
              <a:rPr lang="it-IT" sz="4000" dirty="0"/>
              <a:t>Ključne </a:t>
            </a:r>
            <a:r>
              <a:rPr lang="it-IT" sz="4000" dirty="0" err="1"/>
              <a:t>metrike</a:t>
            </a:r>
            <a:r>
              <a:rPr lang="it-IT" sz="4000" dirty="0"/>
              <a:t> </a:t>
            </a:r>
            <a:r>
              <a:rPr lang="it-IT" sz="4000" dirty="0" err="1"/>
              <a:t>performansi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3C5B4A5-882B-504E-FB6F-67151526FF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457200"/>
            <a:ext cx="818388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r-Latn-RS" dirty="0"/>
              <a:t>Vreme odgovora (prosek, 90</a:t>
            </a:r>
            <a:r>
              <a:rPr lang="en-GB" dirty="0"/>
              <a:t>%</a:t>
            </a:r>
            <a:r>
              <a:rPr lang="sr-Latn-RS" dirty="0"/>
              <a:t>, 95</a:t>
            </a:r>
            <a:r>
              <a:rPr lang="en-GB" dirty="0"/>
              <a:t>%</a:t>
            </a:r>
            <a:r>
              <a:rPr lang="sr-Latn-RS" dirty="0"/>
              <a:t>, 99</a:t>
            </a:r>
            <a:r>
              <a:rPr lang="en-GB" dirty="0"/>
              <a:t>%</a:t>
            </a:r>
            <a:r>
              <a:rPr lang="sr-Latn-RS" dirty="0"/>
              <a:t>)</a:t>
            </a:r>
          </a:p>
          <a:p>
            <a:pPr>
              <a:lnSpc>
                <a:spcPct val="90000"/>
              </a:lnSpc>
            </a:pPr>
            <a:r>
              <a:rPr lang="sr-Latn-RS" dirty="0"/>
              <a:t>Propusnost (RPS, TPS, propusni opseg)</a:t>
            </a:r>
          </a:p>
          <a:p>
            <a:pPr>
              <a:lnSpc>
                <a:spcPct val="90000"/>
              </a:lnSpc>
            </a:pPr>
            <a:r>
              <a:rPr lang="sr-Latn-RS" dirty="0"/>
              <a:t>Broj konkurentnih / aktivnih korisnika</a:t>
            </a:r>
          </a:p>
          <a:p>
            <a:pPr>
              <a:lnSpc>
                <a:spcPct val="90000"/>
              </a:lnSpc>
            </a:pPr>
            <a:r>
              <a:rPr lang="sr-Latn-RS" dirty="0"/>
              <a:t>Stopa grešaka (%)</a:t>
            </a:r>
          </a:p>
          <a:p>
            <a:pPr>
              <a:lnSpc>
                <a:spcPct val="90000"/>
              </a:lnSpc>
            </a:pPr>
            <a:r>
              <a:rPr lang="sr-Latn-RS" dirty="0"/>
              <a:t>Broj zahteva u sekundi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sr-Latn-RS" dirty="0"/>
              <a:t>Server: CPU, memorija, Disk I/O, mreža</a:t>
            </a:r>
          </a:p>
          <a:p>
            <a:pPr>
              <a:lnSpc>
                <a:spcPct val="90000"/>
              </a:lnSpc>
            </a:pPr>
            <a:r>
              <a:rPr lang="sr-Latn-RS" dirty="0"/>
              <a:t>VM: učestalost GC-a, iskorišćenost </a:t>
            </a:r>
            <a:r>
              <a:rPr lang="sr-Latn-RS" dirty="0" err="1"/>
              <a:t>heap</a:t>
            </a:r>
            <a:r>
              <a:rPr lang="sr-Latn-RS" dirty="0"/>
              <a:t>-a</a:t>
            </a:r>
          </a:p>
          <a:p>
            <a:pPr>
              <a:lnSpc>
                <a:spcPct val="90000"/>
              </a:lnSpc>
            </a:pPr>
            <a:r>
              <a:rPr lang="sr-Latn-RS" dirty="0" err="1"/>
              <a:t>Connection</a:t>
            </a:r>
            <a:r>
              <a:rPr lang="sr-Latn-RS" dirty="0"/>
              <a:t> </a:t>
            </a:r>
            <a:r>
              <a:rPr lang="sr-Latn-RS" dirty="0" err="1"/>
              <a:t>pool</a:t>
            </a:r>
            <a:r>
              <a:rPr lang="sr-Latn-RS" dirty="0"/>
              <a:t>-ovi (DB, </a:t>
            </a:r>
            <a:r>
              <a:rPr lang="sr-Latn-RS" dirty="0" err="1"/>
              <a:t>Redis</a:t>
            </a:r>
            <a:r>
              <a:rPr lang="sr-Latn-RS" dirty="0"/>
              <a:t>…)</a:t>
            </a:r>
          </a:p>
          <a:p>
            <a:pPr>
              <a:lnSpc>
                <a:spcPct val="90000"/>
              </a:lnSpc>
            </a:pPr>
            <a:r>
              <a:rPr lang="sr-Latn-RS" dirty="0"/>
              <a:t>Dužina redova (Kafka, </a:t>
            </a:r>
            <a:r>
              <a:rPr lang="sr-Latn-RS" dirty="0" err="1"/>
              <a:t>RabbitMQ</a:t>
            </a:r>
            <a:r>
              <a:rPr lang="sr-Latn-R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4189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24D5-7972-73EE-76C1-139E622C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116684A-5BA9-9074-DDD5-D3598140DD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 fontScale="90000"/>
          </a:bodyPr>
          <a:lstStyle/>
          <a:p>
            <a:r>
              <a:rPr lang="it-IT" sz="4000" dirty="0"/>
              <a:t>Planiranje –</a:t>
            </a:r>
            <a:r>
              <a:rPr lang="it-IT" sz="4000" dirty="0" err="1"/>
              <a:t>Definisati</a:t>
            </a:r>
            <a:r>
              <a:rPr lang="it-IT" sz="4000" dirty="0"/>
              <a:t> </a:t>
            </a:r>
            <a:r>
              <a:rPr lang="it-IT" sz="4000" dirty="0" err="1"/>
              <a:t>nefunkcionalne</a:t>
            </a:r>
            <a:r>
              <a:rPr lang="it-IT" sz="4000" dirty="0"/>
              <a:t> </a:t>
            </a:r>
            <a:r>
              <a:rPr lang="it-IT" sz="4000" dirty="0" err="1"/>
              <a:t>zahteve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F390417-52C8-CD0A-9CEC-C08E076804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9"/>
            <a:ext cx="8183880" cy="3276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r-Latn-RS" dirty="0"/>
              <a:t>≤ 2 sekunde prosečno vreme odgovora na 10.000 konkurentnih korisnika</a:t>
            </a:r>
          </a:p>
          <a:p>
            <a:pPr>
              <a:lnSpc>
                <a:spcPct val="90000"/>
              </a:lnSpc>
            </a:pPr>
            <a:r>
              <a:rPr lang="sr-Latn-RS" dirty="0"/>
              <a:t>≤ 0,5 % grešaka na vršnom opterećenju</a:t>
            </a:r>
          </a:p>
          <a:p>
            <a:pPr>
              <a:lnSpc>
                <a:spcPct val="90000"/>
              </a:lnSpc>
            </a:pPr>
            <a:r>
              <a:rPr lang="sr-Latn-RS" dirty="0"/>
              <a:t>Podrška za 50.000 RPS na </a:t>
            </a:r>
            <a:r>
              <a:rPr lang="sr-Latn-RS" dirty="0" err="1"/>
              <a:t>checkout</a:t>
            </a:r>
            <a:r>
              <a:rPr lang="sr-Latn-RS" dirty="0"/>
              <a:t> API-ju</a:t>
            </a:r>
          </a:p>
          <a:p>
            <a:pPr>
              <a:lnSpc>
                <a:spcPct val="90000"/>
              </a:lnSpc>
            </a:pPr>
            <a:r>
              <a:rPr lang="sr-Latn-RS" dirty="0"/>
              <a:t>Automatsko </a:t>
            </a:r>
            <a:r>
              <a:rPr lang="sr-Latn-RS" dirty="0" err="1"/>
              <a:t>skaliranje</a:t>
            </a:r>
            <a:r>
              <a:rPr lang="sr-Latn-RS" dirty="0"/>
              <a:t> i CPU ispod 70 %</a:t>
            </a:r>
          </a:p>
        </p:txBody>
      </p:sp>
    </p:spTree>
    <p:extLst>
      <p:ext uri="{BB962C8B-B14F-4D97-AF65-F5344CB8AC3E}">
        <p14:creationId xmlns:p14="http://schemas.microsoft.com/office/powerpoint/2010/main" val="3710130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18216-E025-118D-5A2A-B518ECF8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F6162D9-C0AB-A98B-3874-C6FC22B45C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 fontScale="90000"/>
          </a:bodyPr>
          <a:lstStyle/>
          <a:p>
            <a:r>
              <a:rPr lang="nn-NO" sz="4000" dirty="0"/>
              <a:t>Planiranje –Identifikovati ključne scenarije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5B8A257-D336-7840-1E3E-902DC41071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9"/>
            <a:ext cx="8183880" cy="3276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r-Latn-RS" dirty="0"/>
              <a:t>Prijava → Pregled → Dodavanje u korpu → Plaćanje</a:t>
            </a:r>
          </a:p>
          <a:p>
            <a:pPr>
              <a:lnSpc>
                <a:spcPct val="90000"/>
              </a:lnSpc>
            </a:pPr>
            <a:r>
              <a:rPr lang="sr-Latn-RS" dirty="0"/>
              <a:t>Pretraga sa filterima</a:t>
            </a:r>
          </a:p>
          <a:p>
            <a:pPr>
              <a:lnSpc>
                <a:spcPct val="90000"/>
              </a:lnSpc>
            </a:pPr>
            <a:r>
              <a:rPr lang="sr-Latn-RS" dirty="0"/>
              <a:t>Slanje / preuzimanje velikih fajlova</a:t>
            </a:r>
          </a:p>
          <a:p>
            <a:pPr>
              <a:lnSpc>
                <a:spcPct val="90000"/>
              </a:lnSpc>
            </a:pPr>
            <a:r>
              <a:rPr lang="sr-Latn-RS" dirty="0"/>
              <a:t>Ažuriranje </a:t>
            </a:r>
            <a:r>
              <a:rPr lang="sr-Latn-RS" dirty="0" err="1"/>
              <a:t>real</a:t>
            </a:r>
            <a:r>
              <a:rPr lang="sr-Latn-RS" dirty="0"/>
              <a:t>-time </a:t>
            </a:r>
            <a:r>
              <a:rPr lang="sr-Latn-RS" dirty="0" err="1"/>
              <a:t>dashboard</a:t>
            </a:r>
            <a:r>
              <a:rPr lang="sr-Latn-RS" dirty="0"/>
              <a:t>-a 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sr-Latn-RS" dirty="0"/>
              <a:t>Koristiti analitiku iz produkcije</a:t>
            </a:r>
          </a:p>
        </p:txBody>
      </p:sp>
    </p:spTree>
    <p:extLst>
      <p:ext uri="{BB962C8B-B14F-4D97-AF65-F5344CB8AC3E}">
        <p14:creationId xmlns:p14="http://schemas.microsoft.com/office/powerpoint/2010/main" val="4268460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41048-E196-A47E-B0E6-574AA7A7E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FBD91D1-3741-3259-F8B5-0A12AC7C7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/>
          </a:bodyPr>
          <a:lstStyle/>
          <a:p>
            <a:r>
              <a:rPr lang="nn-NO" sz="4000" dirty="0"/>
              <a:t>Kreiranje scenarija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D59EA9F-81E1-820D-CBE9-E83A7CA7B4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9"/>
            <a:ext cx="8183880" cy="3276600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sr-Latn-RS" dirty="0"/>
              <a:t>Snimanje ili ručno pisanje korisničkih tokova</a:t>
            </a:r>
          </a:p>
          <a:p>
            <a:pPr>
              <a:lnSpc>
                <a:spcPct val="90000"/>
              </a:lnSpc>
            </a:pPr>
            <a:r>
              <a:rPr lang="sr-Latn-RS" dirty="0" err="1"/>
              <a:t>Parametrizacija</a:t>
            </a:r>
            <a:r>
              <a:rPr lang="sr-Latn-RS" dirty="0"/>
              <a:t> podataka (korisnička imena, ID proizvoda)</a:t>
            </a:r>
          </a:p>
          <a:p>
            <a:pPr>
              <a:lnSpc>
                <a:spcPct val="90000"/>
              </a:lnSpc>
            </a:pPr>
            <a:r>
              <a:rPr lang="sr-Latn-RS" dirty="0"/>
              <a:t>Dodavanje „</a:t>
            </a:r>
            <a:r>
              <a:rPr lang="sr-Latn-RS" dirty="0" err="1"/>
              <a:t>think</a:t>
            </a:r>
            <a:r>
              <a:rPr lang="sr-Latn-RS" dirty="0"/>
              <a:t> time“ (2–10 sekundi uobičajeno)</a:t>
            </a:r>
          </a:p>
          <a:p>
            <a:pPr>
              <a:lnSpc>
                <a:spcPct val="90000"/>
              </a:lnSpc>
            </a:pPr>
            <a:r>
              <a:rPr lang="sr-Latn-RS" dirty="0"/>
              <a:t>Rad sa kolačićima, sesijama, </a:t>
            </a:r>
            <a:r>
              <a:rPr lang="sr-Latn-RS" dirty="0" err="1"/>
              <a:t>tokenima</a:t>
            </a:r>
            <a:endParaRPr lang="sr-Latn-RS" dirty="0"/>
          </a:p>
          <a:p>
            <a:pPr>
              <a:lnSpc>
                <a:spcPct val="90000"/>
              </a:lnSpc>
            </a:pPr>
            <a:r>
              <a:rPr lang="sr-Latn-RS" dirty="0"/>
              <a:t>Korelacija dinamičkih vrednosti (CSRF, </a:t>
            </a:r>
            <a:r>
              <a:rPr lang="sr-Latn-RS" dirty="0" err="1"/>
              <a:t>viewstate</a:t>
            </a:r>
            <a:r>
              <a:rPr lang="sr-Latn-RS" dirty="0"/>
              <a:t>…)</a:t>
            </a:r>
          </a:p>
        </p:txBody>
      </p:sp>
    </p:spTree>
    <p:extLst>
      <p:ext uri="{BB962C8B-B14F-4D97-AF65-F5344CB8AC3E}">
        <p14:creationId xmlns:p14="http://schemas.microsoft.com/office/powerpoint/2010/main" val="2719594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03F29-8DDB-9357-F88A-8C5E40FDC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4A360E4-EFC3-6CE2-6C0B-BD5264ADD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/>
          </a:bodyPr>
          <a:lstStyle/>
          <a:p>
            <a:r>
              <a:rPr lang="nn-NO" sz="4000" dirty="0"/>
              <a:t>Testno okruženje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49331E2-7EF5-7782-3E8E-B8BE3DF8CC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9"/>
            <a:ext cx="8183880" cy="3276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Izdvojeno</a:t>
            </a:r>
          </a:p>
          <a:p>
            <a:pPr>
              <a:lnSpc>
                <a:spcPct val="90000"/>
              </a:lnSpc>
            </a:pPr>
            <a:r>
              <a:rPr lang="sr-Latn-RS" dirty="0"/>
              <a:t>Ista verzija aplikacije i konfiguracija</a:t>
            </a:r>
          </a:p>
          <a:p>
            <a:pPr>
              <a:lnSpc>
                <a:spcPct val="90000"/>
              </a:lnSpc>
            </a:pPr>
            <a:r>
              <a:rPr lang="sr-Latn-RS" dirty="0"/>
              <a:t>Baza podataka ≥ 30–50 % veličine produkcije</a:t>
            </a:r>
          </a:p>
          <a:p>
            <a:pPr>
              <a:lnSpc>
                <a:spcPct val="90000"/>
              </a:lnSpc>
            </a:pPr>
            <a:r>
              <a:rPr lang="sr-Latn-RS" dirty="0"/>
              <a:t>Simulacija mrežne </a:t>
            </a:r>
            <a:r>
              <a:rPr lang="sr-Latn-RS" dirty="0" err="1"/>
              <a:t>latencije</a:t>
            </a:r>
            <a:r>
              <a:rPr lang="sr-Latn-RS" dirty="0"/>
              <a:t> ako je potrebno</a:t>
            </a:r>
          </a:p>
          <a:p>
            <a:pPr>
              <a:lnSpc>
                <a:spcPct val="90000"/>
              </a:lnSpc>
            </a:pPr>
            <a:r>
              <a:rPr lang="sr-Latn-RS" dirty="0"/>
              <a:t>Isti CDN, </a:t>
            </a:r>
            <a:r>
              <a:rPr lang="sr-Latn-RS" dirty="0" err="1"/>
              <a:t>load</a:t>
            </a:r>
            <a:r>
              <a:rPr lang="sr-Latn-RS" dirty="0"/>
              <a:t> </a:t>
            </a:r>
            <a:r>
              <a:rPr lang="sr-Latn-RS" dirty="0" err="1"/>
              <a:t>balancer</a:t>
            </a:r>
            <a:r>
              <a:rPr lang="sr-Latn-RS" dirty="0"/>
              <a:t>, keš </a:t>
            </a:r>
            <a:r>
              <a:rPr lang="en-GB" dirty="0" err="1"/>
              <a:t>mehanizmi</a:t>
            </a:r>
            <a:endParaRPr lang="sr-Latn-RS" dirty="0"/>
          </a:p>
          <a:p>
            <a:pPr>
              <a:lnSpc>
                <a:spcPct val="90000"/>
              </a:lnSpc>
            </a:pPr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678391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EE41F-0A63-83A3-35F4-2D5B683A8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0A0FF34-2390-9377-8654-FB716BB09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 fontScale="90000"/>
          </a:bodyPr>
          <a:lstStyle/>
          <a:p>
            <a:r>
              <a:rPr lang="nn-NO" sz="4000" dirty="0"/>
              <a:t>Kreiranje realnih profila opterećenja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55982DF-C302-4420-AA25-8EBB424712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9"/>
            <a:ext cx="8183880" cy="3276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Stalno </a:t>
            </a:r>
            <a:r>
              <a:rPr lang="en-GB" dirty="0" err="1"/>
              <a:t>opterećenje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Postepeno</a:t>
            </a:r>
            <a:r>
              <a:rPr lang="en-GB" dirty="0"/>
              <a:t> </a:t>
            </a:r>
            <a:r>
              <a:rPr lang="en-GB" dirty="0" err="1"/>
              <a:t>povećanje</a:t>
            </a:r>
            <a:r>
              <a:rPr lang="en-GB" dirty="0"/>
              <a:t> + </a:t>
            </a:r>
            <a:r>
              <a:rPr lang="en-GB" dirty="0" err="1"/>
              <a:t>stalna</a:t>
            </a:r>
            <a:r>
              <a:rPr lang="en-GB" dirty="0"/>
              <a:t> </a:t>
            </a:r>
            <a:r>
              <a:rPr lang="en-GB" dirty="0" err="1"/>
              <a:t>faza</a:t>
            </a:r>
            <a:r>
              <a:rPr lang="en-GB" dirty="0"/>
              <a:t> + </a:t>
            </a:r>
            <a:r>
              <a:rPr lang="en-GB" dirty="0" err="1"/>
              <a:t>smanjenje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Step </a:t>
            </a:r>
            <a:r>
              <a:rPr lang="en-GB" dirty="0" err="1"/>
              <a:t>opterećenje</a:t>
            </a:r>
            <a:r>
              <a:rPr lang="en-GB" dirty="0"/>
              <a:t> (100 → 500 → 1000 </a:t>
            </a:r>
            <a:r>
              <a:rPr lang="en-GB" dirty="0" err="1"/>
              <a:t>korisnika</a:t>
            </a:r>
            <a:r>
              <a:rPr lang="en-GB" dirty="0"/>
              <a:t>)</a:t>
            </a:r>
          </a:p>
          <a:p>
            <a:pPr>
              <a:lnSpc>
                <a:spcPct val="90000"/>
              </a:lnSpc>
            </a:pPr>
            <a:r>
              <a:rPr lang="en-GB" dirty="0"/>
              <a:t>Spike (100 → 5000 → 100 za 30 </a:t>
            </a:r>
            <a:r>
              <a:rPr lang="en-GB" dirty="0" err="1"/>
              <a:t>sekundi</a:t>
            </a:r>
            <a:r>
              <a:rPr lang="en-GB" dirty="0"/>
              <a:t>)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Obrasci</a:t>
            </a:r>
            <a:r>
              <a:rPr lang="en-GB" dirty="0"/>
              <a:t> </a:t>
            </a:r>
            <a:r>
              <a:rPr lang="en-GB" dirty="0" err="1"/>
              <a:t>vikend</a:t>
            </a:r>
            <a:r>
              <a:rPr lang="en-GB" dirty="0"/>
              <a:t> vs </a:t>
            </a:r>
            <a:r>
              <a:rPr lang="en-GB" dirty="0" err="1"/>
              <a:t>radni</a:t>
            </a:r>
            <a:r>
              <a:rPr lang="en-GB" dirty="0"/>
              <a:t> dan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Globalna</a:t>
            </a:r>
            <a:r>
              <a:rPr lang="en-GB" dirty="0"/>
              <a:t> </a:t>
            </a:r>
            <a:r>
              <a:rPr lang="en-GB" dirty="0" err="1"/>
              <a:t>geografska</a:t>
            </a:r>
            <a:r>
              <a:rPr lang="en-GB" dirty="0"/>
              <a:t> </a:t>
            </a:r>
            <a:r>
              <a:rPr lang="en-GB" dirty="0" err="1"/>
              <a:t>distribucija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2718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0DC15-A231-E002-CA68-BC6675F9C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9960100-0770-1D4B-28EC-981598A847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/>
          </a:bodyPr>
          <a:lstStyle/>
          <a:p>
            <a:r>
              <a:rPr lang="nn-NO" sz="4000" dirty="0"/>
              <a:t>Preporuke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65FC2E4-9B8F-769C-729A-E3380BA6EF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8"/>
            <a:ext cx="8183880" cy="362176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Uvek </a:t>
            </a:r>
            <a:r>
              <a:rPr lang="en-GB" dirty="0" err="1"/>
              <a:t>zagrejati</a:t>
            </a:r>
            <a:r>
              <a:rPr lang="en-GB" dirty="0"/>
              <a:t> </a:t>
            </a:r>
            <a:r>
              <a:rPr lang="en-GB" dirty="0" err="1"/>
              <a:t>keš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connection pool-</a:t>
            </a:r>
            <a:r>
              <a:rPr lang="en-GB" dirty="0" err="1"/>
              <a:t>ove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Postepeno</a:t>
            </a:r>
            <a:r>
              <a:rPr lang="en-GB" dirty="0"/>
              <a:t> </a:t>
            </a:r>
            <a:r>
              <a:rPr lang="en-GB" dirty="0" err="1"/>
              <a:t>povećavati</a:t>
            </a:r>
            <a:r>
              <a:rPr lang="en-GB" dirty="0"/>
              <a:t> </a:t>
            </a:r>
            <a:r>
              <a:rPr lang="en-GB" dirty="0" err="1"/>
              <a:t>opterećenje</a:t>
            </a:r>
            <a:r>
              <a:rPr lang="en-GB" dirty="0"/>
              <a:t> (10–30 </a:t>
            </a:r>
            <a:r>
              <a:rPr lang="en-GB" dirty="0" err="1"/>
              <a:t>sekundi</a:t>
            </a:r>
            <a:r>
              <a:rPr lang="en-GB" dirty="0"/>
              <a:t> po </a:t>
            </a:r>
            <a:r>
              <a:rPr lang="en-GB" dirty="0" err="1"/>
              <a:t>korisniku</a:t>
            </a:r>
            <a:r>
              <a:rPr lang="en-GB" dirty="0"/>
              <a:t>)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Minimalno</a:t>
            </a:r>
            <a:r>
              <a:rPr lang="en-GB" dirty="0"/>
              <a:t> 15–30 </a:t>
            </a:r>
            <a:r>
              <a:rPr lang="en-GB" dirty="0" err="1"/>
              <a:t>minuta</a:t>
            </a:r>
            <a:r>
              <a:rPr lang="en-GB" dirty="0"/>
              <a:t> </a:t>
            </a:r>
            <a:r>
              <a:rPr lang="en-GB" dirty="0" err="1"/>
              <a:t>stalne</a:t>
            </a:r>
            <a:r>
              <a:rPr lang="en-GB" dirty="0"/>
              <a:t> faze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Praćenje</a:t>
            </a:r>
            <a:r>
              <a:rPr lang="en-GB" dirty="0"/>
              <a:t> u </a:t>
            </a:r>
            <a:r>
              <a:rPr lang="en-GB" dirty="0" err="1"/>
              <a:t>realnom</a:t>
            </a:r>
            <a:r>
              <a:rPr lang="en-GB" dirty="0"/>
              <a:t> </a:t>
            </a:r>
            <a:r>
              <a:rPr lang="en-GB" dirty="0" err="1"/>
              <a:t>vremenu</a:t>
            </a:r>
            <a:r>
              <a:rPr lang="en-GB" dirty="0"/>
              <a:t> (Grafana + Prometheus </a:t>
            </a:r>
            <a:r>
              <a:rPr lang="en-GB" dirty="0" err="1"/>
              <a:t>najčešće</a:t>
            </a:r>
            <a:r>
              <a:rPr lang="en-GB" dirty="0"/>
              <a:t>)</a:t>
            </a:r>
          </a:p>
          <a:p>
            <a:pPr>
              <a:lnSpc>
                <a:spcPct val="90000"/>
              </a:lnSpc>
            </a:pPr>
            <a:r>
              <a:rPr lang="en-GB" dirty="0"/>
              <a:t>Plan za rollback </a:t>
            </a:r>
            <a:r>
              <a:rPr lang="en-GB" dirty="0" err="1"/>
              <a:t>zbog</a:t>
            </a:r>
            <a:r>
              <a:rPr lang="en-GB" dirty="0"/>
              <a:t> kori</a:t>
            </a:r>
            <a:r>
              <a:rPr lang="sr-Latn-RS" dirty="0" err="1"/>
              <a:t>šćenja</a:t>
            </a:r>
            <a:r>
              <a:rPr lang="en-GB" dirty="0"/>
              <a:t> test </a:t>
            </a:r>
            <a:r>
              <a:rPr lang="en-GB" dirty="0" err="1"/>
              <a:t>podataka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5199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63B52-BA9E-02CA-6620-82A2D8931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5694376-45E1-5E54-378F-CDDB09C14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/>
          </a:bodyPr>
          <a:lstStyle/>
          <a:p>
            <a:r>
              <a:rPr lang="sr-Latn-RS" sz="4000" dirty="0"/>
              <a:t>Šta očekujemo</a:t>
            </a:r>
            <a:r>
              <a:rPr lang="nn-NO" sz="4000" dirty="0"/>
              <a:t>?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F8A6454-A898-9064-FFB7-94AB6A41AD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8"/>
            <a:ext cx="8183880" cy="362176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Ravna </a:t>
            </a:r>
            <a:r>
              <a:rPr lang="en-GB" dirty="0" err="1"/>
              <a:t>linija</a:t>
            </a:r>
            <a:r>
              <a:rPr lang="en-GB" dirty="0"/>
              <a:t> </a:t>
            </a:r>
            <a:r>
              <a:rPr lang="en-GB" dirty="0" err="1"/>
              <a:t>vremena</a:t>
            </a:r>
            <a:r>
              <a:rPr lang="en-GB" dirty="0"/>
              <a:t> </a:t>
            </a:r>
            <a:r>
              <a:rPr lang="en-GB" dirty="0" err="1"/>
              <a:t>odgovora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 </a:t>
            </a:r>
            <a:r>
              <a:rPr lang="en-GB" dirty="0" err="1"/>
              <a:t>povećanju</a:t>
            </a:r>
            <a:r>
              <a:rPr lang="en-GB" dirty="0"/>
              <a:t> </a:t>
            </a:r>
            <a:r>
              <a:rPr lang="en-GB" dirty="0" err="1"/>
              <a:t>opterećenja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Linearan</a:t>
            </a:r>
            <a:r>
              <a:rPr lang="en-GB" dirty="0"/>
              <a:t> </a:t>
            </a:r>
            <a:r>
              <a:rPr lang="en-GB" dirty="0" err="1"/>
              <a:t>rast</a:t>
            </a:r>
            <a:r>
              <a:rPr lang="en-GB" dirty="0"/>
              <a:t> </a:t>
            </a:r>
            <a:r>
              <a:rPr lang="en-GB" dirty="0" err="1"/>
              <a:t>propusnosti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Resursi</a:t>
            </a:r>
            <a:r>
              <a:rPr lang="en-GB" dirty="0"/>
              <a:t> </a:t>
            </a:r>
            <a:r>
              <a:rPr lang="en-GB" dirty="0" err="1"/>
              <a:t>ispod</a:t>
            </a:r>
            <a:r>
              <a:rPr lang="en-GB" dirty="0"/>
              <a:t> 70–80 %</a:t>
            </a:r>
          </a:p>
        </p:txBody>
      </p:sp>
    </p:spTree>
    <p:extLst>
      <p:ext uri="{BB962C8B-B14F-4D97-AF65-F5344CB8AC3E}">
        <p14:creationId xmlns:p14="http://schemas.microsoft.com/office/powerpoint/2010/main" val="1771292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AB7C-5955-BB3D-C281-66E7CE1F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BBA78328-58A7-F3F7-542E-3F3ACD9BC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/>
          </a:bodyPr>
          <a:lstStyle/>
          <a:p>
            <a:r>
              <a:rPr lang="sr-Latn-RS" sz="4000" dirty="0"/>
              <a:t>Šta ne očekujemo</a:t>
            </a:r>
            <a:r>
              <a:rPr lang="nn-NO" sz="4000" dirty="0"/>
              <a:t>?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7B488D2-3F71-3315-DA51-A5666ADBB8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8"/>
            <a:ext cx="8183880" cy="362176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Nagli </a:t>
            </a:r>
            <a:r>
              <a:rPr lang="en-GB" dirty="0" err="1"/>
              <a:t>skok</a:t>
            </a:r>
            <a:r>
              <a:rPr lang="en-GB" dirty="0"/>
              <a:t> </a:t>
            </a:r>
            <a:r>
              <a:rPr lang="en-GB" dirty="0" err="1"/>
              <a:t>vremena</a:t>
            </a:r>
            <a:r>
              <a:rPr lang="en-GB" dirty="0"/>
              <a:t> </a:t>
            </a:r>
            <a:r>
              <a:rPr lang="en-GB" dirty="0" err="1"/>
              <a:t>odgovora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Greške</a:t>
            </a:r>
            <a:r>
              <a:rPr lang="en-GB" dirty="0"/>
              <a:t> se </a:t>
            </a:r>
            <a:r>
              <a:rPr lang="en-GB" dirty="0" err="1"/>
              <a:t>pojavljuju</a:t>
            </a:r>
            <a:r>
              <a:rPr lang="en-GB" dirty="0"/>
              <a:t> od </a:t>
            </a:r>
            <a:r>
              <a:rPr lang="en-GB" dirty="0" err="1"/>
              <a:t>određenog</a:t>
            </a:r>
            <a:r>
              <a:rPr lang="en-GB" dirty="0"/>
              <a:t> </a:t>
            </a:r>
            <a:r>
              <a:rPr lang="en-GB" dirty="0" err="1"/>
              <a:t>praga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Propusnost </a:t>
            </a:r>
            <a:r>
              <a:rPr lang="en-GB" dirty="0" err="1"/>
              <a:t>stagnira</a:t>
            </a:r>
            <a:r>
              <a:rPr lang="en-GB" dirty="0"/>
              <a:t> </a:t>
            </a:r>
            <a:r>
              <a:rPr lang="en-GB" dirty="0" err="1"/>
              <a:t>dok</a:t>
            </a:r>
            <a:r>
              <a:rPr lang="en-GB" dirty="0"/>
              <a:t> </a:t>
            </a:r>
            <a:r>
              <a:rPr lang="en-GB" dirty="0" err="1"/>
              <a:t>broj</a:t>
            </a:r>
            <a:r>
              <a:rPr lang="en-GB" dirty="0"/>
              <a:t> </a:t>
            </a:r>
            <a:r>
              <a:rPr lang="en-GB" dirty="0" err="1"/>
              <a:t>korisnika</a:t>
            </a:r>
            <a:r>
              <a:rPr lang="en-GB" dirty="0"/>
              <a:t> </a:t>
            </a:r>
            <a:r>
              <a:rPr lang="en-GB" dirty="0" err="1"/>
              <a:t>raste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1366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B3E9E-D4BD-158A-CDE0-F543FC99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5055D37-6D21-E1EB-994A-4F40AF040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/>
          </a:bodyPr>
          <a:lstStyle/>
          <a:p>
            <a:r>
              <a:rPr lang="sr-Latn-RS" sz="4000" dirty="0"/>
              <a:t>Najčešća uska grla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F16D285-81E4-8D14-47C0-B49C6B3597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8"/>
            <a:ext cx="8183880" cy="362176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Trošenje </a:t>
            </a:r>
            <a:r>
              <a:rPr lang="en-GB" dirty="0" err="1"/>
              <a:t>konekcija</a:t>
            </a:r>
            <a:r>
              <a:rPr lang="en-GB" dirty="0"/>
              <a:t> ka </a:t>
            </a:r>
            <a:r>
              <a:rPr lang="en-GB" dirty="0" err="1"/>
              <a:t>bazi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Neefikasni</a:t>
            </a:r>
            <a:r>
              <a:rPr lang="en-GB" dirty="0"/>
              <a:t> </a:t>
            </a:r>
            <a:r>
              <a:rPr lang="en-GB" dirty="0" err="1"/>
              <a:t>upiti</a:t>
            </a:r>
            <a:r>
              <a:rPr lang="en-GB" dirty="0"/>
              <a:t> / </a:t>
            </a:r>
            <a:r>
              <a:rPr lang="en-GB" dirty="0" err="1"/>
              <a:t>nedostaju</a:t>
            </a:r>
            <a:r>
              <a:rPr lang="en-GB" dirty="0"/>
              <a:t> </a:t>
            </a:r>
            <a:r>
              <a:rPr lang="en-GB" dirty="0" err="1"/>
              <a:t>indeksi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Nedostatak</a:t>
            </a:r>
            <a:r>
              <a:rPr lang="en-GB" dirty="0"/>
              <a:t> thread-ova u pool-u</a:t>
            </a:r>
          </a:p>
          <a:p>
            <a:pPr>
              <a:lnSpc>
                <a:spcPct val="90000"/>
              </a:lnSpc>
            </a:pPr>
            <a:r>
              <a:rPr lang="en-GB" dirty="0"/>
              <a:t>Single-threaded </a:t>
            </a:r>
            <a:r>
              <a:rPr lang="en-GB" dirty="0" err="1"/>
              <a:t>komponente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Rate limiting </a:t>
            </a:r>
            <a:r>
              <a:rPr lang="en-GB" dirty="0" err="1"/>
              <a:t>spoljnih</a:t>
            </a:r>
            <a:r>
              <a:rPr lang="en-GB" dirty="0"/>
              <a:t> API-</a:t>
            </a:r>
            <a:r>
              <a:rPr lang="en-GB" dirty="0" err="1"/>
              <a:t>ja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Preveliki</a:t>
            </a:r>
            <a:r>
              <a:rPr lang="en-GB" dirty="0"/>
              <a:t> front-end bundle / </a:t>
            </a:r>
            <a:r>
              <a:rPr lang="en-GB" dirty="0" err="1"/>
              <a:t>blokirajuće</a:t>
            </a:r>
            <a:r>
              <a:rPr lang="en-GB" dirty="0"/>
              <a:t> </a:t>
            </a:r>
            <a:r>
              <a:rPr lang="en-GB" dirty="0" err="1"/>
              <a:t>skripte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6539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E3B7B-7325-DB1D-DD4C-240ACCB4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39FADC-76F2-34C6-A09B-ED9919DFF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914400"/>
            <a:ext cx="44577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34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95572-3E9F-9D1C-7D9B-B0E36063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3F60D0A-17A7-C4EC-1013-19CBD7CF2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/>
          </a:bodyPr>
          <a:lstStyle/>
          <a:p>
            <a:r>
              <a:rPr lang="sr-Latn-RS" sz="4000" dirty="0"/>
              <a:t>Šta je J</a:t>
            </a:r>
            <a:r>
              <a:rPr lang="en-GB" sz="4000" dirty="0"/>
              <a:t>M</a:t>
            </a:r>
            <a:r>
              <a:rPr lang="sr-Latn-RS" sz="4000" dirty="0"/>
              <a:t>eter</a:t>
            </a:r>
            <a:r>
              <a:rPr lang="en-GB" sz="4000" dirty="0"/>
              <a:t>?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08AAFE94-85C8-8BCC-6F5F-F7200DC084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8"/>
            <a:ext cx="8183880" cy="3621761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100% </a:t>
            </a:r>
            <a:r>
              <a:rPr lang="en-GB" dirty="0" err="1"/>
              <a:t>besplatan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open-source (Apache 2.0 </a:t>
            </a:r>
            <a:r>
              <a:rPr lang="en-GB" dirty="0" err="1"/>
              <a:t>licenca</a:t>
            </a:r>
            <a:r>
              <a:rPr lang="en-GB" dirty="0"/>
              <a:t>)</a:t>
            </a:r>
          </a:p>
          <a:p>
            <a:pPr>
              <a:lnSpc>
                <a:spcPct val="90000"/>
              </a:lnSpc>
            </a:pPr>
            <a:r>
              <a:rPr lang="en-GB" dirty="0"/>
              <a:t>Java-based </a:t>
            </a:r>
            <a:r>
              <a:rPr lang="en-GB" dirty="0" err="1"/>
              <a:t>alat</a:t>
            </a:r>
            <a:r>
              <a:rPr lang="en-GB" dirty="0"/>
              <a:t> za </a:t>
            </a:r>
            <a:r>
              <a:rPr lang="en-GB" dirty="0" err="1"/>
              <a:t>testiranje</a:t>
            </a:r>
            <a:r>
              <a:rPr lang="en-GB" dirty="0"/>
              <a:t> </a:t>
            </a:r>
            <a:r>
              <a:rPr lang="en-GB" dirty="0" err="1"/>
              <a:t>performansi</a:t>
            </a:r>
            <a:r>
              <a:rPr lang="en-GB" dirty="0"/>
              <a:t> web </a:t>
            </a:r>
            <a:r>
              <a:rPr lang="en-GB" dirty="0" err="1"/>
              <a:t>aplikacija</a:t>
            </a:r>
            <a:r>
              <a:rPr lang="en-GB" dirty="0"/>
              <a:t>, API-</a:t>
            </a:r>
            <a:r>
              <a:rPr lang="en-GB" dirty="0" err="1"/>
              <a:t>ja</a:t>
            </a:r>
            <a:r>
              <a:rPr lang="en-GB" dirty="0"/>
              <a:t>, </a:t>
            </a:r>
            <a:r>
              <a:rPr lang="en-GB" dirty="0" err="1"/>
              <a:t>baza</a:t>
            </a:r>
            <a:r>
              <a:rPr lang="en-GB" dirty="0"/>
              <a:t>, </a:t>
            </a:r>
            <a:r>
              <a:rPr lang="en-GB" dirty="0" err="1"/>
              <a:t>servisa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Prvobitno</a:t>
            </a:r>
            <a:r>
              <a:rPr lang="en-GB" dirty="0"/>
              <a:t> </a:t>
            </a:r>
            <a:r>
              <a:rPr lang="en-GB" dirty="0" err="1"/>
              <a:t>napravljen</a:t>
            </a:r>
            <a:r>
              <a:rPr lang="en-GB" dirty="0"/>
              <a:t> za web, </a:t>
            </a:r>
            <a:r>
              <a:rPr lang="en-GB" dirty="0" err="1"/>
              <a:t>danas</a:t>
            </a:r>
            <a:r>
              <a:rPr lang="en-GB" dirty="0"/>
              <a:t> </a:t>
            </a:r>
            <a:r>
              <a:rPr lang="en-GB" dirty="0" err="1"/>
              <a:t>podržava</a:t>
            </a:r>
            <a:r>
              <a:rPr lang="en-GB" dirty="0"/>
              <a:t> </a:t>
            </a:r>
            <a:r>
              <a:rPr lang="en-GB" dirty="0" err="1"/>
              <a:t>desetine</a:t>
            </a:r>
            <a:r>
              <a:rPr lang="en-GB" dirty="0"/>
              <a:t> </a:t>
            </a:r>
            <a:r>
              <a:rPr lang="en-GB" dirty="0" err="1"/>
              <a:t>protokola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Najkorišćeniji</a:t>
            </a:r>
            <a:r>
              <a:rPr lang="en-GB" dirty="0"/>
              <a:t> open-source load testing </a:t>
            </a:r>
            <a:r>
              <a:rPr lang="en-GB" dirty="0" err="1"/>
              <a:t>alat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svetu</a:t>
            </a:r>
            <a:r>
              <a:rPr lang="en-GB" dirty="0"/>
              <a:t> 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Aktivna</a:t>
            </a:r>
            <a:r>
              <a:rPr lang="en-GB" dirty="0"/>
              <a:t> </a:t>
            </a:r>
            <a:r>
              <a:rPr lang="en-GB" dirty="0" err="1"/>
              <a:t>zajednica</a:t>
            </a:r>
            <a:r>
              <a:rPr lang="en-GB" dirty="0"/>
              <a:t> </a:t>
            </a:r>
            <a:r>
              <a:rPr lang="en-GB" dirty="0" err="1"/>
              <a:t>i</a:t>
            </a:r>
            <a:r>
              <a:rPr lang="en-GB" dirty="0"/>
              <a:t> </a:t>
            </a:r>
            <a:r>
              <a:rPr lang="en-GB" dirty="0" err="1"/>
              <a:t>redovni</a:t>
            </a:r>
            <a:r>
              <a:rPr lang="en-GB" dirty="0"/>
              <a:t> update-</a:t>
            </a:r>
            <a:r>
              <a:rPr lang="en-GB" dirty="0" err="1"/>
              <a:t>ovi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68137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59A4E-F224-6E03-0584-2896FD395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A63E396-F193-84F6-833A-84890C957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/>
          </a:bodyPr>
          <a:lstStyle/>
          <a:p>
            <a:r>
              <a:rPr lang="en-GB" sz="4000" dirty="0"/>
              <a:t>Karakteristike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4E4D344D-6AFE-1F79-9F18-A3DD87FB2E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8"/>
            <a:ext cx="8183880" cy="400276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Potpuna multi-threading </a:t>
            </a:r>
            <a:r>
              <a:rPr lang="en-GB" dirty="0" err="1"/>
              <a:t>podrška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Record &amp; Replay (</a:t>
            </a:r>
            <a:r>
              <a:rPr lang="en-GB" dirty="0" err="1"/>
              <a:t>snimanje</a:t>
            </a:r>
            <a:r>
              <a:rPr lang="en-GB" dirty="0"/>
              <a:t> </a:t>
            </a:r>
            <a:r>
              <a:rPr lang="en-GB" dirty="0" err="1"/>
              <a:t>saobraćaja</a:t>
            </a:r>
            <a:r>
              <a:rPr lang="en-GB" dirty="0"/>
              <a:t> </a:t>
            </a:r>
            <a:r>
              <a:rPr lang="en-GB" dirty="0" err="1"/>
              <a:t>preko</a:t>
            </a:r>
            <a:r>
              <a:rPr lang="en-GB" dirty="0"/>
              <a:t> proxy-</a:t>
            </a:r>
            <a:r>
              <a:rPr lang="en-GB" dirty="0" err="1"/>
              <a:t>ja</a:t>
            </a:r>
            <a:r>
              <a:rPr lang="en-GB" dirty="0"/>
              <a:t>)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Bogat</a:t>
            </a:r>
            <a:r>
              <a:rPr lang="en-GB" dirty="0"/>
              <a:t> GUI </a:t>
            </a:r>
            <a:r>
              <a:rPr lang="en-GB" dirty="0" err="1"/>
              <a:t>sa</a:t>
            </a:r>
            <a:r>
              <a:rPr lang="en-GB" dirty="0"/>
              <a:t> drag-and-drop </a:t>
            </a:r>
            <a:r>
              <a:rPr lang="en-GB" dirty="0" err="1"/>
              <a:t>elementima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 err="1"/>
              <a:t>Distribuirano</a:t>
            </a:r>
            <a:r>
              <a:rPr lang="en-GB" dirty="0"/>
              <a:t> </a:t>
            </a:r>
            <a:r>
              <a:rPr lang="en-GB" dirty="0" err="1"/>
              <a:t>testiranje</a:t>
            </a:r>
            <a:r>
              <a:rPr lang="en-GB" dirty="0"/>
              <a:t> (1 master + </a:t>
            </a:r>
            <a:r>
              <a:rPr lang="en-GB" dirty="0" err="1"/>
              <a:t>neograničeno</a:t>
            </a:r>
            <a:r>
              <a:rPr lang="en-GB" dirty="0"/>
              <a:t> remote </a:t>
            </a:r>
            <a:r>
              <a:rPr lang="en-GB" dirty="0" err="1"/>
              <a:t>servera</a:t>
            </a:r>
            <a:r>
              <a:rPr lang="en-GB" dirty="0"/>
              <a:t>)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Preko</a:t>
            </a:r>
            <a:r>
              <a:rPr lang="en-GB" dirty="0"/>
              <a:t> 150 </a:t>
            </a:r>
            <a:r>
              <a:rPr lang="en-GB" dirty="0" err="1"/>
              <a:t>dodatnih</a:t>
            </a:r>
            <a:r>
              <a:rPr lang="en-GB" dirty="0"/>
              <a:t> plug-in-ova (plugins-manager)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Odlična</a:t>
            </a:r>
            <a:r>
              <a:rPr lang="en-GB" dirty="0"/>
              <a:t> </a:t>
            </a:r>
            <a:r>
              <a:rPr lang="en-GB" dirty="0" err="1"/>
              <a:t>integracija</a:t>
            </a:r>
            <a:r>
              <a:rPr lang="en-GB" dirty="0"/>
              <a:t> </a:t>
            </a:r>
            <a:r>
              <a:rPr lang="en-GB" dirty="0" err="1"/>
              <a:t>sa</a:t>
            </a:r>
            <a:r>
              <a:rPr lang="en-GB" dirty="0"/>
              <a:t> Jenkins, GitLab CI, Azure DevOps, Grafana</a:t>
            </a:r>
          </a:p>
        </p:txBody>
      </p:sp>
    </p:spTree>
    <p:extLst>
      <p:ext uri="{BB962C8B-B14F-4D97-AF65-F5344CB8AC3E}">
        <p14:creationId xmlns:p14="http://schemas.microsoft.com/office/powerpoint/2010/main" val="3693372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39EE2-9486-EE94-7A89-FDB2A6C15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7D328CB-E4DC-B32B-8379-BD44531A3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/>
          </a:bodyPr>
          <a:lstStyle/>
          <a:p>
            <a:r>
              <a:rPr lang="en-GB" sz="4000" dirty="0"/>
              <a:t>Protokoli </a:t>
            </a:r>
            <a:r>
              <a:rPr lang="en-GB" sz="4000" dirty="0" err="1"/>
              <a:t>i</a:t>
            </a:r>
            <a:r>
              <a:rPr lang="en-GB" sz="4000" dirty="0"/>
              <a:t> </a:t>
            </a:r>
            <a:r>
              <a:rPr lang="en-GB" sz="4000" dirty="0" err="1"/>
              <a:t>tehnologije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993C47D-55E7-BE77-5F96-6843771338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8"/>
            <a:ext cx="8183880" cy="400276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HTTP / HTTPS (Web)</a:t>
            </a:r>
          </a:p>
          <a:p>
            <a:pPr>
              <a:lnSpc>
                <a:spcPct val="90000"/>
              </a:lnSpc>
            </a:pPr>
            <a:r>
              <a:rPr lang="en-GB" dirty="0"/>
              <a:t>REST &amp; SOAP / </a:t>
            </a:r>
            <a:r>
              <a:rPr lang="en-GB" dirty="0" err="1"/>
              <a:t>WebServices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JDBC (</a:t>
            </a:r>
            <a:r>
              <a:rPr lang="en-GB" dirty="0" err="1"/>
              <a:t>baze</a:t>
            </a:r>
            <a:r>
              <a:rPr lang="en-GB" dirty="0"/>
              <a:t> </a:t>
            </a:r>
            <a:r>
              <a:rPr lang="en-GB" dirty="0" err="1"/>
              <a:t>podataka</a:t>
            </a:r>
            <a:r>
              <a:rPr lang="en-GB" dirty="0"/>
              <a:t>)</a:t>
            </a:r>
          </a:p>
          <a:p>
            <a:pPr>
              <a:lnSpc>
                <a:spcPct val="90000"/>
              </a:lnSpc>
            </a:pPr>
            <a:r>
              <a:rPr lang="en-GB" dirty="0"/>
              <a:t>FTP, SMTP, POP3, IMAP</a:t>
            </a:r>
          </a:p>
          <a:p>
            <a:pPr>
              <a:lnSpc>
                <a:spcPct val="90000"/>
              </a:lnSpc>
            </a:pPr>
            <a:r>
              <a:rPr lang="en-GB" dirty="0"/>
              <a:t>MS (ActiveMQ, RabbitMQ, Kafka)</a:t>
            </a:r>
          </a:p>
          <a:p>
            <a:pPr>
              <a:lnSpc>
                <a:spcPct val="90000"/>
              </a:lnSpc>
            </a:pPr>
            <a:r>
              <a:rPr lang="en-GB" dirty="0"/>
              <a:t>LDAP, TCP, WebSocket</a:t>
            </a:r>
          </a:p>
          <a:p>
            <a:pPr>
              <a:lnSpc>
                <a:spcPct val="90000"/>
              </a:lnSpc>
            </a:pPr>
            <a:r>
              <a:rPr lang="en-GB" dirty="0" err="1"/>
              <a:t>GraphQL</a:t>
            </a:r>
            <a:r>
              <a:rPr lang="en-GB" dirty="0"/>
              <a:t>, </a:t>
            </a:r>
            <a:r>
              <a:rPr lang="en-GB" dirty="0" err="1"/>
              <a:t>gRPC</a:t>
            </a:r>
            <a:r>
              <a:rPr lang="en-GB" dirty="0"/>
              <a:t>, MongoDB (</a:t>
            </a:r>
            <a:r>
              <a:rPr lang="en-GB" dirty="0" err="1"/>
              <a:t>preko</a:t>
            </a:r>
            <a:r>
              <a:rPr lang="en-GB" dirty="0"/>
              <a:t> plug-in-ova)</a:t>
            </a:r>
          </a:p>
          <a:p>
            <a:pPr>
              <a:lnSpc>
                <a:spcPct val="90000"/>
              </a:lnSpc>
            </a:pPr>
            <a:r>
              <a:rPr lang="en-GB" dirty="0"/>
              <a:t>Selenium WebDriver</a:t>
            </a:r>
          </a:p>
        </p:txBody>
      </p:sp>
    </p:spTree>
    <p:extLst>
      <p:ext uri="{BB962C8B-B14F-4D97-AF65-F5344CB8AC3E}">
        <p14:creationId xmlns:p14="http://schemas.microsoft.com/office/powerpoint/2010/main" val="3889618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573C8-DCB1-765B-B003-5EE94B23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CCCAD81-8D30-DC77-6661-21DAEA85CA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2920" y="5105400"/>
            <a:ext cx="8183880" cy="777240"/>
          </a:xfrm>
        </p:spPr>
        <p:txBody>
          <a:bodyPr>
            <a:normAutofit/>
          </a:bodyPr>
          <a:lstStyle/>
          <a:p>
            <a:r>
              <a:rPr lang="en-GB" sz="4000" dirty="0" err="1"/>
              <a:t>Elementi</a:t>
            </a:r>
            <a:r>
              <a:rPr lang="en-GB" sz="4000" dirty="0"/>
              <a:t> JMeter </a:t>
            </a:r>
            <a:r>
              <a:rPr lang="en-GB" sz="4000" dirty="0" err="1"/>
              <a:t>testa</a:t>
            </a:r>
            <a:endParaRPr lang="en-US" sz="4000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4E71DBB-27E6-AF49-CB8F-96C8D2FBA6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2920" y="950238"/>
            <a:ext cx="8183880" cy="400276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Test Plan – </a:t>
            </a:r>
            <a:r>
              <a:rPr lang="en-GB" dirty="0" err="1"/>
              <a:t>koren</a:t>
            </a:r>
            <a:r>
              <a:rPr lang="en-GB" dirty="0"/>
              <a:t> </a:t>
            </a:r>
            <a:r>
              <a:rPr lang="en-GB" dirty="0" err="1"/>
              <a:t>svakog</a:t>
            </a:r>
            <a:r>
              <a:rPr lang="en-GB" dirty="0"/>
              <a:t> </a:t>
            </a:r>
            <a:r>
              <a:rPr lang="en-GB" dirty="0" err="1"/>
              <a:t>testa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Thread Group – </a:t>
            </a:r>
            <a:r>
              <a:rPr lang="en-GB" dirty="0" err="1"/>
              <a:t>definiše</a:t>
            </a:r>
            <a:r>
              <a:rPr lang="en-GB" dirty="0"/>
              <a:t> </a:t>
            </a:r>
            <a:r>
              <a:rPr lang="en-GB" dirty="0" err="1"/>
              <a:t>broj</a:t>
            </a:r>
            <a:r>
              <a:rPr lang="en-GB" dirty="0"/>
              <a:t> </a:t>
            </a:r>
            <a:r>
              <a:rPr lang="en-GB" dirty="0" err="1"/>
              <a:t>korisnika</a:t>
            </a:r>
            <a:r>
              <a:rPr lang="en-GB" dirty="0"/>
              <a:t>, ramp-up, </a:t>
            </a:r>
            <a:r>
              <a:rPr lang="en-GB" dirty="0" err="1"/>
              <a:t>trajanje</a:t>
            </a:r>
            <a:endParaRPr lang="en-GB" dirty="0"/>
          </a:p>
          <a:p>
            <a:pPr>
              <a:lnSpc>
                <a:spcPct val="90000"/>
              </a:lnSpc>
            </a:pPr>
            <a:r>
              <a:rPr lang="en-GB" dirty="0"/>
              <a:t>Samplers – HTTP Request, JDBC Request, WebSocket Sampler</a:t>
            </a:r>
          </a:p>
          <a:p>
            <a:pPr>
              <a:lnSpc>
                <a:spcPct val="90000"/>
              </a:lnSpc>
            </a:pPr>
            <a:r>
              <a:rPr lang="en-GB" dirty="0"/>
              <a:t>Logic Controllers – If, Loop, Transaction Controller</a:t>
            </a:r>
          </a:p>
          <a:p>
            <a:pPr>
              <a:lnSpc>
                <a:spcPct val="90000"/>
              </a:lnSpc>
            </a:pPr>
            <a:r>
              <a:rPr lang="en-GB" dirty="0"/>
              <a:t>Listeners – View Results Tree, Aggregate Report, Graph Results</a:t>
            </a:r>
          </a:p>
          <a:p>
            <a:pPr>
              <a:lnSpc>
                <a:spcPct val="90000"/>
              </a:lnSpc>
            </a:pPr>
            <a:r>
              <a:rPr lang="en-GB" dirty="0"/>
              <a:t>Timers – Constant, Gaussian Random, Synchronizing Timer</a:t>
            </a:r>
          </a:p>
          <a:p>
            <a:pPr>
              <a:lnSpc>
                <a:spcPct val="90000"/>
              </a:lnSpc>
            </a:pPr>
            <a:r>
              <a:rPr lang="en-GB" dirty="0"/>
              <a:t>Assertions – Response Assertion, JSON Assertion, Duration Assertion</a:t>
            </a:r>
          </a:p>
          <a:p>
            <a:pPr>
              <a:lnSpc>
                <a:spcPct val="90000"/>
              </a:lnSpc>
            </a:pPr>
            <a:r>
              <a:rPr lang="en-GB" dirty="0"/>
              <a:t>Config Elements – HTTP Header Manager, CSV Data Set Config</a:t>
            </a:r>
          </a:p>
        </p:txBody>
      </p:sp>
    </p:spTree>
    <p:extLst>
      <p:ext uri="{BB962C8B-B14F-4D97-AF65-F5344CB8AC3E}">
        <p14:creationId xmlns:p14="http://schemas.microsoft.com/office/powerpoint/2010/main" val="32945844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43689</TotalTime>
  <Words>943</Words>
  <Application>Microsoft Office PowerPoint</Application>
  <PresentationFormat>On-screen Show (4:3)</PresentationFormat>
  <Paragraphs>161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Times New Roman</vt:lpstr>
      <vt:lpstr>Trebuchet MS</vt:lpstr>
      <vt:lpstr>Verdana</vt:lpstr>
      <vt:lpstr>Wingdings</vt:lpstr>
      <vt:lpstr>Wingdings 2</vt:lpstr>
      <vt:lpstr>Aspect</vt:lpstr>
      <vt:lpstr>Test opterećenja</vt:lpstr>
      <vt:lpstr>Razlozi testiranja</vt:lpstr>
      <vt:lpstr>PowerPoint Presentation</vt:lpstr>
      <vt:lpstr>Tipovi testiranja performansi</vt:lpstr>
      <vt:lpstr>Korišćenje alata za testiranje</vt:lpstr>
      <vt:lpstr>4 osnovne komponente alata za testiranje opterećenja</vt:lpstr>
      <vt:lpstr>Uobičajeni simptomi problema sa performansama</vt:lpstr>
      <vt:lpstr>Ključne metrike performansi</vt:lpstr>
      <vt:lpstr>Planiranje –Definisati nefunkcionalne zahteve</vt:lpstr>
      <vt:lpstr>Planiranje –Identifikovati ključne scenarije</vt:lpstr>
      <vt:lpstr>Kreiranje scenarija</vt:lpstr>
      <vt:lpstr>Testno okruženje</vt:lpstr>
      <vt:lpstr>Kreiranje realnih profila opterećenja</vt:lpstr>
      <vt:lpstr>Preporuke</vt:lpstr>
      <vt:lpstr>Šta očekujemo?</vt:lpstr>
      <vt:lpstr>Šta ne očekujemo?</vt:lpstr>
      <vt:lpstr>Najčešća uska grla</vt:lpstr>
      <vt:lpstr>PowerPoint Presentation</vt:lpstr>
      <vt:lpstr>Šta je JMeter?</vt:lpstr>
      <vt:lpstr>Karakteristike</vt:lpstr>
      <vt:lpstr>Protokoli i tehnologije</vt:lpstr>
      <vt:lpstr>Elementi JMeter testa</vt:lpstr>
    </vt:vector>
  </TitlesOfParts>
  <Company>Softsmith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Load Testing Using Neoload</dc:title>
  <dc:creator>kaushik</dc:creator>
  <cp:lastModifiedBy>Milos Bogdanovic</cp:lastModifiedBy>
  <cp:revision>2228</cp:revision>
  <dcterms:created xsi:type="dcterms:W3CDTF">2011-08-18T09:09:57Z</dcterms:created>
  <dcterms:modified xsi:type="dcterms:W3CDTF">2025-12-09T22:56:05Z</dcterms:modified>
</cp:coreProperties>
</file>